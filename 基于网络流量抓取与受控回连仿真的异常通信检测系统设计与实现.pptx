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78" r:id="rId2"/>
    <p:sldId id="282" r:id="rId3"/>
    <p:sldId id="271" r:id="rId4"/>
    <p:sldId id="298" r:id="rId5"/>
    <p:sldId id="299" r:id="rId6"/>
    <p:sldId id="294" r:id="rId7"/>
    <p:sldId id="304" r:id="rId8"/>
    <p:sldId id="310" r:id="rId9"/>
    <p:sldId id="305" r:id="rId10"/>
    <p:sldId id="306" r:id="rId11"/>
    <p:sldId id="307" r:id="rId12"/>
    <p:sldId id="295" r:id="rId13"/>
    <p:sldId id="300" r:id="rId14"/>
    <p:sldId id="301" r:id="rId15"/>
    <p:sldId id="303" r:id="rId16"/>
    <p:sldId id="302" r:id="rId17"/>
    <p:sldId id="314" r:id="rId18"/>
    <p:sldId id="315" r:id="rId19"/>
    <p:sldId id="296" r:id="rId20"/>
    <p:sldId id="311" r:id="rId21"/>
    <p:sldId id="312" r:id="rId22"/>
    <p:sldId id="313" r:id="rId23"/>
    <p:sldId id="297" r:id="rId24"/>
    <p:sldId id="284" r:id="rId25"/>
    <p:sldId id="292" r:id="rId26"/>
    <p:sldId id="293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1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96" y="5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2A6BDA-D2F5-46DD-AAB3-BBF5E04283DC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EDCC67-6237-45EF-A2F6-664F078C9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0289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0649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3191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3CBBC-A9E0-7633-2517-55D5B6490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E603279-A28C-EE4E-0ABE-3DDFFEA7F8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56224B7-2816-42D7-2A38-37381D286F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DCC3F2EB-36CD-975D-BD00-A2F44C2FE7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22857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61AC4-7892-007C-67D3-6A3C5F9C1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59B00BD-16D7-B7BC-EBFC-06812558D2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F67E933-4CC7-92AC-A4F1-2568925507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DD0CF6FC-0947-FEE5-1244-BA0172EA85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15147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1AD05-1F25-B347-0121-B94B6D461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180894D-990A-6B1E-68E5-F5A2A89A5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D0882D3-8BE7-56BF-A9A7-53741B2AB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FA37842B-F25F-4C85-D8DD-C80A825DF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2739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11850-743B-4E4A-A06D-B31895064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0A9A1AA-9255-456C-2A98-803FB1E8E2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4190A0-7E0E-AF95-D361-6C9EF981C7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28875E2A-3CA3-1A82-E271-1D38EFF657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20897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5293B-1193-555E-31EA-5D830A4EB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778B1A2-85E2-8D47-897C-AC67F74BD7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5E77244-19DA-8660-D572-77B683C65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ED9843B9-297A-E643-7F9D-326C6A4E7F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49252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31D47-E5CB-E491-5E55-2D876E7C8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FEB8AA-58CE-9C62-04C2-6E078A37AF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C96655E-D55A-2C72-5A36-C3746292C9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10332F86-29E8-0FA6-88FC-23061DB420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5843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977B5-EC33-ED91-10F3-EB2DF1DB1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476328C-3400-CDA8-35F0-450B6894D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983DFE0-DC29-54A3-866C-07801855B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314C578E-3EF0-5A44-5E72-8626A5DC8D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69376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3905A-4ED3-3FF1-346F-6DB6BEB7D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F458CBC-8291-D726-71FD-100FFAE307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43CDA5A-5458-9ED2-6809-36F34578D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5F7B1AB9-A4D9-94B6-E932-4511CA317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19267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88692-633D-6FE1-CBBA-872A3D670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21FE13-0958-4587-801C-21DBBBC7F8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7D29C4B-ED7E-974D-F9EA-7C4A7BDD3C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1FEDCF13-A3CF-EB9F-D273-D513D76437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64044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40C33-5257-DA20-3801-66ACDF409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C43440C-2EDE-F85E-5C36-D2C5F341F4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9EC6160-9E70-AF31-E3C4-7FC24DC88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B03A3959-EBB1-BF05-934C-883E77FC5C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811809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650A8-E105-7ACC-7D6A-9956897E3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F0773FF-D380-E2FB-2B4B-15403C6672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7B4B30E-1171-5151-815F-C41933B2FB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6539E1DE-66C5-4998-5918-0D98E4981A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59140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9A400-5DAF-E223-3DDC-A4B0A7928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CDF6C0A-3DAA-C615-3819-6C7A8CAB81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26D5A6-B770-7F00-B1C3-95D6BCF624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371FD7EF-93A8-FB46-266A-95BB651C3F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  <a:t>16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8706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D2D69-73B7-0F04-C708-6137682EB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09ED2F5-4DE1-AC25-3331-DFF028B62A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F6A1B4E-07EB-F4F2-6BD4-6D73AFF0D8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5F3CD9C4-2485-06BE-8088-DE8B142E82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  <a:t>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413347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4C08E-97F0-2B46-B4EE-612B9B182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997745-C875-D249-486F-616BBEB1B0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A55D720-3662-B156-3B99-BFF3CAFF6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4F21BA53-A24D-4D7F-1608-57E6E6B94A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  <a:t>18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5648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46F86-97AD-AD18-9F1C-6CDA4B137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8EA5EF9-A283-5351-4488-F96F404D6F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A96763D-05AF-8832-B35B-4F95D1D83A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CF2C7A88-C06F-E0B9-BEA3-BF1DDD143C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  <a:t>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14511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D2B22-CDF0-2D06-A963-5FCA01004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0F23349-AF23-2994-239E-E6C383D0B7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23C26B-BB5B-FE91-D68F-9B0C16CCBF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52DED270-F1D9-0BB1-DB77-8E337B970A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  <a:t>20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34916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D597B-C23C-D110-678A-B2E3A8CA9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0E564E-A1C0-EAE1-1923-D401871948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367564A-3635-32C1-0E07-DEDAC155F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00792391-89E8-6C75-C042-AF4B61E946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  <a:t>21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97554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1C13F-26EB-DD23-F32B-C078D341F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B6BA34-34A5-B10E-BB7A-DEDAAF2EF5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AE6C06C-8EFB-3291-568B-B5C7607932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1C145E20-3F9C-7B54-A736-0F10D4455F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  <a:t>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03766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7EF6A-ADC1-837B-C4D3-7B3D1FCA5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E89D23-3765-FB13-CC96-4BD0DFF7CB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EC1A3F2-70DA-4B9D-D1AA-BCC03C979F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>
            <a:extLst>
              <a:ext uri="{FF2B5EF4-FFF2-40B4-BE49-F238E27FC236}">
                <a16:creationId xmlns:a16="http://schemas.microsoft.com/office/drawing/2014/main" id="{76801C00-77A0-BF8B-C49E-1439F6ECB7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  <a:t>23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29313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  <a:t>24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7899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7AF00E9-A49D-4007-B3B9-A3783809E505}" type="slidenum">
              <a:rPr lang="en-US" altLang="zh-CN" smtClean="0"/>
              <a:t>25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262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F8016F-F979-60C2-D9C3-8BC9BFC22D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B4C6BC1-C43A-ABAE-51D6-68CB5873CD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82764D-7E4D-8866-0D0F-7E2A19027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3FDD-D233-4701-89DA-4630018D0F96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7ECAF6-8345-4570-5011-8159DE94E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BCC7C1-6A17-563C-48FC-F9E72088C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C6F9B-7CD9-49D5-AD7A-2FB2725573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2844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7BA40F-D02C-89B4-C5C2-8BB986834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609BE7-B095-8517-5628-384EF7033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F6A65F-3973-998F-2F28-F21B84440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3FDD-D233-4701-89DA-4630018D0F96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AC2298-F389-0E2A-11A8-93645F77D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0840EF-00FE-19C7-3000-E81807950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C6F9B-7CD9-49D5-AD7A-2FB2725573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016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959D52-15AF-25E1-5A0E-29C508D80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ED4750-7014-9ECF-4EDC-17D222D9E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6EC7CA-0136-7FFF-992C-B5872EBED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3FDD-D233-4701-89DA-4630018D0F96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E4349C-87E2-B2CA-3DF1-FB7280F6A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F037D9-2FCD-CD9A-05D8-F071EC70D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C6F9B-7CD9-49D5-AD7A-2FB2725573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997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ECFF69-038F-F7FE-04E2-578053BA8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DA9432-89EB-695F-62A8-50837F4353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A4551E-63AC-D05B-9C19-4FEEE2EB52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58E2BC-61E8-61A3-BD0C-2F6D849BB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3FDD-D233-4701-89DA-4630018D0F96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5CE060-63A3-D556-F1BE-87E0A42F7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A2F1A5-8981-7639-6FED-20F606E0F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C6F9B-7CD9-49D5-AD7A-2FB2725573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4479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10A037-1DA5-35AB-A569-F0A8CE505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264EB2-77B2-E4AF-FE67-C4D5A2D5E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5CAAF4B-C7D8-D800-D0B7-CA9D72409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E6A76DF-4A46-F453-B634-9B9DEDE19A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B45B7E7-BC72-DDED-A651-AA4C787169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FAB8026-0CF6-06B7-9318-151645919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3FDD-D233-4701-89DA-4630018D0F96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0F07CB1-1F2D-C02C-E6E0-BD6BE93AB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81959F4-A518-F3C6-C48D-12C087A07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C6F9B-7CD9-49D5-AD7A-2FB2725573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8309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817643-08F8-38B3-FC9C-B0C3F7DD2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34F09DE-7E4A-A517-0959-1C8242C1F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3FDD-D233-4701-89DA-4630018D0F96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C5DC6EA-C77E-00A8-CCEE-A09FDCED0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E2B06C2-A82F-FB05-0311-C3ACF4C5E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C6F9B-7CD9-49D5-AD7A-2FB2725573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377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C209B46-D247-2311-918E-1DD06EA05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3FDD-D233-4701-89DA-4630018D0F96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003686A-3F18-D00B-03D3-73710CD37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3861F3-1C9D-8A2D-3ED7-377C6BF8F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C6F9B-7CD9-49D5-AD7A-2FB2725573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913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A1CD61-FAB1-36C9-B42B-F822BBAB4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6390B7-5E06-4A63-9C84-A19A84BF5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FB2BBF-094E-07B2-F15C-EC7A9A6002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02E43B-DECE-0E77-798D-FF5A4E9AC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3FDD-D233-4701-89DA-4630018D0F96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E8CF6E-B23F-2DB8-61BF-860BA3F40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D22764-9B05-9CFF-52E6-CF4E4CF0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C6F9B-7CD9-49D5-AD7A-2FB2725573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0727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C0BDF9-C88C-24DB-1C16-FA6AE8632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75DAC8A-ADD9-A5B9-4B2D-A3D613E6C9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FB74BF-3BEE-3E2B-2729-0BAAF81958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49C9F1-B825-AE53-AECE-0D64129B1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3FDD-D233-4701-89DA-4630018D0F96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6CBA5E-B8FB-688A-4ECC-09ED88B97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D9FCC7-511F-D2BB-B5F6-1F56292F7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C6F9B-7CD9-49D5-AD7A-2FB2725573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343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0D9F91-CCA7-E4F7-91F3-165BDDC18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F0E3622-D358-0734-1E3A-FAE2DCD853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586234-EB8F-133C-5F4F-AB1D97586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3FDD-D233-4701-89DA-4630018D0F96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5FEA65-4AC7-76DF-02AE-90C1CACCD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0311E2-62C8-03E7-97A1-17ABF05FB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C6F9B-7CD9-49D5-AD7A-2FB2725573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4199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56091A0-04D0-80A4-25E5-7988AE5535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CA33187-99D7-6BE3-5676-D30B996853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AF933F-52BD-B6C1-D254-7D13BF2FA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F3FDD-D233-4701-89DA-4630018D0F96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CB5B09-B737-F0BD-D26B-5740325F9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CBDEB9-ABA5-3F42-405D-A70C3A3AC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C6F9B-7CD9-49D5-AD7A-2FB2725573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4142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 rtl="0">
              <a:lnSpc>
                <a:spcPct val="100000"/>
              </a:lnSpc>
            </a:pPr>
            <a:r>
              <a:rPr lang="zh-CN" altLang="en-US" noProof="0" dirty="0"/>
              <a:t>单击此处添加标题</a:t>
            </a:r>
          </a:p>
        </p:txBody>
      </p:sp>
      <p:sp>
        <p:nvSpPr>
          <p:cNvPr id="9" name="图片占位符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zh-CN" altLang="en-US" noProof="0" dirty="0"/>
              <a:t>单击图标插入图片</a:t>
            </a:r>
          </a:p>
        </p:txBody>
      </p:sp>
    </p:spTree>
    <p:extLst>
      <p:ext uri="{BB962C8B-B14F-4D97-AF65-F5344CB8AC3E}">
        <p14:creationId xmlns:p14="http://schemas.microsoft.com/office/powerpoint/2010/main" val="17704795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议程​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 22">
            <a:extLst>
              <a:ext uri="{FF2B5EF4-FFF2-40B4-BE49-F238E27FC236}">
                <a16:creationId xmlns:a16="http://schemas.microsoft.com/office/drawing/2014/main" id="{43C4A872-A473-BFD2-150E-387250C2B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4" name="任意多边形：形状 23">
              <a:extLst>
                <a:ext uri="{FF2B5EF4-FFF2-40B4-BE49-F238E27FC236}">
                  <a16:creationId xmlns:a16="http://schemas.microsoft.com/office/drawing/2014/main" id="{C5C8D53B-A579-BCFA-58E8-C386DABC92CD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5" name="椭圆形 24">
              <a:extLst>
                <a:ext uri="{FF2B5EF4-FFF2-40B4-BE49-F238E27FC236}">
                  <a16:creationId xmlns:a16="http://schemas.microsoft.com/office/drawing/2014/main" id="{23A34CAC-4A03-ADDB-E97F-8675E68FC0B3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6" name="椭圆形 25">
              <a:extLst>
                <a:ext uri="{FF2B5EF4-FFF2-40B4-BE49-F238E27FC236}">
                  <a16:creationId xmlns:a16="http://schemas.microsoft.com/office/drawing/2014/main" id="{0C733506-2F0D-8F31-52D1-5244F04A706B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7" name="任意多边形：形状 26">
              <a:extLst>
                <a:ext uri="{FF2B5EF4-FFF2-40B4-BE49-F238E27FC236}">
                  <a16:creationId xmlns:a16="http://schemas.microsoft.com/office/drawing/2014/main" id="{29356E3D-E14C-9C43-7CE4-A7156B1E10DB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20" name="标题 19">
            <a:extLst>
              <a:ext uri="{FF2B5EF4-FFF2-40B4-BE49-F238E27FC236}">
                <a16:creationId xmlns:a16="http://schemas.microsoft.com/office/drawing/2014/main" id="{85C652DA-55F6-9691-4254-344E0A4E9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3924"/>
            <a:ext cx="11090275" cy="1684059"/>
          </a:xfrm>
        </p:spPr>
        <p:txBody>
          <a:bodyPr rtlCol="0" anchor="b">
            <a:normAutofit/>
          </a:bodyPr>
          <a:lstStyle>
            <a:lvl1pPr>
              <a:defRPr sz="4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单击此处添加标题</a:t>
            </a:r>
          </a:p>
        </p:txBody>
      </p:sp>
      <p:sp>
        <p:nvSpPr>
          <p:cNvPr id="22" name="内容占位符 21">
            <a:extLst>
              <a:ext uri="{FF2B5EF4-FFF2-40B4-BE49-F238E27FC236}">
                <a16:creationId xmlns:a16="http://schemas.microsoft.com/office/drawing/2014/main" id="{4DB7AC4F-2818-7F0D-AC6A-736D5F2C73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0863" y="2419350"/>
            <a:ext cx="11090274" cy="3913188"/>
          </a:xfrm>
        </p:spPr>
        <p:txBody>
          <a:bodyPr rtlCol="0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sz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sz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sz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 dirty="0"/>
              <a:t>单击此处添加内容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 dirty="0"/>
              <a:t>20XX</a:t>
            </a:r>
            <a:endParaRPr lang="zh-CN" altLang="en-US" noProof="0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BA1B0FB-D917-4C8C-928F-313BD683BF39}" type="slidenum">
              <a:rPr lang="en-US" altLang="zh-CN" noProof="0" smtClean="0"/>
              <a:pPr/>
              <a:t>‹#›</a:t>
            </a:fld>
            <a:endParaRPr lang="zh-CN" altLang="en-US" noProof="0" dirty="0"/>
          </a:p>
        </p:txBody>
      </p:sp>
      <p:grpSp>
        <p:nvGrpSpPr>
          <p:cNvPr id="5" name="组 4">
            <a:extLst>
              <a:ext uri="{FF2B5EF4-FFF2-40B4-BE49-F238E27FC236}">
                <a16:creationId xmlns:a16="http://schemas.microsoft.com/office/drawing/2014/main" id="{6C61DF04-D7CB-2B19-8BB9-3E90A6619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10824" y="1514007"/>
            <a:ext cx="734257" cy="760506"/>
            <a:chOff x="5243759" y="1363788"/>
            <a:chExt cx="734257" cy="760506"/>
          </a:xfrm>
        </p:grpSpPr>
        <p:sp>
          <p:nvSpPr>
            <p:cNvPr id="6" name="任意多边形(F) 5">
              <a:extLst>
                <a:ext uri="{FF2B5EF4-FFF2-40B4-BE49-F238E27FC236}">
                  <a16:creationId xmlns:a16="http://schemas.microsoft.com/office/drawing/2014/main" id="{5DE1CC00-F893-E215-8086-65B6605C5F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7" name="任意多边形(F) 6">
              <a:extLst>
                <a:ext uri="{FF2B5EF4-FFF2-40B4-BE49-F238E27FC236}">
                  <a16:creationId xmlns:a16="http://schemas.microsoft.com/office/drawing/2014/main" id="{6EBF50D9-F9B8-ADB3-8B4A-AF19564EE6E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8" name="任意多边形(F) 8">
              <a:extLst>
                <a:ext uri="{FF2B5EF4-FFF2-40B4-BE49-F238E27FC236}">
                  <a16:creationId xmlns:a16="http://schemas.microsoft.com/office/drawing/2014/main" id="{80BE1060-7183-58F8-EEBF-64135EE82BC5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11" name="椭圆形 10">
            <a:extLst>
              <a:ext uri="{FF2B5EF4-FFF2-40B4-BE49-F238E27FC236}">
                <a16:creationId xmlns:a16="http://schemas.microsoft.com/office/drawing/2014/main" id="{E597A3BE-0D13-9033-E3FD-78202DB79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168304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grpSp>
        <p:nvGrpSpPr>
          <p:cNvPr id="12" name="组 11">
            <a:extLst>
              <a:ext uri="{FF2B5EF4-FFF2-40B4-BE49-F238E27FC236}">
                <a16:creationId xmlns:a16="http://schemas.microsoft.com/office/drawing/2014/main" id="{D8867D9A-3F3B-94C3-244B-0006226A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063019" y="3199533"/>
            <a:ext cx="3597052" cy="2615018"/>
            <a:chOff x="4541453" y="3199533"/>
            <a:chExt cx="3597052" cy="2615018"/>
          </a:xfrm>
        </p:grpSpPr>
        <p:sp>
          <p:nvSpPr>
            <p:cNvPr id="13" name="任意多边形：形状 38">
              <a:extLst>
                <a:ext uri="{FF2B5EF4-FFF2-40B4-BE49-F238E27FC236}">
                  <a16:creationId xmlns:a16="http://schemas.microsoft.com/office/drawing/2014/main" id="{955FC3D1-6227-A188-CCDB-11D573FD807A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grpSp>
          <p:nvGrpSpPr>
            <p:cNvPr id="14" name="组 13">
              <a:extLst>
                <a:ext uri="{FF2B5EF4-FFF2-40B4-BE49-F238E27FC236}">
                  <a16:creationId xmlns:a16="http://schemas.microsoft.com/office/drawing/2014/main" id="{AE6BE70E-C41E-449D-A48C-4EB6BB7DC20D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5" name="任意多边形：形状 32">
                <a:extLst>
                  <a:ext uri="{FF2B5EF4-FFF2-40B4-BE49-F238E27FC236}">
                    <a16:creationId xmlns:a16="http://schemas.microsoft.com/office/drawing/2014/main" id="{B7C0B12B-49BE-7855-18FB-8583C8DD961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rtl="0"/>
                <a:endParaRPr lang="zh-CN" altLang="en-US" noProof="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16" name="椭圆形 15">
                <a:extLst>
                  <a:ext uri="{FF2B5EF4-FFF2-40B4-BE49-F238E27FC236}">
                    <a16:creationId xmlns:a16="http://schemas.microsoft.com/office/drawing/2014/main" id="{67C78A37-D378-70D3-D6E3-AB9400EB583E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/>
                <a:endParaRPr lang="zh-CN" altLang="en-US" noProof="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</p:grpSp>
      </p:grpSp>
      <p:grpSp>
        <p:nvGrpSpPr>
          <p:cNvPr id="17" name="组 16">
            <a:extLst>
              <a:ext uri="{FF2B5EF4-FFF2-40B4-BE49-F238E27FC236}">
                <a16:creationId xmlns:a16="http://schemas.microsoft.com/office/drawing/2014/main" id="{02491172-466F-19CC-B639-A1C3CAB1D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90545" y="4100655"/>
            <a:ext cx="1335600" cy="1262947"/>
            <a:chOff x="10145015" y="2343978"/>
            <a:chExt cx="1335600" cy="1262947"/>
          </a:xfrm>
        </p:grpSpPr>
        <p:sp>
          <p:nvSpPr>
            <p:cNvPr id="18" name="任意多边形：形状 25">
              <a:extLst>
                <a:ext uri="{FF2B5EF4-FFF2-40B4-BE49-F238E27FC236}">
                  <a16:creationId xmlns:a16="http://schemas.microsoft.com/office/drawing/2014/main" id="{45EC885D-265C-397B-5DAF-57A66CDA30B5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9" name="椭圆形 18">
              <a:extLst>
                <a:ext uri="{FF2B5EF4-FFF2-40B4-BE49-F238E27FC236}">
                  <a16:creationId xmlns:a16="http://schemas.microsoft.com/office/drawing/2014/main" id="{3601DB21-D937-2F89-DC26-063DFC7800C8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07385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4045464"/>
            <a:ext cx="11115355" cy="2286000"/>
          </a:xfrm>
        </p:spPr>
        <p:txBody>
          <a:bodyPr rtlCol="0" anchor="ctr">
            <a:noAutofit/>
          </a:bodyPr>
          <a:lstStyle>
            <a:lvl1pPr algn="l">
              <a:defRPr sz="5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单击此处添加标题</a:t>
            </a:r>
          </a:p>
        </p:txBody>
      </p:sp>
      <p:sp>
        <p:nvSpPr>
          <p:cNvPr id="8" name="图片占位符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94"/>
            <a:ext cx="12192000" cy="3771878"/>
          </a:xfrm>
        </p:spPr>
        <p:txBody>
          <a:bodyPr rtlCol="0">
            <a:noAutofit/>
          </a:bodyPr>
          <a:lstStyle>
            <a:lvl1pPr marL="0" indent="0" algn="ctr">
              <a:buNone/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单击图标插入图片</a:t>
            </a:r>
          </a:p>
        </p:txBody>
      </p:sp>
      <p:sp>
        <p:nvSpPr>
          <p:cNvPr id="7" name="椭圆形 6">
            <a:extLst>
              <a:ext uri="{FF2B5EF4-FFF2-40B4-BE49-F238E27FC236}">
                <a16:creationId xmlns:a16="http://schemas.microsoft.com/office/drawing/2014/main" id="{57BF9F63-86BE-5515-AD3C-59481B3FF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 dirty="0"/>
              <a:t>20XX</a:t>
            </a:r>
            <a:endParaRPr lang="zh-CN" altLang="en-US" noProof="0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CBD12358-51D2-46B3-9BDE-DF29528B9454}" type="slidenum">
              <a:rPr lang="en-US" altLang="zh-CN" noProof="0" smtClean="0"/>
              <a:pPr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5196384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两栏内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椭圆形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grpSp>
        <p:nvGrpSpPr>
          <p:cNvPr id="13" name="组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任意多边形：形状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" name="椭圆形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0863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sz="4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单击此处添加标题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228600">
              <a:spcBef>
                <a:spcPts val="1000"/>
              </a:spcBef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411480" indent="-228600">
              <a:spcBef>
                <a:spcPts val="1000"/>
              </a:spcBef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594360">
              <a:spcBef>
                <a:spcPts val="1000"/>
              </a:spcBef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777240">
              <a:spcBef>
                <a:spcPts val="1000"/>
              </a:spcBef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 dirty="0"/>
              <a:t>单击此处添加内容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6B65629D-0977-C0EA-5E0B-C4822F43DAE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5540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228600">
              <a:spcBef>
                <a:spcPts val="1000"/>
              </a:spcBef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411480" indent="-228600">
              <a:spcBef>
                <a:spcPts val="1000"/>
              </a:spcBef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594360">
              <a:spcBef>
                <a:spcPts val="1000"/>
              </a:spcBef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777240">
              <a:spcBef>
                <a:spcPts val="1000"/>
              </a:spcBef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 dirty="0"/>
              <a:t>单击此处添加内容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 dirty="0"/>
              <a:t>20XX</a:t>
            </a:r>
            <a:endParaRPr lang="zh-CN" altLang="en-US" noProof="0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BA1B0FB-D917-4C8C-928F-313BD683BF39}" type="slidenum">
              <a:rPr lang="en-US" altLang="zh-CN" noProof="0" smtClean="0"/>
              <a:pPr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4052099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 6">
            <a:extLst>
              <a:ext uri="{FF2B5EF4-FFF2-40B4-BE49-F238E27FC236}">
                <a16:creationId xmlns:a16="http://schemas.microsoft.com/office/drawing/2014/main" id="{C87E98C0-6053-9701-92D0-4EF9ADBC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9063019" y="746716"/>
            <a:ext cx="3597052" cy="2615018"/>
            <a:chOff x="4541453" y="3199533"/>
            <a:chExt cx="3597052" cy="2615018"/>
          </a:xfrm>
        </p:grpSpPr>
        <p:sp>
          <p:nvSpPr>
            <p:cNvPr id="8" name="任意多边形：形状 38">
              <a:extLst>
                <a:ext uri="{FF2B5EF4-FFF2-40B4-BE49-F238E27FC236}">
                  <a16:creationId xmlns:a16="http://schemas.microsoft.com/office/drawing/2014/main" id="{C32B1A1D-760B-9D3D-A869-E50FC962A629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grpSp>
          <p:nvGrpSpPr>
            <p:cNvPr id="9" name="组 8">
              <a:extLst>
                <a:ext uri="{FF2B5EF4-FFF2-40B4-BE49-F238E27FC236}">
                  <a16:creationId xmlns:a16="http://schemas.microsoft.com/office/drawing/2014/main" id="{D02EF78B-5BDF-8632-B9B1-087DB042EEC7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0" name="任意多边形：形状 32">
                <a:extLst>
                  <a:ext uri="{FF2B5EF4-FFF2-40B4-BE49-F238E27FC236}">
                    <a16:creationId xmlns:a16="http://schemas.microsoft.com/office/drawing/2014/main" id="{5C54B3E8-515B-0865-9321-DB3793A6224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rtl="0"/>
                <a:endParaRPr lang="zh-CN" altLang="en-US" noProof="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  <p:sp>
            <p:nvSpPr>
              <p:cNvPr id="11" name="椭圆形 10">
                <a:extLst>
                  <a:ext uri="{FF2B5EF4-FFF2-40B4-BE49-F238E27FC236}">
                    <a16:creationId xmlns:a16="http://schemas.microsoft.com/office/drawing/2014/main" id="{56E92718-2CCD-B15D-8DE5-46285BEA256B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/>
                <a:endParaRPr lang="zh-CN" altLang="en-US" noProof="0" dirty="0">
                  <a:latin typeface="Microsoft YaHei UI" panose="020B0503020204020204" pitchFamily="34" charset="-122"/>
                  <a:ea typeface="Microsoft YaHei UI" panose="020B0503020204020204" pitchFamily="34" charset="-122"/>
                </a:endParaRPr>
              </a:p>
            </p:txBody>
          </p:sp>
        </p:grpSp>
      </p:grpSp>
      <p:grpSp>
        <p:nvGrpSpPr>
          <p:cNvPr id="19" name="组 18">
            <a:extLst>
              <a:ext uri="{FF2B5EF4-FFF2-40B4-BE49-F238E27FC236}">
                <a16:creationId xmlns:a16="http://schemas.microsoft.com/office/drawing/2014/main" id="{AEA0B78B-84F0-8B85-40E8-678689DC1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723112" y="5088958"/>
            <a:ext cx="1335600" cy="1262947"/>
            <a:chOff x="10145015" y="2343978"/>
            <a:chExt cx="1335600" cy="1262947"/>
          </a:xfrm>
        </p:grpSpPr>
        <p:sp>
          <p:nvSpPr>
            <p:cNvPr id="20" name="任意多边形：形状 25">
              <a:extLst>
                <a:ext uri="{FF2B5EF4-FFF2-40B4-BE49-F238E27FC236}">
                  <a16:creationId xmlns:a16="http://schemas.microsoft.com/office/drawing/2014/main" id="{2E5D7C6F-BF77-9B7D-5B12-7AF3ED280B43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21" name="椭圆形 20">
              <a:extLst>
                <a:ext uri="{FF2B5EF4-FFF2-40B4-BE49-F238E27FC236}">
                  <a16:creationId xmlns:a16="http://schemas.microsoft.com/office/drawing/2014/main" id="{FA599EE6-2673-0AD8-EAE0-45C79326015E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12" name="组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任意多边形：形状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4" name="椭圆形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5" name="椭圆形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" name="任意多边形：形状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4000" dirty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>
              <a:lnSpc>
                <a:spcPct val="100000"/>
              </a:lnSpc>
            </a:pPr>
            <a:r>
              <a:rPr lang="zh-CN" altLang="en-US" noProof="0" dirty="0"/>
              <a:t>单击此处添加标题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sz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sz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sz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 dirty="0"/>
              <a:t>单击此处添加内容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 dirty="0"/>
              <a:t>20XX</a:t>
            </a:r>
            <a:endParaRPr lang="zh-CN" altLang="en-US" noProof="0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BA1B0FB-D917-4C8C-928F-313BD683BF39}" type="slidenum">
              <a:rPr lang="en-US" altLang="zh-CN" noProof="0" smtClean="0"/>
              <a:pPr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4177578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 + 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>
            <a:extLst>
              <a:ext uri="{FF2B5EF4-FFF2-40B4-BE49-F238E27FC236}">
                <a16:creationId xmlns:a16="http://schemas.microsoft.com/office/drawing/2014/main" id="{096D26C0-4AFC-33CC-99BE-317E9A84435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zh-CN" altLang="en-US" noProof="0" dirty="0"/>
              <a:t>单击图标插入图片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76680"/>
            <a:ext cx="9144000" cy="2286000"/>
          </a:xfrm>
        </p:spPr>
        <p:txBody>
          <a:bodyPr rtlCol="0" anchor="b">
            <a:noAutofit/>
          </a:bodyPr>
          <a:lstStyle>
            <a:lvl1pPr algn="ctr">
              <a:defRPr sz="5400"/>
            </a:lvl1pPr>
          </a:lstStyle>
          <a:p>
            <a:pPr rtl="0"/>
            <a:r>
              <a:rPr lang="zh-CN" altLang="en-US" noProof="0" dirty="0"/>
              <a:t>单击此处添加标题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99840"/>
            <a:ext cx="9144000" cy="228600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CN" altLang="en-US" noProof="0" dirty="0"/>
              <a:t>单击此处添加副标题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altLang="zh-CN" noProof="0" dirty="0"/>
              <a:t>20XX</a:t>
            </a:r>
            <a:endParaRPr lang="zh-CN" altLang="en-US" noProof="0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1710829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结束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形 6">
            <a:extLst>
              <a:ext uri="{FF2B5EF4-FFF2-40B4-BE49-F238E27FC236}">
                <a16:creationId xmlns:a16="http://schemas.microsoft.com/office/drawing/2014/main" id="{E57989ED-9663-5033-AA83-267069FC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36" y="549274"/>
            <a:ext cx="5179330" cy="284182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5400" dirty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>
              <a:lnSpc>
                <a:spcPct val="100000"/>
              </a:lnSpc>
            </a:pPr>
            <a:r>
              <a:rPr lang="zh-CN" altLang="en-US" noProof="0" dirty="0"/>
              <a:t>单击此处添加标题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537" y="3646704"/>
            <a:ext cx="5179330" cy="270616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9144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3716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8288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 rtl="0"/>
            <a:r>
              <a:rPr lang="zh-CN" altLang="en-US" noProof="0" dirty="0"/>
              <a:t>单击此处添加内容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20" name="图片占位符 19">
            <a:extLst>
              <a:ext uri="{FF2B5EF4-FFF2-40B4-BE49-F238E27FC236}">
                <a16:creationId xmlns:a16="http://schemas.microsoft.com/office/drawing/2014/main" id="{5392876F-0BBD-F80A-DE7F-8831AD3BF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6138" y="549275"/>
            <a:ext cx="5654675" cy="5788025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 dirty="0"/>
              <a:t>单击图标插入图片</a:t>
            </a:r>
          </a:p>
        </p:txBody>
      </p:sp>
      <p:grpSp>
        <p:nvGrpSpPr>
          <p:cNvPr id="9" name="组 8">
            <a:extLst>
              <a:ext uri="{FF2B5EF4-FFF2-40B4-BE49-F238E27FC236}">
                <a16:creationId xmlns:a16="http://schemas.microsoft.com/office/drawing/2014/main" id="{64E08E8E-10CB-55BC-8AFF-E64C800B9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0" name="任意多边形：形状 15">
              <a:extLst>
                <a:ext uri="{FF2B5EF4-FFF2-40B4-BE49-F238E27FC236}">
                  <a16:creationId xmlns:a16="http://schemas.microsoft.com/office/drawing/2014/main" id="{B439260B-AC6B-1C83-1A63-058A7E7EFCC9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1" name="椭圆形 10">
              <a:extLst>
                <a:ext uri="{FF2B5EF4-FFF2-40B4-BE49-F238E27FC236}">
                  <a16:creationId xmlns:a16="http://schemas.microsoft.com/office/drawing/2014/main" id="{4ADD32DC-9BAF-DA32-4E29-A6D403E04377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12" name="组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任意多边形：形状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4" name="椭圆形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5" name="椭圆形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zh-CN" altLang="en-US" noProof="0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16" name="任意多边形：形状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altLang="zh-CN" noProof="0" dirty="0"/>
              <a:t>20XX</a:t>
            </a:r>
            <a:endParaRPr lang="zh-CN" altLang="en-US" noProof="0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BA1B0FB-D917-4C8C-928F-313BD683BF39}" type="slidenum">
              <a:rPr lang="en-US" altLang="zh-CN" noProof="0" smtClean="0"/>
              <a:pPr/>
              <a:t>‹#›</a:t>
            </a:fld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7705160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60961"/>
            <a:ext cx="11090275" cy="1186560"/>
          </a:xfrm>
        </p:spPr>
        <p:txBody>
          <a:bodyPr rtlCol="0" anchor="t" anchorCtr="0">
            <a:noAutofit/>
          </a:bodyPr>
          <a:lstStyle>
            <a:lvl1pPr>
              <a:defRPr sz="4000"/>
            </a:lvl1pPr>
          </a:lstStyle>
          <a:p>
            <a:pPr rtl="0"/>
            <a:r>
              <a:rPr lang="zh-CN" altLang="en-US" noProof="0" dirty="0"/>
              <a:t>单击此处添加标题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altLang="zh-CN" noProof="0" dirty="0"/>
              <a:t>20XX</a:t>
            </a:r>
            <a:endParaRPr lang="zh-CN" altLang="en-US" noProof="0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BD12358-51D2-46B3-9BDE-DF29528B945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C28186-3489-427F-79D0-B7844402362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1" y="1917064"/>
            <a:ext cx="11090275" cy="4297679"/>
          </a:xfrm>
        </p:spPr>
        <p:txBody>
          <a:bodyPr rtlCol="0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zh-CN" altLang="en-US" noProof="0" dirty="0"/>
              <a:t>单击此处添加内容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557549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0E02FC1-E8A9-45A3-F626-FF68F2862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0B8312-424B-98A0-9A93-D59BA6712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3D9B02-72AD-72D8-9F6D-E7121AD0EE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1F3FDD-D233-4701-89DA-4630018D0F96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574A34-6ACF-5953-8604-83B613A521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9A47A4-2465-9E57-B826-51C298C47C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BC6F9B-7CD9-49D5-AD7A-2FB2725573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617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notesSlide" Target="../notesSlides/notesSlide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13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quanke.com/member.html?memberId=122586" TargetMode="External"/><Relationship Id="rId2" Type="http://schemas.openxmlformats.org/officeDocument/2006/relationships/hyperlink" Target="https://www.anquanke.com/post/id/302717" TargetMode="External"/><Relationship Id="rId1" Type="http://schemas.openxmlformats.org/officeDocument/2006/relationships/slideLayout" Target="../slideLayouts/slideLayout19.xml"/><Relationship Id="rId4" Type="http://schemas.openxmlformats.org/officeDocument/2006/relationships/hyperlink" Target="https://netmarketshar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占位符 13" descr="数据点数字背景">
            <a:extLst>
              <a:ext uri="{FF2B5EF4-FFF2-40B4-BE49-F238E27FC236}">
                <a16:creationId xmlns:a16="http://schemas.microsoft.com/office/drawing/2014/main" id="{53227D59-33F9-9DDB-1C5C-A938A989EE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r="7936"/>
          <a:stretch/>
        </p:blipFill>
        <p:spPr>
          <a:xfrm>
            <a:off x="0" y="0"/>
            <a:ext cx="8114270" cy="6858000"/>
          </a:xfrm>
        </p:spPr>
      </p:pic>
      <p:sp>
        <p:nvSpPr>
          <p:cNvPr id="4" name="标题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154" y="366375"/>
            <a:ext cx="7443505" cy="5542025"/>
          </a:xfrm>
          <a:noFill/>
        </p:spPr>
        <p:txBody>
          <a:bodyPr rtlCol="0" anchor="ctr">
            <a:noAutofit/>
          </a:bodyPr>
          <a:lstStyle/>
          <a:p>
            <a:r>
              <a:rPr lang="en-US" altLang="zh-CN" dirty="0">
                <a:latin typeface="Microsoft YaHei UI"/>
                <a:ea typeface="Microsoft YaHei UI"/>
              </a:rPr>
              <a:t>《</a:t>
            </a:r>
            <a:r>
              <a:rPr lang="zh-cn" dirty="0">
                <a:latin typeface="Microsoft YaHei UI"/>
                <a:ea typeface="Microsoft YaHei UI"/>
              </a:rPr>
              <a:t>基</a:t>
            </a:r>
            <a:r>
              <a:rPr lang="zh-cn" altLang="en-US" dirty="0">
                <a:latin typeface="Microsoft YaHei UI"/>
                <a:ea typeface="Microsoft YaHei UI"/>
              </a:rPr>
              <a:t>于网络流量抓取与受控回连仿真的异常通信检测系统设计与实现</a:t>
            </a:r>
            <a:r>
              <a:rPr lang="en-US" altLang="zh-CN" dirty="0">
                <a:latin typeface="Microsoft YaHei UI"/>
                <a:ea typeface="Microsoft YaHei UI"/>
              </a:rPr>
              <a:t>》</a:t>
            </a:r>
            <a:endParaRPr lang="zh-cn" dirty="0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A68F0AD-ED27-0B4C-683A-D5A48F5508E0}"/>
              </a:ext>
            </a:extLst>
          </p:cNvPr>
          <p:cNvGrpSpPr/>
          <p:nvPr/>
        </p:nvGrpSpPr>
        <p:grpSpPr>
          <a:xfrm>
            <a:off x="8521424" y="2817092"/>
            <a:ext cx="3499858" cy="3094517"/>
            <a:chOff x="8521424" y="2436446"/>
            <a:chExt cx="3499858" cy="3094517"/>
          </a:xfrm>
        </p:grpSpPr>
        <p:sp>
          <p:nvSpPr>
            <p:cNvPr id="6" name="文本框 10">
              <a:extLst>
                <a:ext uri="{FF2B5EF4-FFF2-40B4-BE49-F238E27FC236}">
                  <a16:creationId xmlns:a16="http://schemas.microsoft.com/office/drawing/2014/main" id="{5E57DC8E-D7C5-DD5A-BCEE-ECBDA3DAEF57}"/>
                </a:ext>
              </a:extLst>
            </p:cNvPr>
            <p:cNvSpPr txBox="1"/>
            <p:nvPr/>
          </p:nvSpPr>
          <p:spPr>
            <a:xfrm>
              <a:off x="8521424" y="2436446"/>
              <a:ext cx="3499858" cy="40011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spc="120" dirty="0">
                  <a:uFillTx/>
                  <a:latin typeface="汉仪文黑-75简" panose="00020600040101010101" charset="-122"/>
                  <a:ea typeface="汉仪文黑-55简" panose="00020600040101010101" charset="-122"/>
                  <a:cs typeface="汉仪中简黑简" panose="00020600040101010101" charset="-122"/>
                  <a:sym typeface="+mn-ea"/>
                </a:rPr>
                <a:t>计算机·网络空间安全学院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9B45422D-CCA6-216F-0B4D-4CB5585BBC99}"/>
                </a:ext>
              </a:extLst>
            </p:cNvPr>
            <p:cNvSpPr txBox="1"/>
            <p:nvPr/>
          </p:nvSpPr>
          <p:spPr>
            <a:xfrm>
              <a:off x="8521424" y="3813466"/>
              <a:ext cx="2520001" cy="37029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defTabSz="1219170">
                <a:lnSpc>
                  <a:spcPct val="113000"/>
                </a:lnSpc>
                <a:spcBef>
                  <a:spcPts val="500"/>
                </a:spcBef>
              </a:pPr>
              <a:r>
                <a:rPr lang="zh-CN" altLang="en-US" sz="1727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  <a:sym typeface="+mn-ea"/>
                </a:rPr>
                <a:t>班级：</a:t>
              </a:r>
              <a:r>
                <a:rPr lang="en-US" altLang="zh-CN" sz="1727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  <a:sym typeface="+mn-ea"/>
                </a:rPr>
                <a:t>22</a:t>
              </a:r>
              <a:r>
                <a:rPr lang="zh-CN" altLang="en-US" sz="1727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  <a:sym typeface="+mn-ea"/>
                </a:rPr>
                <a:t>级网安二班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F080985-5871-8CE6-2741-E4E224C60AAC}"/>
                </a:ext>
              </a:extLst>
            </p:cNvPr>
            <p:cNvSpPr txBox="1"/>
            <p:nvPr/>
          </p:nvSpPr>
          <p:spPr>
            <a:xfrm>
              <a:off x="8521424" y="5160669"/>
              <a:ext cx="2520001" cy="37029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defTabSz="1219170">
                <a:lnSpc>
                  <a:spcPct val="113000"/>
                </a:lnSpc>
                <a:spcBef>
                  <a:spcPts val="500"/>
                </a:spcBef>
              </a:pPr>
              <a:r>
                <a:rPr lang="zh-CN" altLang="en-US" sz="1727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  <a:sym typeface="+mn-ea"/>
                </a:rPr>
                <a:t>学号：</a:t>
              </a:r>
              <a:r>
                <a:rPr lang="en-US" altLang="zh-CN" sz="1727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  <a:sym typeface="+mn-ea"/>
                </a:rPr>
                <a:t>202005820609</a:t>
              </a:r>
              <a:r>
                <a:rPr lang="en-US" sz="1727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  <a:sym typeface="+mn-ea"/>
                </a:rPr>
                <a:t> </a:t>
              </a:r>
              <a:endParaRPr lang="en-US" altLang="en-US" sz="1727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D823587-AC1E-0499-2A90-4F2C201F2671}"/>
                </a:ext>
              </a:extLst>
            </p:cNvPr>
            <p:cNvSpPr txBox="1"/>
            <p:nvPr/>
          </p:nvSpPr>
          <p:spPr>
            <a:xfrm>
              <a:off x="8521424" y="4487068"/>
              <a:ext cx="2520001" cy="37029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defTabSz="1219170">
                <a:lnSpc>
                  <a:spcPct val="113000"/>
                </a:lnSpc>
                <a:spcBef>
                  <a:spcPts val="500"/>
                </a:spcBef>
              </a:pPr>
              <a:r>
                <a:rPr lang="zh-CN" altLang="en-US" sz="1727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  <a:sym typeface="+mn-ea"/>
                </a:rPr>
                <a:t>指导老师</a:t>
              </a:r>
              <a:r>
                <a:rPr lang="en-US" sz="1727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  <a:sym typeface="+mn-ea"/>
                </a:rPr>
                <a:t>:</a:t>
              </a:r>
              <a:r>
                <a:rPr lang="zh-CN" altLang="en-US" sz="1727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  <a:sym typeface="+mn-ea"/>
                </a:rPr>
                <a:t>邓书华</a:t>
              </a:r>
              <a:r>
                <a:rPr lang="en-US" sz="1727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  <a:sym typeface="+mn-ea"/>
                </a:rPr>
                <a:t> </a:t>
              </a:r>
              <a:endParaRPr lang="en-US" altLang="en-US" sz="1727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1C3DE3ED-AAE8-DB88-CE9A-82A6B9ECD51B}"/>
                </a:ext>
              </a:extLst>
            </p:cNvPr>
            <p:cNvSpPr txBox="1"/>
            <p:nvPr/>
          </p:nvSpPr>
          <p:spPr>
            <a:xfrm>
              <a:off x="8521424" y="3139864"/>
              <a:ext cx="2520001" cy="36000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defTabSz="1219170">
                <a:spcBef>
                  <a:spcPts val="500"/>
                </a:spcBef>
              </a:pPr>
              <a:r>
                <a:rPr lang="zh-CN" altLang="en-US" sz="1727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答辩学生</a:t>
              </a:r>
              <a:r>
                <a:rPr lang="en-US" altLang="zh-CN" sz="1727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r>
                <a:rPr lang="zh-CN" altLang="en-US" sz="1727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黄笛轩</a:t>
              </a:r>
              <a:r>
                <a:rPr lang="en-US" altLang="zh-CN" sz="1727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D22B4790-D3B3-A7D7-4E7D-88980C508D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8033" y="538621"/>
            <a:ext cx="1883392" cy="188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E5D2BA69-81D1-F730-3B06-36D344A5F155}"/>
              </a:ext>
            </a:extLst>
          </p:cNvPr>
          <p:cNvSpPr/>
          <p:nvPr/>
        </p:nvSpPr>
        <p:spPr>
          <a:xfrm>
            <a:off x="3939396" y="381280"/>
            <a:ext cx="4313208" cy="957057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475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</a:t>
            </a:r>
            <a:endParaRPr lang="en-US" sz="1440" dirty="0">
              <a:solidFill>
                <a:schemeClr val="accent2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5D5BE93-0252-3CC3-B567-14EC47EB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859809"/>
            <a:ext cx="11090275" cy="666730"/>
          </a:xfrm>
        </p:spPr>
        <p:txBody>
          <a:bodyPr rtlCol="0"/>
          <a:lstStyle/>
          <a:p>
            <a:pPr algn="ctr" rtl="0"/>
            <a:r>
              <a:rPr lang="zh-CN" altLang="en-US" dirty="0"/>
              <a:t>目录</a:t>
            </a:r>
            <a:endParaRPr lang="zh-cn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88F43E7-FC0F-082B-6388-824F4BA79CD1}"/>
              </a:ext>
            </a:extLst>
          </p:cNvPr>
          <p:cNvGrpSpPr/>
          <p:nvPr/>
        </p:nvGrpSpPr>
        <p:grpSpPr>
          <a:xfrm>
            <a:off x="550863" y="1816863"/>
            <a:ext cx="10476527" cy="3399894"/>
            <a:chOff x="974838" y="1636695"/>
            <a:chExt cx="7596985" cy="1626232"/>
          </a:xfrm>
        </p:grpSpPr>
        <p:sp>
          <p:nvSpPr>
            <p:cNvPr id="5" name="Text 2">
              <a:extLst>
                <a:ext uri="{FF2B5EF4-FFF2-40B4-BE49-F238E27FC236}">
                  <a16:creationId xmlns:a16="http://schemas.microsoft.com/office/drawing/2014/main" id="{EF4B3730-DB66-E837-41A3-A7F75689E8BB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520202" y="1667489"/>
              <a:ext cx="3236976" cy="307649"/>
            </a:xfrm>
            <a:prstGeom prst="rect">
              <a:avLst/>
            </a:prstGeom>
            <a:noFill/>
          </p:spPr>
          <p:txBody>
            <a:bodyPr wrap="square" lIns="95250" tIns="95250" rIns="95250" bIns="95250" rtlCol="0" anchor="t">
              <a:spAutoFit/>
            </a:bodyPr>
            <a:lstStyle/>
            <a:p>
              <a:pPr marL="0" indent="0">
                <a:lnSpc>
                  <a:spcPct val="113000"/>
                </a:lnSpc>
                <a:spcBef>
                  <a:spcPts val="375"/>
                </a:spcBef>
                <a:buNone/>
              </a:pPr>
              <a:r>
                <a:rPr lang="en-US" sz="28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选题背景与意义</a:t>
              </a:r>
              <a:endParaRPr lang="en-US" sz="2400" dirty="0"/>
            </a:p>
          </p:txBody>
        </p:sp>
        <p:sp>
          <p:nvSpPr>
            <p:cNvPr id="6" name="Text 3">
              <a:extLst>
                <a:ext uri="{FF2B5EF4-FFF2-40B4-BE49-F238E27FC236}">
                  <a16:creationId xmlns:a16="http://schemas.microsoft.com/office/drawing/2014/main" id="{8A27B0EB-C1A3-AE82-74AC-37FA1BA391C8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974838" y="1636695"/>
              <a:ext cx="713232" cy="369234"/>
            </a:xfrm>
            <a:prstGeom prst="rect">
              <a:avLst/>
            </a:prstGeom>
            <a:noFill/>
          </p:spPr>
          <p:txBody>
            <a:bodyPr wrap="square" lIns="95250" tIns="95250" rIns="95250" bIns="95250" rtlCol="0" anchor="t">
              <a:spAutoFit/>
            </a:bodyPr>
            <a:lstStyle/>
            <a:p>
              <a:pPr marL="0" indent="0">
                <a:lnSpc>
                  <a:spcPct val="113000"/>
                </a:lnSpc>
                <a:spcBef>
                  <a:spcPts val="375"/>
                </a:spcBef>
                <a:buNone/>
              </a:pPr>
              <a:r>
                <a:rPr lang="en-US" sz="3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01</a:t>
              </a:r>
              <a:endParaRPr lang="en-US" sz="2400" dirty="0"/>
            </a:p>
          </p:txBody>
        </p:sp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3E76A426-49EA-BB6A-4B76-56D550A85F0E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5334968" y="1667489"/>
              <a:ext cx="3236855" cy="307649"/>
            </a:xfrm>
            <a:prstGeom prst="rect">
              <a:avLst/>
            </a:prstGeom>
            <a:noFill/>
          </p:spPr>
          <p:txBody>
            <a:bodyPr wrap="square" lIns="95250" tIns="95250" rIns="95250" bIns="95250" rtlCol="0" anchor="t">
              <a:spAutoFit/>
            </a:bodyPr>
            <a:lstStyle/>
            <a:p>
              <a:pPr marL="0" indent="0">
                <a:lnSpc>
                  <a:spcPct val="113000"/>
                </a:lnSpc>
                <a:spcBef>
                  <a:spcPts val="375"/>
                </a:spcBef>
                <a:buNone/>
              </a:pPr>
              <a:r>
                <a:rPr lang="en-US" sz="28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设计思路与主要内容</a:t>
              </a:r>
              <a:endParaRPr lang="en-US" sz="2400" dirty="0"/>
            </a:p>
          </p:txBody>
        </p:sp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0C0BCA23-93D2-A6AB-B17E-5F0C87614E2D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4789603" y="1636695"/>
              <a:ext cx="713232" cy="369234"/>
            </a:xfrm>
            <a:prstGeom prst="rect">
              <a:avLst/>
            </a:prstGeom>
            <a:noFill/>
          </p:spPr>
          <p:txBody>
            <a:bodyPr wrap="square" lIns="95250" tIns="95250" rIns="95250" bIns="95250" rtlCol="0" anchor="t">
              <a:spAutoFit/>
            </a:bodyPr>
            <a:lstStyle/>
            <a:p>
              <a:pPr marL="0" indent="0">
                <a:lnSpc>
                  <a:spcPct val="113000"/>
                </a:lnSpc>
                <a:spcBef>
                  <a:spcPts val="375"/>
                </a:spcBef>
                <a:buNone/>
              </a:pPr>
              <a:r>
                <a:rPr lang="en-US" sz="3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02</a:t>
              </a:r>
              <a:endParaRPr lang="en-US" sz="2400" dirty="0"/>
            </a:p>
          </p:txBody>
        </p:sp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691071A4-7C69-12C4-517F-41257C5E8E55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520354" y="2295987"/>
              <a:ext cx="3236976" cy="307649"/>
            </a:xfrm>
            <a:prstGeom prst="rect">
              <a:avLst/>
            </a:prstGeom>
            <a:noFill/>
          </p:spPr>
          <p:txBody>
            <a:bodyPr wrap="square" lIns="95250" tIns="95250" rIns="95250" bIns="95250" rtlCol="0" anchor="t">
              <a:spAutoFit/>
            </a:bodyPr>
            <a:lstStyle/>
            <a:p>
              <a:pPr marL="0" indent="0">
                <a:lnSpc>
                  <a:spcPct val="113000"/>
                </a:lnSpc>
                <a:spcBef>
                  <a:spcPts val="375"/>
                </a:spcBef>
                <a:buNone/>
              </a:pPr>
              <a:r>
                <a:rPr lang="en-US" sz="28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技术路线</a:t>
              </a:r>
              <a:endParaRPr lang="en-US" sz="2400" dirty="0"/>
            </a:p>
          </p:txBody>
        </p: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42C04081-FBA6-FB2A-2215-D83B7B93180F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974990" y="2265194"/>
              <a:ext cx="713232" cy="369234"/>
            </a:xfrm>
            <a:prstGeom prst="rect">
              <a:avLst/>
            </a:prstGeom>
            <a:noFill/>
          </p:spPr>
          <p:txBody>
            <a:bodyPr wrap="square" lIns="95250" tIns="95250" rIns="95250" bIns="95250" rtlCol="0" anchor="t">
              <a:spAutoFit/>
            </a:bodyPr>
            <a:lstStyle/>
            <a:p>
              <a:pPr marL="0" indent="0">
                <a:lnSpc>
                  <a:spcPct val="113000"/>
                </a:lnSpc>
                <a:spcBef>
                  <a:spcPts val="375"/>
                </a:spcBef>
                <a:buNone/>
              </a:pPr>
              <a:r>
                <a:rPr lang="en-US" sz="3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03</a:t>
              </a:r>
              <a:endParaRPr lang="en-US" sz="2400" dirty="0"/>
            </a:p>
          </p:txBody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448218AB-DD4D-F827-F066-4AF25273E0DC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5334846" y="2295987"/>
              <a:ext cx="3236976" cy="307649"/>
            </a:xfrm>
            <a:prstGeom prst="rect">
              <a:avLst/>
            </a:prstGeom>
            <a:noFill/>
          </p:spPr>
          <p:txBody>
            <a:bodyPr wrap="square" lIns="95250" tIns="95250" rIns="95250" bIns="95250" rtlCol="0" anchor="t">
              <a:spAutoFit/>
            </a:bodyPr>
            <a:lstStyle/>
            <a:p>
              <a:pPr marL="0" indent="0">
                <a:lnSpc>
                  <a:spcPct val="113000"/>
                </a:lnSpc>
                <a:spcBef>
                  <a:spcPts val="375"/>
                </a:spcBef>
                <a:buNone/>
              </a:pPr>
              <a:r>
                <a:rPr lang="en-US" sz="28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可行性分析</a:t>
              </a:r>
              <a:endParaRPr lang="en-US" sz="2400" dirty="0"/>
            </a:p>
          </p:txBody>
        </p:sp>
        <p:sp>
          <p:nvSpPr>
            <p:cNvPr id="12" name="Text 9">
              <a:extLst>
                <a:ext uri="{FF2B5EF4-FFF2-40B4-BE49-F238E27FC236}">
                  <a16:creationId xmlns:a16="http://schemas.microsoft.com/office/drawing/2014/main" id="{73FD8283-DDF5-683A-0396-35E9EC05F0BE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4789482" y="2265194"/>
              <a:ext cx="713232" cy="369234"/>
            </a:xfrm>
            <a:prstGeom prst="rect">
              <a:avLst/>
            </a:prstGeom>
            <a:noFill/>
          </p:spPr>
          <p:txBody>
            <a:bodyPr wrap="square" lIns="95250" tIns="95250" rIns="95250" bIns="95250" rtlCol="0" anchor="t">
              <a:spAutoFit/>
            </a:bodyPr>
            <a:lstStyle/>
            <a:p>
              <a:pPr marL="0" indent="0">
                <a:lnSpc>
                  <a:spcPct val="113000"/>
                </a:lnSpc>
                <a:spcBef>
                  <a:spcPts val="375"/>
                </a:spcBef>
                <a:buNone/>
              </a:pPr>
              <a:r>
                <a:rPr lang="en-US" sz="3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04</a:t>
              </a:r>
              <a:endParaRPr lang="en-US" sz="2400" dirty="0"/>
            </a:p>
          </p:txBody>
        </p:sp>
        <p:sp>
          <p:nvSpPr>
            <p:cNvPr id="13" name="Text 10">
              <a:extLst>
                <a:ext uri="{FF2B5EF4-FFF2-40B4-BE49-F238E27FC236}">
                  <a16:creationId xmlns:a16="http://schemas.microsoft.com/office/drawing/2014/main" id="{4CE3AAC8-21A9-0EF4-B543-C16A2D334869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520281" y="2924516"/>
              <a:ext cx="3236976" cy="307588"/>
            </a:xfrm>
            <a:prstGeom prst="rect">
              <a:avLst/>
            </a:prstGeom>
            <a:noFill/>
          </p:spPr>
          <p:txBody>
            <a:bodyPr wrap="square" lIns="95250" tIns="95250" rIns="95250" bIns="95250" rtlCol="0" anchor="t">
              <a:spAutoFit/>
            </a:bodyPr>
            <a:lstStyle/>
            <a:p>
              <a:pPr marL="0" indent="0">
                <a:lnSpc>
                  <a:spcPct val="113000"/>
                </a:lnSpc>
                <a:spcBef>
                  <a:spcPts val="375"/>
                </a:spcBef>
                <a:buNone/>
              </a:pPr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计划进度</a:t>
              </a:r>
            </a:p>
          </p:txBody>
        </p:sp>
        <p:sp>
          <p:nvSpPr>
            <p:cNvPr id="14" name="Text 11">
              <a:extLst>
                <a:ext uri="{FF2B5EF4-FFF2-40B4-BE49-F238E27FC236}">
                  <a16:creationId xmlns:a16="http://schemas.microsoft.com/office/drawing/2014/main" id="{1D568022-34C1-9CF2-B725-A31657B8B9C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974917" y="2893693"/>
              <a:ext cx="713232" cy="369234"/>
            </a:xfrm>
            <a:prstGeom prst="rect">
              <a:avLst/>
            </a:prstGeom>
            <a:noFill/>
          </p:spPr>
          <p:txBody>
            <a:bodyPr wrap="square" lIns="95250" tIns="95250" rIns="95250" bIns="95250" rtlCol="0" anchor="t">
              <a:spAutoFit/>
            </a:bodyPr>
            <a:lstStyle/>
            <a:p>
              <a:pPr marL="0" indent="0">
                <a:lnSpc>
                  <a:spcPct val="113000"/>
                </a:lnSpc>
                <a:spcBef>
                  <a:spcPts val="375"/>
                </a:spcBef>
                <a:buNone/>
              </a:pPr>
              <a:r>
                <a:rPr lang="en-US" sz="36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05</a:t>
              </a: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65045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A05D73F4-6C43-E5F2-F467-AA3417D270EF}"/>
              </a:ext>
            </a:extLst>
          </p:cNvPr>
          <p:cNvSpPr/>
          <p:nvPr/>
        </p:nvSpPr>
        <p:spPr>
          <a:xfrm>
            <a:off x="-1" y="4545845"/>
            <a:ext cx="12191999" cy="1408176"/>
          </a:xfrm>
          <a:custGeom>
            <a:avLst/>
            <a:gdLst/>
            <a:ahLst/>
            <a:cxnLst/>
            <a:rect l="l" t="t" r="r" b="b"/>
            <a:pathLst>
              <a:path w="9144000" h="1408176">
                <a:moveTo>
                  <a:pt x="0" y="0"/>
                </a:moveTo>
                <a:moveTo>
                  <a:pt x="0" y="0"/>
                </a:moveTo>
                <a:lnTo>
                  <a:pt x="9144000" y="0"/>
                </a:lnTo>
                <a:lnTo>
                  <a:pt x="9144000" y="1408176"/>
                </a:lnTo>
                <a:lnTo>
                  <a:pt x="0" y="1408176"/>
                </a:lnTo>
                <a:close/>
              </a:path>
            </a:pathLst>
          </a:custGeom>
          <a:solidFill>
            <a:srgbClr val="0070C0"/>
          </a:solidFill>
        </p:spPr>
        <p:txBody>
          <a:bodyPr/>
          <a:lstStyle/>
          <a:p>
            <a:endParaRPr lang="zh-CN" altLang="en-US"/>
          </a:p>
        </p:txBody>
      </p:sp>
      <p:pic>
        <p:nvPicPr>
          <p:cNvPr id="11" name="图片占位符 15" descr="数据点数字背景">
            <a:extLst>
              <a:ext uri="{FF2B5EF4-FFF2-40B4-BE49-F238E27FC236}">
                <a16:creationId xmlns:a16="http://schemas.microsoft.com/office/drawing/2014/main" id="{A496DCE5-C34A-22C2-A9D8-E90DFC8CE86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4594"/>
            <a:ext cx="12192000" cy="3771878"/>
          </a:xfrm>
        </p:spPr>
      </p:pic>
      <p:sp>
        <p:nvSpPr>
          <p:cNvPr id="2" name="Text 1">
            <a:extLst>
              <a:ext uri="{FF2B5EF4-FFF2-40B4-BE49-F238E27FC236}">
                <a16:creationId xmlns:a16="http://schemas.microsoft.com/office/drawing/2014/main" id="{84C35298-CDCA-38CA-0940-B0BE98109AF7}"/>
              </a:ext>
            </a:extLst>
          </p:cNvPr>
          <p:cNvSpPr/>
          <p:nvPr/>
        </p:nvSpPr>
        <p:spPr>
          <a:xfrm>
            <a:off x="377601" y="4942413"/>
            <a:ext cx="741298" cy="635559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88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44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62353C3-F7F1-9B08-868E-F06FF8090BA3}"/>
              </a:ext>
            </a:extLst>
          </p:cNvPr>
          <p:cNvSpPr/>
          <p:nvPr/>
        </p:nvSpPr>
        <p:spPr>
          <a:xfrm>
            <a:off x="1118899" y="4921895"/>
            <a:ext cx="7693921" cy="656077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en-US" sz="288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选题背景与意义</a:t>
            </a:r>
            <a:endParaRPr lang="en-US" sz="1440" dirty="0"/>
          </a:p>
        </p:txBody>
      </p:sp>
    </p:spTree>
    <p:extLst>
      <p:ext uri="{BB962C8B-B14F-4D97-AF65-F5344CB8AC3E}">
        <p14:creationId xmlns:p14="http://schemas.microsoft.com/office/powerpoint/2010/main" val="1839748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3D875-67EA-738E-4D2C-DAB55825A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BDAB375-7AF6-7936-DFB1-4073A9F0F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719664"/>
          </a:xfrm>
        </p:spPr>
        <p:txBody>
          <a:bodyPr rtlCol="0"/>
          <a:lstStyle/>
          <a:p>
            <a:pPr rtl="0"/>
            <a:r>
              <a:rPr lang="zh-CN" altLang="en-US" dirty="0"/>
              <a:t>流量攻击背景</a:t>
            </a:r>
            <a:endParaRPr lang="zh-cn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340B8A9-6B70-ED11-851B-7E22D6AEE5D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50863" y="4601754"/>
            <a:ext cx="758733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互联网攻击方式不断演进，通信更隐蔽、多样。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恶意程序常用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受控回连（Reverse C2）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，流量微弱、时长短、难检测。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流量加密化趋势增强，传统基于明文特征的检测效果下降。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公开的恶意回连数据集缺乏，难以验证检测算法。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因此需要构建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安全可控的回连仿真环境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并进行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实时流量抓取与检测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。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AA0491BA-734B-F30A-4658-7ECE97A3078A}"/>
              </a:ext>
            </a:extLst>
          </p:cNvPr>
          <p:cNvGrpSpPr/>
          <p:nvPr/>
        </p:nvGrpSpPr>
        <p:grpSpPr>
          <a:xfrm>
            <a:off x="550863" y="1228299"/>
            <a:ext cx="4780489" cy="2889332"/>
            <a:chOff x="550863" y="1228299"/>
            <a:chExt cx="4780489" cy="2889332"/>
          </a:xfrm>
        </p:grpSpPr>
        <p:pic>
          <p:nvPicPr>
            <p:cNvPr id="15" name="图片 14" descr="图形用户界面&#10;&#10;AI 生成的内容可能不正确。">
              <a:extLst>
                <a:ext uri="{FF2B5EF4-FFF2-40B4-BE49-F238E27FC236}">
                  <a16:creationId xmlns:a16="http://schemas.microsoft.com/office/drawing/2014/main" id="{145E608E-0FC6-679F-4E64-55E5DF4BA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0863" y="1228299"/>
              <a:ext cx="4780489" cy="2520000"/>
            </a:xfrm>
            <a:prstGeom prst="rect">
              <a:avLst/>
            </a:prstGeom>
          </p:spPr>
        </p:pic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41392A0D-9524-2B9D-EBBF-B7F18963FAA1}"/>
                </a:ext>
              </a:extLst>
            </p:cNvPr>
            <p:cNvSpPr txBox="1"/>
            <p:nvPr/>
          </p:nvSpPr>
          <p:spPr>
            <a:xfrm>
              <a:off x="550863" y="3748299"/>
              <a:ext cx="38326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2019</a:t>
              </a:r>
              <a:r>
                <a:rPr lang="zh-CN" altLang="en-US" dirty="0"/>
                <a:t>年加密流量以经占据到</a:t>
              </a:r>
              <a:r>
                <a:rPr lang="en-US" altLang="zh-CN" dirty="0"/>
                <a:t>90%</a:t>
              </a:r>
              <a:r>
                <a:rPr lang="zh-CN" altLang="en-US" dirty="0"/>
                <a:t>以上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8E330B13-46A5-5E3F-8694-6288F3851ECD}"/>
              </a:ext>
            </a:extLst>
          </p:cNvPr>
          <p:cNvGrpSpPr/>
          <p:nvPr/>
        </p:nvGrpSpPr>
        <p:grpSpPr>
          <a:xfrm>
            <a:off x="5973378" y="1228299"/>
            <a:ext cx="4175203" cy="2889332"/>
            <a:chOff x="5973378" y="1228299"/>
            <a:chExt cx="4175203" cy="2889332"/>
          </a:xfrm>
        </p:grpSpPr>
        <p:pic>
          <p:nvPicPr>
            <p:cNvPr id="17" name="图片 16" descr="图片包含 应用程序&#10;&#10;AI 生成的内容可能不正确。">
              <a:extLst>
                <a:ext uri="{FF2B5EF4-FFF2-40B4-BE49-F238E27FC236}">
                  <a16:creationId xmlns:a16="http://schemas.microsoft.com/office/drawing/2014/main" id="{922DAF6E-201B-21E4-6816-1E7E9AF03A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73378" y="1228299"/>
              <a:ext cx="4175203" cy="2520000"/>
            </a:xfrm>
            <a:prstGeom prst="rect">
              <a:avLst/>
            </a:prstGeom>
            <a:solidFill>
              <a:schemeClr val="tx1"/>
            </a:solidFill>
          </p:spPr>
        </p:pic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1B1170F4-FD84-9594-BA8E-3653ADB03CA9}"/>
                </a:ext>
              </a:extLst>
            </p:cNvPr>
            <p:cNvSpPr txBox="1"/>
            <p:nvPr/>
          </p:nvSpPr>
          <p:spPr>
            <a:xfrm>
              <a:off x="5973378" y="3748299"/>
              <a:ext cx="38326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互联网加密市场规模未来巨大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3372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9A522-72E5-2870-248A-DAEFC35E2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D24F3CB-645A-FFC5-DB15-0AD3A7E7F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785144"/>
          </a:xfrm>
        </p:spPr>
        <p:txBody>
          <a:bodyPr rtlCol="0"/>
          <a:lstStyle/>
          <a:p>
            <a:pPr rtl="0"/>
            <a:r>
              <a:rPr lang="en-US" altLang="zh-CN" dirty="0"/>
              <a:t>GO</a:t>
            </a:r>
            <a:r>
              <a:rPr lang="zh-CN" altLang="en-US" dirty="0"/>
              <a:t>和</a:t>
            </a:r>
            <a:r>
              <a:rPr lang="en-US" altLang="zh-CN" dirty="0"/>
              <a:t>Python</a:t>
            </a:r>
            <a:r>
              <a:rPr lang="zh-CN" altLang="en-US" dirty="0"/>
              <a:t>技术上的优势</a:t>
            </a:r>
            <a:endParaRPr lang="zh-cn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8B3E80B-0A5B-15AE-791F-72F9E7CF82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 rtlCol="0"/>
          <a:lstStyle/>
          <a:p>
            <a:pPr rtl="0"/>
            <a:r>
              <a:rPr lang="en-US" altLang="zh-CN" dirty="0"/>
              <a:t>Go</a:t>
            </a:r>
          </a:p>
          <a:p>
            <a:pPr marL="342900" indent="-342900">
              <a:buAutoNum type="arabicPeriod"/>
            </a:pPr>
            <a:r>
              <a:rPr lang="zh-CN" altLang="en-US" dirty="0"/>
              <a:t>原生并发（</a:t>
            </a:r>
            <a:r>
              <a:rPr lang="en-US" altLang="zh-CN" dirty="0"/>
              <a:t>goroutine</a:t>
            </a:r>
            <a:r>
              <a:rPr lang="zh-CN" altLang="en-US" dirty="0"/>
              <a:t>）非常适合网络通信（</a:t>
            </a:r>
            <a:r>
              <a:rPr lang="en-US" altLang="zh-CN" dirty="0"/>
              <a:t>goroutine</a:t>
            </a:r>
            <a:r>
              <a:rPr lang="zh-CN" altLang="en-US" dirty="0"/>
              <a:t>、</a:t>
            </a:r>
            <a:r>
              <a:rPr lang="en-US" altLang="zh-CN" dirty="0"/>
              <a:t>channel</a:t>
            </a:r>
            <a:r>
              <a:rPr lang="zh-CN" altLang="en-US" dirty="0"/>
              <a:t>）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编译为单文件可执行程序（跨平台）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性能高、延迟低、内存占用小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更适合设计自定义协议（加密、混淆）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工程化更强（适合网络安全工具）</a:t>
            </a:r>
            <a:endParaRPr lang="zh-cn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5FF231E-91A2-18D0-13E6-28A094615B67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</a:p>
          <a:p>
            <a:pPr marL="342900" indent="-342900">
              <a:buAutoNum type="arabicPeriod"/>
            </a:pPr>
            <a:r>
              <a:rPr lang="zh-CN" altLang="en-US" dirty="0"/>
              <a:t>抓包与协议解析生态强大（</a:t>
            </a:r>
            <a:r>
              <a:rPr lang="en-US" altLang="zh-CN" dirty="0" err="1"/>
              <a:t>scapy</a:t>
            </a:r>
            <a:r>
              <a:rPr lang="zh-CN" altLang="en-US" dirty="0"/>
              <a:t>、</a:t>
            </a:r>
            <a:r>
              <a:rPr lang="en-US" altLang="zh-CN" dirty="0" err="1"/>
              <a:t>pyshark</a:t>
            </a:r>
            <a:r>
              <a:rPr lang="zh-CN" altLang="en-US" dirty="0"/>
              <a:t>、</a:t>
            </a:r>
            <a:r>
              <a:rPr lang="en-US" altLang="zh-CN" dirty="0" err="1"/>
              <a:t>dpkt</a:t>
            </a:r>
            <a:r>
              <a:rPr lang="zh-CN" altLang="en-US" dirty="0"/>
              <a:t>、</a:t>
            </a:r>
            <a:r>
              <a:rPr lang="en-US" altLang="zh-CN" dirty="0"/>
              <a:t>socket</a:t>
            </a:r>
            <a:r>
              <a:rPr lang="zh-CN" altLang="en-US" dirty="0"/>
              <a:t>）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异常检测模型实现简单（</a:t>
            </a:r>
            <a:r>
              <a:rPr lang="en-US" altLang="zh-CN" dirty="0" err="1"/>
              <a:t>numpy</a:t>
            </a:r>
            <a:r>
              <a:rPr lang="en-US" altLang="zh-CN" dirty="0"/>
              <a:t> / pandas</a:t>
            </a:r>
            <a:r>
              <a:rPr lang="zh-CN" altLang="en-US" dirty="0"/>
              <a:t>、</a:t>
            </a:r>
            <a:r>
              <a:rPr lang="en-US" altLang="zh-CN" dirty="0"/>
              <a:t>scikit-learn</a:t>
            </a:r>
            <a:r>
              <a:rPr lang="zh-CN" altLang="en-US" dirty="0"/>
              <a:t>、</a:t>
            </a:r>
            <a:r>
              <a:rPr lang="en-US" altLang="zh-CN" dirty="0" err="1"/>
              <a:t>pytorch</a:t>
            </a:r>
            <a:r>
              <a:rPr lang="en-US" altLang="zh-CN" dirty="0"/>
              <a:t> / </a:t>
            </a:r>
            <a:r>
              <a:rPr lang="en-US" altLang="zh-CN" dirty="0" err="1"/>
              <a:t>tensorflow</a:t>
            </a:r>
            <a:r>
              <a:rPr lang="zh-CN" altLang="en-US" dirty="0"/>
              <a:t>）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开发速度快，适合原型验证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更适合 </a:t>
            </a:r>
            <a:r>
              <a:rPr lang="en-US" altLang="zh-CN" dirty="0"/>
              <a:t>API </a:t>
            </a:r>
            <a:r>
              <a:rPr lang="zh-CN" altLang="en-US" dirty="0"/>
              <a:t>后端与可视化系统（</a:t>
            </a:r>
            <a:r>
              <a:rPr lang="en-US" altLang="zh-CN" dirty="0" err="1"/>
              <a:t>FastAPI</a:t>
            </a:r>
            <a:r>
              <a:rPr lang="zh-CN" altLang="en-US" dirty="0"/>
              <a:t>、</a:t>
            </a:r>
            <a:r>
              <a:rPr lang="en-US" altLang="zh-CN" dirty="0"/>
              <a:t>Flask</a:t>
            </a:r>
            <a:r>
              <a:rPr lang="zh-CN" altLang="en-US" dirty="0"/>
              <a:t>、</a:t>
            </a:r>
            <a:r>
              <a:rPr lang="en-US" altLang="zh-CN" dirty="0"/>
              <a:t>Django</a:t>
            </a:r>
            <a:r>
              <a:rPr lang="zh-CN" altLang="en-US" dirty="0"/>
              <a:t>）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跨平台好用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14382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D06E6-60A3-38B0-6695-58403D8B4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CC3DB795-CEEF-CFAE-98D8-DE6D9FB82C05}"/>
              </a:ext>
            </a:extLst>
          </p:cNvPr>
          <p:cNvSpPr/>
          <p:nvPr/>
        </p:nvSpPr>
        <p:spPr>
          <a:xfrm>
            <a:off x="-1" y="4545845"/>
            <a:ext cx="12191999" cy="1408176"/>
          </a:xfrm>
          <a:custGeom>
            <a:avLst/>
            <a:gdLst/>
            <a:ahLst/>
            <a:cxnLst/>
            <a:rect l="l" t="t" r="r" b="b"/>
            <a:pathLst>
              <a:path w="9144000" h="1408176">
                <a:moveTo>
                  <a:pt x="0" y="0"/>
                </a:moveTo>
                <a:moveTo>
                  <a:pt x="0" y="0"/>
                </a:moveTo>
                <a:lnTo>
                  <a:pt x="9144000" y="0"/>
                </a:lnTo>
                <a:lnTo>
                  <a:pt x="9144000" y="1408176"/>
                </a:lnTo>
                <a:lnTo>
                  <a:pt x="0" y="1408176"/>
                </a:lnTo>
                <a:close/>
              </a:path>
            </a:pathLst>
          </a:custGeom>
          <a:solidFill>
            <a:srgbClr val="0070C0"/>
          </a:solidFill>
        </p:spPr>
        <p:txBody>
          <a:bodyPr/>
          <a:lstStyle/>
          <a:p>
            <a:endParaRPr lang="zh-CN" altLang="en-US"/>
          </a:p>
        </p:txBody>
      </p:sp>
      <p:pic>
        <p:nvPicPr>
          <p:cNvPr id="11" name="图片占位符 15" descr="数据点数字背景">
            <a:extLst>
              <a:ext uri="{FF2B5EF4-FFF2-40B4-BE49-F238E27FC236}">
                <a16:creationId xmlns:a16="http://schemas.microsoft.com/office/drawing/2014/main" id="{48E8E8A0-F541-EC8C-A760-A4FAC4448B7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4594"/>
            <a:ext cx="12192000" cy="3771878"/>
          </a:xfrm>
        </p:spPr>
      </p:pic>
      <p:sp>
        <p:nvSpPr>
          <p:cNvPr id="2" name="Text 1">
            <a:extLst>
              <a:ext uri="{FF2B5EF4-FFF2-40B4-BE49-F238E27FC236}">
                <a16:creationId xmlns:a16="http://schemas.microsoft.com/office/drawing/2014/main" id="{02F5416C-6208-3E7B-083D-1858260009DF}"/>
              </a:ext>
            </a:extLst>
          </p:cNvPr>
          <p:cNvSpPr/>
          <p:nvPr/>
        </p:nvSpPr>
        <p:spPr>
          <a:xfrm>
            <a:off x="377601" y="4942413"/>
            <a:ext cx="741298" cy="635559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88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44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779380E-BE1A-860D-4BAF-77CC5F82F8D3}"/>
              </a:ext>
            </a:extLst>
          </p:cNvPr>
          <p:cNvSpPr/>
          <p:nvPr/>
        </p:nvSpPr>
        <p:spPr>
          <a:xfrm>
            <a:off x="1118899" y="4921895"/>
            <a:ext cx="7693921" cy="656077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zh-CN" altLang="en-US" sz="288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设计思路与主要内容</a:t>
            </a:r>
            <a:endParaRPr lang="en-US" sz="1440" dirty="0"/>
          </a:p>
        </p:txBody>
      </p:sp>
    </p:spTree>
    <p:extLst>
      <p:ext uri="{BB962C8B-B14F-4D97-AF65-F5344CB8AC3E}">
        <p14:creationId xmlns:p14="http://schemas.microsoft.com/office/powerpoint/2010/main" val="1324443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3EC55-50BF-F4C6-7821-840CF01C0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占位符 19" descr="图形的特写">
            <a:extLst>
              <a:ext uri="{FF2B5EF4-FFF2-40B4-BE49-F238E27FC236}">
                <a16:creationId xmlns:a16="http://schemas.microsoft.com/office/drawing/2014/main" id="{CA3529E6-CA1B-2247-A7D8-9DBFF8A089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" r="9"/>
          <a:stretch/>
        </p:blipFill>
        <p:spPr>
          <a:xfrm>
            <a:off x="7613930" y="0"/>
            <a:ext cx="4578070" cy="6858000"/>
          </a:xfrm>
          <a:prstGeom prst="rect">
            <a:avLst/>
          </a:prstGeom>
        </p:spPr>
      </p:pic>
      <p:sp>
        <p:nvSpPr>
          <p:cNvPr id="7" name="标题 6">
            <a:extLst>
              <a:ext uri="{FF2B5EF4-FFF2-40B4-BE49-F238E27FC236}">
                <a16:creationId xmlns:a16="http://schemas.microsoft.com/office/drawing/2014/main" id="{5F6CB840-2D29-EFB1-E031-90E07B73A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498474"/>
            <a:ext cx="7960421" cy="610479"/>
          </a:xfrm>
        </p:spPr>
        <p:txBody>
          <a:bodyPr/>
          <a:lstStyle/>
          <a:p>
            <a:r>
              <a:rPr lang="zh-CN" altLang="en-US" dirty="0"/>
              <a:t>设计思路与主要内容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6015C15-9E48-D6AA-247E-18997AD1B257}"/>
              </a:ext>
            </a:extLst>
          </p:cNvPr>
          <p:cNvSpPr txBox="1"/>
          <p:nvPr/>
        </p:nvSpPr>
        <p:spPr>
          <a:xfrm>
            <a:off x="550862" y="5287382"/>
            <a:ext cx="65697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本系统以“异常通信检测与仿真”为核心</a:t>
            </a:r>
            <a:endParaRPr lang="en-US" altLang="zh-CN" dirty="0"/>
          </a:p>
          <a:p>
            <a:r>
              <a:rPr lang="zh-CN" altLang="en-US" dirty="0"/>
              <a:t>整体设计遵循“系统管理→仿真行为 → 抓取数据 → 分析异常 → 提供防御”的流程。</a:t>
            </a:r>
          </a:p>
        </p:txBody>
      </p:sp>
      <p:pic>
        <p:nvPicPr>
          <p:cNvPr id="11" name="内容占位符 10" descr="图示&#10;&#10;AI 生成的内容可能不正确。">
            <a:extLst>
              <a:ext uri="{FF2B5EF4-FFF2-40B4-BE49-F238E27FC236}">
                <a16:creationId xmlns:a16="http://schemas.microsoft.com/office/drawing/2014/main" id="{53F17975-6653-A74F-6BEA-1753EC7BDF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63" y="1108953"/>
            <a:ext cx="6738397" cy="3857625"/>
          </a:xfr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3591517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D5257-E3CF-FDA1-054F-2D1CA7E7D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EA360-A0AE-DDF5-A9DC-A9B8E3339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502" y="498475"/>
            <a:ext cx="7960421" cy="746666"/>
          </a:xfrm>
        </p:spPr>
        <p:txBody>
          <a:bodyPr rtlCol="0"/>
          <a:lstStyle/>
          <a:p>
            <a:r>
              <a:rPr lang="zh-CN" altLang="en-US" dirty="0"/>
              <a:t>系统需求分析与总体设计</a:t>
            </a:r>
            <a:endParaRPr lang="zh-c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4CDDD0E-AA27-D70A-930A-F81495AE83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3502" y="1245141"/>
            <a:ext cx="534312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功能需求：流量抓取、异常分析、防御、仿真回连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系统架构设计：模块划分、数据流、控制流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2710981E-605A-DF56-6065-3AA0FF8D284E}"/>
              </a:ext>
            </a:extLst>
          </p:cNvPr>
          <p:cNvGrpSpPr/>
          <p:nvPr/>
        </p:nvGrpSpPr>
        <p:grpSpPr>
          <a:xfrm>
            <a:off x="7938268" y="1991829"/>
            <a:ext cx="3343296" cy="3761253"/>
            <a:chOff x="6724362" y="2087599"/>
            <a:chExt cx="2409525" cy="3217050"/>
          </a:xfrm>
        </p:grpSpPr>
        <p:sp>
          <p:nvSpPr>
            <p:cNvPr id="25" name="Shape 8">
              <a:extLst>
                <a:ext uri="{FF2B5EF4-FFF2-40B4-BE49-F238E27FC236}">
                  <a16:creationId xmlns:a16="http://schemas.microsoft.com/office/drawing/2014/main" id="{59041AA7-11DF-E1D5-5741-EA21AFBC0A0F}"/>
                </a:ext>
              </a:extLst>
            </p:cNvPr>
            <p:cNvSpPr/>
            <p:nvPr/>
          </p:nvSpPr>
          <p:spPr>
            <a:xfrm>
              <a:off x="6941910" y="2087612"/>
              <a:ext cx="2191977" cy="3217037"/>
            </a:xfrm>
            <a:custGeom>
              <a:avLst/>
              <a:gdLst/>
              <a:ahLst/>
              <a:cxnLst/>
              <a:rect l="l" t="t" r="r" b="b"/>
              <a:pathLst>
                <a:path w="2191977" h="3217037">
                  <a:moveTo>
                    <a:pt x="204724" y="0"/>
                  </a:moveTo>
                  <a:moveTo>
                    <a:pt x="204724" y="0"/>
                  </a:moveTo>
                  <a:lnTo>
                    <a:pt x="1987252" y="0"/>
                  </a:lnTo>
                  <a:quadBezTo>
                    <a:pt x="2191977" y="0"/>
                    <a:pt x="2191977" y="220827"/>
                  </a:quadBezTo>
                  <a:lnTo>
                    <a:pt x="2191977" y="2996210"/>
                  </a:lnTo>
                  <a:quadBezTo>
                    <a:pt x="2191977" y="3217037"/>
                    <a:pt x="1987252" y="3217037"/>
                  </a:quadBezTo>
                  <a:lnTo>
                    <a:pt x="204724" y="3217037"/>
                  </a:lnTo>
                  <a:quadBezTo>
                    <a:pt x="0" y="3217037"/>
                    <a:pt x="0" y="2996210"/>
                  </a:quadBezTo>
                  <a:lnTo>
                    <a:pt x="0" y="220827"/>
                  </a:lnTo>
                  <a:quadBezTo>
                    <a:pt x="0" y="0"/>
                    <a:pt x="204724" y="0"/>
                  </a:quad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9525">
              <a:solidFill>
                <a:srgbClr val="003F91"/>
              </a:solidFill>
              <a:prstDash val="solid"/>
            </a:ln>
          </p:spPr>
          <p:txBody>
            <a:bodyPr/>
            <a:lstStyle/>
            <a:p>
              <a:endParaRPr lang="en-US" altLang="zh-CN" sz="1600" b="1" dirty="0"/>
            </a:p>
            <a:p>
              <a:endParaRPr lang="en-US" altLang="zh-CN" sz="1600" b="1" dirty="0"/>
            </a:p>
            <a:p>
              <a:r>
                <a:rPr lang="zh-CN" altLang="en-US" sz="1600" b="1" dirty="0"/>
                <a:t>控制流设计</a:t>
              </a:r>
              <a:r>
                <a:rPr lang="zh-CN" altLang="en-US" sz="1600" dirty="0"/>
                <a:t>：</a:t>
              </a:r>
            </a:p>
            <a:p>
              <a:r>
                <a:rPr lang="zh-CN" altLang="en-US" sz="1600" dirty="0"/>
                <a:t>控制逻辑由系统调度模块负责，包括定时抓包、异常判断触发防御、仿真任务启动与管理。</a:t>
              </a:r>
            </a:p>
            <a:p>
              <a:r>
                <a:rPr lang="zh-CN" altLang="en-US" sz="1600" dirty="0"/>
                <a:t>各模块之间通过消息队列或</a:t>
              </a:r>
              <a:r>
                <a:rPr lang="en-US" altLang="zh-CN" sz="1600" dirty="0"/>
                <a:t>API</a:t>
              </a:r>
              <a:r>
                <a:rPr lang="zh-CN" altLang="en-US" sz="1600" dirty="0"/>
                <a:t>接口进行通信，保证模块解耦和响应及时性。</a:t>
              </a:r>
            </a:p>
            <a:p>
              <a:endParaRPr lang="zh-CN" altLang="en-US" sz="1600" dirty="0"/>
            </a:p>
          </p:txBody>
        </p:sp>
        <p:sp>
          <p:nvSpPr>
            <p:cNvPr id="26" name="Shape 9">
              <a:extLst>
                <a:ext uri="{FF2B5EF4-FFF2-40B4-BE49-F238E27FC236}">
                  <a16:creationId xmlns:a16="http://schemas.microsoft.com/office/drawing/2014/main" id="{616D547E-74DC-2D29-10D3-5343D568572B}"/>
                </a:ext>
              </a:extLst>
            </p:cNvPr>
            <p:cNvSpPr/>
            <p:nvPr/>
          </p:nvSpPr>
          <p:spPr>
            <a:xfrm rot="5400000">
              <a:off x="6622621" y="2366936"/>
              <a:ext cx="423666" cy="220184"/>
            </a:xfrm>
            <a:custGeom>
              <a:avLst/>
              <a:gdLst/>
              <a:ahLst/>
              <a:cxnLst/>
              <a:rect l="l" t="t" r="r" b="b"/>
              <a:pathLst>
                <a:path w="423666" h="220184">
                  <a:moveTo>
                    <a:pt x="110092" y="0"/>
                  </a:moveTo>
                  <a:moveTo>
                    <a:pt x="110092" y="0"/>
                  </a:moveTo>
                  <a:lnTo>
                    <a:pt x="313574" y="0"/>
                  </a:lnTo>
                  <a:quadBezTo>
                    <a:pt x="423666" y="0"/>
                    <a:pt x="423666" y="110092"/>
                  </a:quadBezTo>
                  <a:lnTo>
                    <a:pt x="423666" y="110092"/>
                  </a:lnTo>
                  <a:quadBezTo>
                    <a:pt x="423666" y="220184"/>
                    <a:pt x="313574" y="220184"/>
                  </a:quadBezTo>
                  <a:lnTo>
                    <a:pt x="110092" y="220184"/>
                  </a:lnTo>
                  <a:quadBezTo>
                    <a:pt x="0" y="220184"/>
                    <a:pt x="0" y="110092"/>
                  </a:quadBezTo>
                  <a:lnTo>
                    <a:pt x="0" y="110092"/>
                  </a:lnTo>
                  <a:quadBezTo>
                    <a:pt x="0" y="0"/>
                    <a:pt x="110092" y="0"/>
                  </a:quadBezTo>
                  <a:close/>
                </a:path>
              </a:pathLst>
            </a:custGeom>
            <a:solidFill>
              <a:srgbClr val="0075F0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Shape 10">
              <a:extLst>
                <a:ext uri="{FF2B5EF4-FFF2-40B4-BE49-F238E27FC236}">
                  <a16:creationId xmlns:a16="http://schemas.microsoft.com/office/drawing/2014/main" id="{458EAF95-2504-71EB-5031-EDC2895CFE5C}"/>
                </a:ext>
              </a:extLst>
            </p:cNvPr>
            <p:cNvSpPr/>
            <p:nvPr/>
          </p:nvSpPr>
          <p:spPr>
            <a:xfrm>
              <a:off x="6725469" y="2200924"/>
              <a:ext cx="1095138" cy="367710"/>
            </a:xfrm>
            <a:custGeom>
              <a:avLst/>
              <a:gdLst/>
              <a:ahLst/>
              <a:cxnLst/>
              <a:rect l="l" t="t" r="r" b="b"/>
              <a:pathLst>
                <a:path w="1095138" h="367710">
                  <a:moveTo>
                    <a:pt x="183855" y="0"/>
                  </a:moveTo>
                  <a:moveTo>
                    <a:pt x="183855" y="0"/>
                  </a:moveTo>
                  <a:lnTo>
                    <a:pt x="911282" y="0"/>
                  </a:lnTo>
                  <a:quadBezTo>
                    <a:pt x="1095138" y="0"/>
                    <a:pt x="1095138" y="183855"/>
                  </a:quadBezTo>
                  <a:lnTo>
                    <a:pt x="1095138" y="183855"/>
                  </a:lnTo>
                  <a:quadBezTo>
                    <a:pt x="1095138" y="367710"/>
                    <a:pt x="911282" y="367710"/>
                  </a:quadBezTo>
                  <a:lnTo>
                    <a:pt x="183855" y="367710"/>
                  </a:lnTo>
                  <a:quadBezTo>
                    <a:pt x="0" y="367710"/>
                    <a:pt x="0" y="183855"/>
                  </a:quadBezTo>
                  <a:lnTo>
                    <a:pt x="0" y="183855"/>
                  </a:lnTo>
                  <a:quadBezTo>
                    <a:pt x="0" y="0"/>
                    <a:pt x="183855" y="0"/>
                  </a:quadBezTo>
                  <a:close/>
                </a:path>
              </a:pathLst>
            </a:custGeom>
            <a:solidFill>
              <a:srgbClr val="0084FF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 11">
              <a:extLst>
                <a:ext uri="{FF2B5EF4-FFF2-40B4-BE49-F238E27FC236}">
                  <a16:creationId xmlns:a16="http://schemas.microsoft.com/office/drawing/2014/main" id="{715D3F1E-A669-BA15-D26A-9A5982C5F41A}"/>
                </a:ext>
              </a:extLst>
            </p:cNvPr>
            <p:cNvSpPr/>
            <p:nvPr/>
          </p:nvSpPr>
          <p:spPr>
            <a:xfrm>
              <a:off x="6941910" y="2087599"/>
              <a:ext cx="878697" cy="540148"/>
            </a:xfrm>
            <a:prstGeom prst="rect">
              <a:avLst/>
            </a:prstGeom>
            <a:noFill/>
          </p:spPr>
          <p:txBody>
            <a:bodyPr wrap="square" lIns="95250" tIns="95250" rIns="95250" bIns="95250" rtlCol="0" anchor="t">
              <a:spAutoFit/>
            </a:bodyPr>
            <a:lstStyle/>
            <a:p>
              <a:pPr marL="0" indent="0">
                <a:lnSpc>
                  <a:spcPct val="113000"/>
                </a:lnSpc>
                <a:spcBef>
                  <a:spcPts val="375"/>
                </a:spcBef>
                <a:buNone/>
              </a:pPr>
              <a:r>
                <a:rPr lang="en-US" sz="216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03</a:t>
              </a:r>
              <a:endParaRPr lang="en-US" sz="1440" dirty="0"/>
            </a:p>
          </p:txBody>
        </p:sp>
      </p:grp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DA7BA6EA-FE65-6E34-7CA1-EC7BC226EDAF}"/>
              </a:ext>
            </a:extLst>
          </p:cNvPr>
          <p:cNvGrpSpPr/>
          <p:nvPr/>
        </p:nvGrpSpPr>
        <p:grpSpPr>
          <a:xfrm>
            <a:off x="1108364" y="1991997"/>
            <a:ext cx="3343297" cy="3761309"/>
            <a:chOff x="1670299" y="2087551"/>
            <a:chExt cx="2409526" cy="3217098"/>
          </a:xfrm>
        </p:grpSpPr>
        <p:sp>
          <p:nvSpPr>
            <p:cNvPr id="144" name="Shape 2">
              <a:extLst>
                <a:ext uri="{FF2B5EF4-FFF2-40B4-BE49-F238E27FC236}">
                  <a16:creationId xmlns:a16="http://schemas.microsoft.com/office/drawing/2014/main" id="{08B8822D-8D15-E61C-37C6-A489384E46B1}"/>
                </a:ext>
              </a:extLst>
            </p:cNvPr>
            <p:cNvSpPr/>
            <p:nvPr/>
          </p:nvSpPr>
          <p:spPr>
            <a:xfrm>
              <a:off x="1887848" y="2087612"/>
              <a:ext cx="2191977" cy="3217037"/>
            </a:xfrm>
            <a:custGeom>
              <a:avLst/>
              <a:gdLst/>
              <a:ahLst/>
              <a:cxnLst/>
              <a:rect l="l" t="t" r="r" b="b"/>
              <a:pathLst>
                <a:path w="2191977" h="3217037">
                  <a:moveTo>
                    <a:pt x="204724" y="0"/>
                  </a:moveTo>
                  <a:moveTo>
                    <a:pt x="204724" y="0"/>
                  </a:moveTo>
                  <a:lnTo>
                    <a:pt x="1987252" y="0"/>
                  </a:lnTo>
                  <a:quadBezTo>
                    <a:pt x="2191977" y="0"/>
                    <a:pt x="2191977" y="220827"/>
                  </a:quadBezTo>
                  <a:lnTo>
                    <a:pt x="2191977" y="2996210"/>
                  </a:lnTo>
                  <a:quadBezTo>
                    <a:pt x="2191977" y="3217037"/>
                    <a:pt x="1987252" y="3217037"/>
                  </a:quadBezTo>
                  <a:lnTo>
                    <a:pt x="204724" y="3217037"/>
                  </a:lnTo>
                  <a:quadBezTo>
                    <a:pt x="0" y="3217037"/>
                    <a:pt x="0" y="2996210"/>
                  </a:quadBezTo>
                  <a:lnTo>
                    <a:pt x="0" y="220827"/>
                  </a:lnTo>
                  <a:quadBezTo>
                    <a:pt x="0" y="0"/>
                    <a:pt x="204724" y="0"/>
                  </a:quad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9525">
              <a:solidFill>
                <a:srgbClr val="003F91"/>
              </a:solidFill>
              <a:prstDash val="solid"/>
            </a:ln>
          </p:spPr>
          <p:txBody>
            <a:bodyPr/>
            <a:lstStyle/>
            <a:p>
              <a:endParaRPr lang="en-US" altLang="zh-CN" sz="1600" b="1" dirty="0"/>
            </a:p>
            <a:p>
              <a:endParaRPr lang="zh-CN" altLang="en-US" sz="1600" dirty="0"/>
            </a:p>
            <a:p>
              <a:r>
                <a:rPr lang="zh-CN" altLang="en-US" sz="1600" b="1" dirty="0"/>
                <a:t>流量采集模块</a:t>
              </a:r>
              <a:r>
                <a:rPr lang="zh-CN" altLang="en-US" sz="1600" dirty="0"/>
                <a:t>：负责网络抓包与初步解析，将数据交给分析模块。</a:t>
              </a:r>
            </a:p>
            <a:p>
              <a:r>
                <a:rPr lang="zh-CN" altLang="en-US" sz="1600" b="1" dirty="0"/>
                <a:t>异常分析模块</a:t>
              </a:r>
              <a:r>
                <a:rPr lang="zh-CN" altLang="en-US" sz="1600" dirty="0"/>
                <a:t>：核心逻辑模块，包括特征提取、模型判断和异常检测。</a:t>
              </a:r>
            </a:p>
            <a:p>
              <a:r>
                <a:rPr lang="zh-CN" altLang="en-US" sz="1600" b="1" dirty="0"/>
                <a:t>防御模块</a:t>
              </a:r>
              <a:r>
                <a:rPr lang="zh-CN" altLang="en-US" sz="1600" dirty="0"/>
                <a:t>：根据分析结果执行防御策略，可与防火墙或网络控制器联动。</a:t>
              </a:r>
            </a:p>
            <a:p>
              <a:r>
                <a:rPr lang="zh-CN" altLang="en-US" sz="1600" b="1" dirty="0"/>
                <a:t>仿真回连模块</a:t>
              </a:r>
              <a:r>
                <a:rPr lang="zh-CN" altLang="en-US" sz="1600" dirty="0"/>
                <a:t>：模拟攻击者回连行为，用于验证系统检测和防御效果。</a:t>
              </a:r>
            </a:p>
            <a:p>
              <a:r>
                <a:rPr lang="zh-CN" altLang="en-US" sz="1600" b="1" dirty="0"/>
                <a:t>可视化与管理模块</a:t>
              </a:r>
              <a:r>
                <a:rPr lang="zh-CN" altLang="en-US" sz="1600" dirty="0"/>
                <a:t>：提供数据展示、告警信息和系统管理界面</a:t>
              </a:r>
            </a:p>
            <a:p>
              <a:endParaRPr lang="zh-CN" altLang="en-US" sz="1600" dirty="0"/>
            </a:p>
          </p:txBody>
        </p:sp>
        <p:sp>
          <p:nvSpPr>
            <p:cNvPr id="145" name="Shape 3">
              <a:extLst>
                <a:ext uri="{FF2B5EF4-FFF2-40B4-BE49-F238E27FC236}">
                  <a16:creationId xmlns:a16="http://schemas.microsoft.com/office/drawing/2014/main" id="{0B25CF20-6B85-DDA0-64CD-0BAE4BF20DB5}"/>
                </a:ext>
              </a:extLst>
            </p:cNvPr>
            <p:cNvSpPr/>
            <p:nvPr/>
          </p:nvSpPr>
          <p:spPr>
            <a:xfrm rot="5400000">
              <a:off x="1568558" y="2366888"/>
              <a:ext cx="423666" cy="220184"/>
            </a:xfrm>
            <a:custGeom>
              <a:avLst/>
              <a:gdLst/>
              <a:ahLst/>
              <a:cxnLst/>
              <a:rect l="l" t="t" r="r" b="b"/>
              <a:pathLst>
                <a:path w="423666" h="220184">
                  <a:moveTo>
                    <a:pt x="110092" y="0"/>
                  </a:moveTo>
                  <a:moveTo>
                    <a:pt x="110092" y="0"/>
                  </a:moveTo>
                  <a:lnTo>
                    <a:pt x="313574" y="0"/>
                  </a:lnTo>
                  <a:quadBezTo>
                    <a:pt x="423666" y="0"/>
                    <a:pt x="423666" y="110092"/>
                  </a:quadBezTo>
                  <a:lnTo>
                    <a:pt x="423666" y="110092"/>
                  </a:lnTo>
                  <a:quadBezTo>
                    <a:pt x="423666" y="220184"/>
                    <a:pt x="313574" y="220184"/>
                  </a:quadBezTo>
                  <a:lnTo>
                    <a:pt x="110092" y="220184"/>
                  </a:lnTo>
                  <a:quadBezTo>
                    <a:pt x="0" y="220184"/>
                    <a:pt x="0" y="110092"/>
                  </a:quadBezTo>
                  <a:lnTo>
                    <a:pt x="0" y="110092"/>
                  </a:lnTo>
                  <a:quadBezTo>
                    <a:pt x="0" y="0"/>
                    <a:pt x="110092" y="0"/>
                  </a:quadBezTo>
                  <a:close/>
                </a:path>
              </a:pathLst>
            </a:custGeom>
            <a:solidFill>
              <a:srgbClr val="0075F0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Shape 4">
              <a:extLst>
                <a:ext uri="{FF2B5EF4-FFF2-40B4-BE49-F238E27FC236}">
                  <a16:creationId xmlns:a16="http://schemas.microsoft.com/office/drawing/2014/main" id="{E761A924-E1F8-3BA0-0518-0F803F326C08}"/>
                </a:ext>
              </a:extLst>
            </p:cNvPr>
            <p:cNvSpPr/>
            <p:nvPr/>
          </p:nvSpPr>
          <p:spPr>
            <a:xfrm>
              <a:off x="1671407" y="2200876"/>
              <a:ext cx="1095138" cy="367710"/>
            </a:xfrm>
            <a:custGeom>
              <a:avLst/>
              <a:gdLst/>
              <a:ahLst/>
              <a:cxnLst/>
              <a:rect l="l" t="t" r="r" b="b"/>
              <a:pathLst>
                <a:path w="1095138" h="367710">
                  <a:moveTo>
                    <a:pt x="183855" y="0"/>
                  </a:moveTo>
                  <a:moveTo>
                    <a:pt x="183855" y="0"/>
                  </a:moveTo>
                  <a:lnTo>
                    <a:pt x="911282" y="0"/>
                  </a:lnTo>
                  <a:quadBezTo>
                    <a:pt x="1095138" y="0"/>
                    <a:pt x="1095138" y="183855"/>
                  </a:quadBezTo>
                  <a:lnTo>
                    <a:pt x="1095138" y="183855"/>
                  </a:lnTo>
                  <a:quadBezTo>
                    <a:pt x="1095138" y="367710"/>
                    <a:pt x="911282" y="367710"/>
                  </a:quadBezTo>
                  <a:lnTo>
                    <a:pt x="183855" y="367710"/>
                  </a:lnTo>
                  <a:quadBezTo>
                    <a:pt x="0" y="367710"/>
                    <a:pt x="0" y="183855"/>
                  </a:quadBezTo>
                  <a:lnTo>
                    <a:pt x="0" y="183855"/>
                  </a:lnTo>
                  <a:quadBezTo>
                    <a:pt x="0" y="0"/>
                    <a:pt x="183855" y="0"/>
                  </a:quadBezTo>
                  <a:close/>
                </a:path>
              </a:pathLst>
            </a:custGeom>
            <a:solidFill>
              <a:srgbClr val="0084FF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Text 5">
              <a:extLst>
                <a:ext uri="{FF2B5EF4-FFF2-40B4-BE49-F238E27FC236}">
                  <a16:creationId xmlns:a16="http://schemas.microsoft.com/office/drawing/2014/main" id="{1E5ED5C2-639C-C2B3-77E5-3AC1F4535F48}"/>
                </a:ext>
              </a:extLst>
            </p:cNvPr>
            <p:cNvSpPr/>
            <p:nvPr/>
          </p:nvSpPr>
          <p:spPr>
            <a:xfrm>
              <a:off x="1887848" y="2087551"/>
              <a:ext cx="878697" cy="540148"/>
            </a:xfrm>
            <a:prstGeom prst="rect">
              <a:avLst/>
            </a:prstGeom>
            <a:noFill/>
          </p:spPr>
          <p:txBody>
            <a:bodyPr wrap="square" lIns="95250" tIns="95250" rIns="95250" bIns="95250" rtlCol="0" anchor="t">
              <a:spAutoFit/>
            </a:bodyPr>
            <a:lstStyle/>
            <a:p>
              <a:pPr marL="0" indent="0">
                <a:lnSpc>
                  <a:spcPct val="113000"/>
                </a:lnSpc>
                <a:spcBef>
                  <a:spcPts val="375"/>
                </a:spcBef>
                <a:buNone/>
              </a:pPr>
              <a:r>
                <a:rPr lang="en-US" sz="216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01</a:t>
              </a:r>
              <a:endParaRPr lang="en-US" sz="1440" dirty="0"/>
            </a:p>
          </p:txBody>
        </p:sp>
      </p:grpSp>
      <p:grpSp>
        <p:nvGrpSpPr>
          <p:cNvPr id="148" name="组合 147">
            <a:extLst>
              <a:ext uri="{FF2B5EF4-FFF2-40B4-BE49-F238E27FC236}">
                <a16:creationId xmlns:a16="http://schemas.microsoft.com/office/drawing/2014/main" id="{390D249F-D069-C98C-D18F-9D365589F819}"/>
              </a:ext>
            </a:extLst>
          </p:cNvPr>
          <p:cNvGrpSpPr/>
          <p:nvPr/>
        </p:nvGrpSpPr>
        <p:grpSpPr>
          <a:xfrm>
            <a:off x="4542873" y="1991807"/>
            <a:ext cx="3343016" cy="3761641"/>
            <a:chOff x="5039673" y="2092415"/>
            <a:chExt cx="2409323" cy="3217382"/>
          </a:xfrm>
        </p:grpSpPr>
        <p:sp>
          <p:nvSpPr>
            <p:cNvPr id="149" name="Shape 14">
              <a:extLst>
                <a:ext uri="{FF2B5EF4-FFF2-40B4-BE49-F238E27FC236}">
                  <a16:creationId xmlns:a16="http://schemas.microsoft.com/office/drawing/2014/main" id="{D2C55C0C-0E6A-3F30-9F16-326E2D397F30}"/>
                </a:ext>
              </a:extLst>
            </p:cNvPr>
            <p:cNvSpPr/>
            <p:nvPr/>
          </p:nvSpPr>
          <p:spPr>
            <a:xfrm>
              <a:off x="5257179" y="2092415"/>
              <a:ext cx="2191817" cy="3217382"/>
            </a:xfrm>
            <a:custGeom>
              <a:avLst/>
              <a:gdLst/>
              <a:ahLst/>
              <a:cxnLst/>
              <a:rect l="l" t="t" r="r" b="b"/>
              <a:pathLst>
                <a:path w="2191817" h="3217382">
                  <a:moveTo>
                    <a:pt x="204709" y="0"/>
                  </a:moveTo>
                  <a:moveTo>
                    <a:pt x="204709" y="0"/>
                  </a:moveTo>
                  <a:lnTo>
                    <a:pt x="1987108" y="0"/>
                  </a:lnTo>
                  <a:quadBezTo>
                    <a:pt x="2191817" y="0"/>
                    <a:pt x="2191817" y="220811"/>
                  </a:quadBezTo>
                  <a:lnTo>
                    <a:pt x="2191817" y="2996571"/>
                  </a:lnTo>
                  <a:quadBezTo>
                    <a:pt x="2191817" y="3217382"/>
                    <a:pt x="1987108" y="3217382"/>
                  </a:quadBezTo>
                  <a:lnTo>
                    <a:pt x="204709" y="3217382"/>
                  </a:lnTo>
                  <a:quadBezTo>
                    <a:pt x="0" y="3217382"/>
                    <a:pt x="0" y="2996571"/>
                  </a:quadBezTo>
                  <a:lnTo>
                    <a:pt x="0" y="220811"/>
                  </a:lnTo>
                  <a:quadBezTo>
                    <a:pt x="0" y="0"/>
                    <a:pt x="204709" y="0"/>
                  </a:quad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9525">
              <a:solidFill>
                <a:srgbClr val="003F91"/>
              </a:solidFill>
              <a:prstDash val="solid"/>
            </a:ln>
          </p:spPr>
          <p:txBody>
            <a:bodyPr/>
            <a:lstStyle/>
            <a:p>
              <a:endParaRPr lang="en-US" altLang="zh-CN" sz="1600" b="1" dirty="0"/>
            </a:p>
            <a:p>
              <a:endParaRPr lang="en-US" altLang="zh-CN" sz="1600" b="1" dirty="0"/>
            </a:p>
            <a:p>
              <a:r>
                <a:rPr lang="zh-CN" altLang="en-US" sz="1600" b="1" dirty="0"/>
                <a:t>数据流设计</a:t>
              </a:r>
              <a:r>
                <a:rPr lang="zh-CN" altLang="en-US" sz="1600" dirty="0"/>
                <a:t>：</a:t>
              </a:r>
            </a:p>
            <a:p>
              <a:r>
                <a:rPr lang="zh-CN" altLang="en-US" sz="1600" dirty="0"/>
                <a:t>数据从“流量采集模块”输入 → 传递到“异常分析模块” → 若发现异常 → 触发“防御模块”处理，同时数据反馈至“可视化模块”展示。</a:t>
              </a:r>
            </a:p>
            <a:p>
              <a:r>
                <a:rPr lang="zh-CN" altLang="en-US" sz="1600" dirty="0"/>
                <a:t>仿真回连模块可生成数据流，经过“异常分析模块”验证防御效果，形成闭环测试。</a:t>
              </a:r>
            </a:p>
            <a:p>
              <a:endParaRPr lang="zh-CN" altLang="en-US" sz="1600" dirty="0"/>
            </a:p>
          </p:txBody>
        </p:sp>
        <p:sp>
          <p:nvSpPr>
            <p:cNvPr id="150" name="Shape 17">
              <a:extLst>
                <a:ext uri="{FF2B5EF4-FFF2-40B4-BE49-F238E27FC236}">
                  <a16:creationId xmlns:a16="http://schemas.microsoft.com/office/drawing/2014/main" id="{7522EB17-5B58-2285-C9B3-5BE3361569F5}"/>
                </a:ext>
              </a:extLst>
            </p:cNvPr>
            <p:cNvSpPr/>
            <p:nvPr/>
          </p:nvSpPr>
          <p:spPr>
            <a:xfrm rot="5400000">
              <a:off x="4937932" y="2371864"/>
              <a:ext cx="423666" cy="220184"/>
            </a:xfrm>
            <a:custGeom>
              <a:avLst/>
              <a:gdLst/>
              <a:ahLst/>
              <a:cxnLst/>
              <a:rect l="l" t="t" r="r" b="b"/>
              <a:pathLst>
                <a:path w="423666" h="220184">
                  <a:moveTo>
                    <a:pt x="110092" y="0"/>
                  </a:moveTo>
                  <a:moveTo>
                    <a:pt x="110092" y="0"/>
                  </a:moveTo>
                  <a:lnTo>
                    <a:pt x="313574" y="0"/>
                  </a:lnTo>
                  <a:quadBezTo>
                    <a:pt x="423666" y="0"/>
                    <a:pt x="423666" y="110092"/>
                  </a:quadBezTo>
                  <a:lnTo>
                    <a:pt x="423666" y="110092"/>
                  </a:lnTo>
                  <a:quadBezTo>
                    <a:pt x="423666" y="220184"/>
                    <a:pt x="313574" y="220184"/>
                  </a:quadBezTo>
                  <a:lnTo>
                    <a:pt x="110092" y="220184"/>
                  </a:lnTo>
                  <a:quadBezTo>
                    <a:pt x="0" y="220184"/>
                    <a:pt x="0" y="110092"/>
                  </a:quadBezTo>
                  <a:lnTo>
                    <a:pt x="0" y="110092"/>
                  </a:lnTo>
                  <a:quadBezTo>
                    <a:pt x="0" y="0"/>
                    <a:pt x="110092" y="0"/>
                  </a:quadBezTo>
                  <a:close/>
                </a:path>
              </a:pathLst>
            </a:custGeom>
            <a:solidFill>
              <a:srgbClr val="4287F0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Shape 18">
              <a:extLst>
                <a:ext uri="{FF2B5EF4-FFF2-40B4-BE49-F238E27FC236}">
                  <a16:creationId xmlns:a16="http://schemas.microsoft.com/office/drawing/2014/main" id="{143D5467-7167-11FA-5544-A8E122F3D3EA}"/>
                </a:ext>
              </a:extLst>
            </p:cNvPr>
            <p:cNvSpPr/>
            <p:nvPr/>
          </p:nvSpPr>
          <p:spPr>
            <a:xfrm>
              <a:off x="5040780" y="2205852"/>
              <a:ext cx="1095138" cy="367710"/>
            </a:xfrm>
            <a:custGeom>
              <a:avLst/>
              <a:gdLst/>
              <a:ahLst/>
              <a:cxnLst/>
              <a:rect l="l" t="t" r="r" b="b"/>
              <a:pathLst>
                <a:path w="1095138" h="367710">
                  <a:moveTo>
                    <a:pt x="183855" y="0"/>
                  </a:moveTo>
                  <a:moveTo>
                    <a:pt x="183855" y="0"/>
                  </a:moveTo>
                  <a:lnTo>
                    <a:pt x="911282" y="0"/>
                  </a:lnTo>
                  <a:quadBezTo>
                    <a:pt x="1095138" y="0"/>
                    <a:pt x="1095138" y="183855"/>
                  </a:quadBezTo>
                  <a:lnTo>
                    <a:pt x="1095138" y="183855"/>
                  </a:lnTo>
                  <a:quadBezTo>
                    <a:pt x="1095138" y="367710"/>
                    <a:pt x="911282" y="367710"/>
                  </a:quadBezTo>
                  <a:lnTo>
                    <a:pt x="183855" y="367710"/>
                  </a:lnTo>
                  <a:quadBezTo>
                    <a:pt x="0" y="367710"/>
                    <a:pt x="0" y="183855"/>
                  </a:quadBezTo>
                  <a:lnTo>
                    <a:pt x="0" y="183855"/>
                  </a:lnTo>
                  <a:quadBezTo>
                    <a:pt x="0" y="0"/>
                    <a:pt x="183855" y="0"/>
                  </a:quadBezTo>
                  <a:close/>
                </a:path>
              </a:pathLst>
            </a:custGeom>
            <a:solidFill>
              <a:srgbClr val="5196FF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Text 19">
              <a:extLst>
                <a:ext uri="{FF2B5EF4-FFF2-40B4-BE49-F238E27FC236}">
                  <a16:creationId xmlns:a16="http://schemas.microsoft.com/office/drawing/2014/main" id="{87628836-B479-BBB0-BA6C-9310D86F2A91}"/>
                </a:ext>
              </a:extLst>
            </p:cNvPr>
            <p:cNvSpPr/>
            <p:nvPr/>
          </p:nvSpPr>
          <p:spPr>
            <a:xfrm>
              <a:off x="5257179" y="2092527"/>
              <a:ext cx="878739" cy="540148"/>
            </a:xfrm>
            <a:prstGeom prst="rect">
              <a:avLst/>
            </a:prstGeom>
            <a:noFill/>
          </p:spPr>
          <p:txBody>
            <a:bodyPr wrap="square" lIns="95250" tIns="95250" rIns="95250" bIns="95250" rtlCol="0" anchor="t">
              <a:spAutoFit/>
            </a:bodyPr>
            <a:lstStyle/>
            <a:p>
              <a:pPr marL="0" indent="0">
                <a:lnSpc>
                  <a:spcPct val="113000"/>
                </a:lnSpc>
                <a:spcBef>
                  <a:spcPts val="375"/>
                </a:spcBef>
                <a:buNone/>
              </a:pPr>
              <a:r>
                <a:rPr lang="en-US" sz="216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02</a:t>
              </a:r>
              <a:endParaRPr lang="en-US" sz="1440" dirty="0"/>
            </a:p>
          </p:txBody>
        </p:sp>
      </p:grpSp>
    </p:spTree>
    <p:extLst>
      <p:ext uri="{BB962C8B-B14F-4D97-AF65-F5344CB8AC3E}">
        <p14:creationId xmlns:p14="http://schemas.microsoft.com/office/powerpoint/2010/main" val="4237751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44D37-613A-2434-2032-8C5F4AA92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164A4C-DA17-EB5C-3333-AD0C18397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498474"/>
            <a:ext cx="7960421" cy="539143"/>
          </a:xfrm>
        </p:spPr>
        <p:txBody>
          <a:bodyPr rtlCol="0">
            <a:normAutofit fontScale="90000"/>
          </a:bodyPr>
          <a:lstStyle/>
          <a:p>
            <a:r>
              <a:rPr lang="zh-CN" altLang="en-US" dirty="0"/>
              <a:t>受控回连仿真模块设计与实现</a:t>
            </a:r>
            <a:endParaRPr lang="zh-c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4C90587-833B-345C-288E-464AD1005B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0862" y="1037617"/>
            <a:ext cx="234230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沙箱环境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回连行为模拟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脚本任务下发与回传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713C979-FE79-8DFA-6553-C8697157EF67}"/>
              </a:ext>
            </a:extLst>
          </p:cNvPr>
          <p:cNvGrpSpPr/>
          <p:nvPr/>
        </p:nvGrpSpPr>
        <p:grpSpPr>
          <a:xfrm>
            <a:off x="7938268" y="1991829"/>
            <a:ext cx="3343296" cy="3761253"/>
            <a:chOff x="6724362" y="2087599"/>
            <a:chExt cx="2409525" cy="3217050"/>
          </a:xfrm>
        </p:grpSpPr>
        <p:sp>
          <p:nvSpPr>
            <p:cNvPr id="6" name="Shape 8">
              <a:extLst>
                <a:ext uri="{FF2B5EF4-FFF2-40B4-BE49-F238E27FC236}">
                  <a16:creationId xmlns:a16="http://schemas.microsoft.com/office/drawing/2014/main" id="{9A7CA108-A63B-EE70-7B53-F81E140FA70C}"/>
                </a:ext>
              </a:extLst>
            </p:cNvPr>
            <p:cNvSpPr/>
            <p:nvPr/>
          </p:nvSpPr>
          <p:spPr>
            <a:xfrm>
              <a:off x="6941910" y="2087612"/>
              <a:ext cx="2191977" cy="3217037"/>
            </a:xfrm>
            <a:custGeom>
              <a:avLst/>
              <a:gdLst/>
              <a:ahLst/>
              <a:cxnLst/>
              <a:rect l="l" t="t" r="r" b="b"/>
              <a:pathLst>
                <a:path w="2191977" h="3217037">
                  <a:moveTo>
                    <a:pt x="204724" y="0"/>
                  </a:moveTo>
                  <a:moveTo>
                    <a:pt x="204724" y="0"/>
                  </a:moveTo>
                  <a:lnTo>
                    <a:pt x="1987252" y="0"/>
                  </a:lnTo>
                  <a:quadBezTo>
                    <a:pt x="2191977" y="0"/>
                    <a:pt x="2191977" y="220827"/>
                  </a:quadBezTo>
                  <a:lnTo>
                    <a:pt x="2191977" y="2996210"/>
                  </a:lnTo>
                  <a:quadBezTo>
                    <a:pt x="2191977" y="3217037"/>
                    <a:pt x="1987252" y="3217037"/>
                  </a:quadBezTo>
                  <a:lnTo>
                    <a:pt x="204724" y="3217037"/>
                  </a:lnTo>
                  <a:quadBezTo>
                    <a:pt x="0" y="3217037"/>
                    <a:pt x="0" y="2996210"/>
                  </a:quadBezTo>
                  <a:lnTo>
                    <a:pt x="0" y="220827"/>
                  </a:lnTo>
                  <a:quadBezTo>
                    <a:pt x="0" y="0"/>
                    <a:pt x="204724" y="0"/>
                  </a:quad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9525">
              <a:solidFill>
                <a:srgbClr val="003F91"/>
              </a:solidFill>
              <a:prstDash val="solid"/>
            </a:ln>
          </p:spPr>
          <p:txBody>
            <a:bodyPr/>
            <a:lstStyle/>
            <a:p>
              <a:endParaRPr lang="en-US" altLang="zh-CN" sz="1600" b="1" dirty="0"/>
            </a:p>
            <a:p>
              <a:endParaRPr lang="en-US" altLang="zh-CN" sz="1600" b="1" dirty="0"/>
            </a:p>
            <a:p>
              <a:r>
                <a:rPr lang="zh-CN" altLang="en-US" sz="1600" b="1" dirty="0"/>
                <a:t>脚本任务下发与回传模块</a:t>
              </a:r>
            </a:p>
            <a:p>
              <a:r>
                <a:rPr lang="zh-CN" altLang="en-US" sz="1600" dirty="0"/>
                <a:t>用于模拟 </a:t>
              </a:r>
              <a:r>
                <a:rPr lang="en-US" altLang="zh-CN" sz="1600" dirty="0"/>
                <a:t>C2 </a:t>
              </a:r>
              <a:r>
                <a:rPr lang="zh-CN" altLang="en-US" sz="1600" dirty="0"/>
                <a:t>服务器向客户端下发指令，并接收回传结果。</a:t>
              </a:r>
            </a:p>
            <a:p>
              <a:r>
                <a:rPr lang="zh-CN" altLang="en-US" sz="1600" dirty="0"/>
                <a:t>通信方式支持：</a:t>
              </a:r>
            </a:p>
            <a:p>
              <a:r>
                <a:rPr lang="en-US" altLang="zh-CN" sz="1600" dirty="0"/>
                <a:t>HTTP POST </a:t>
              </a:r>
              <a:r>
                <a:rPr lang="zh-CN" altLang="en-US" sz="1600" dirty="0"/>
                <a:t>回传数据</a:t>
              </a:r>
            </a:p>
            <a:p>
              <a:r>
                <a:rPr lang="en-US" altLang="zh-CN" sz="1600" dirty="0"/>
                <a:t>WebSocket </a:t>
              </a:r>
              <a:r>
                <a:rPr lang="zh-CN" altLang="en-US" sz="1600" dirty="0"/>
                <a:t>双向通道</a:t>
              </a:r>
            </a:p>
            <a:p>
              <a:r>
                <a:rPr lang="zh-CN" altLang="en-US" sz="1600" dirty="0"/>
                <a:t>自定义二进制协议（可选）</a:t>
              </a:r>
            </a:p>
            <a:p>
              <a:endParaRPr lang="zh-CN" altLang="en-US" sz="1600" dirty="0"/>
            </a:p>
          </p:txBody>
        </p:sp>
        <p:sp>
          <p:nvSpPr>
            <p:cNvPr id="7" name="Shape 9">
              <a:extLst>
                <a:ext uri="{FF2B5EF4-FFF2-40B4-BE49-F238E27FC236}">
                  <a16:creationId xmlns:a16="http://schemas.microsoft.com/office/drawing/2014/main" id="{6266EEE9-E068-D63E-A517-40CC6E86E557}"/>
                </a:ext>
              </a:extLst>
            </p:cNvPr>
            <p:cNvSpPr/>
            <p:nvPr/>
          </p:nvSpPr>
          <p:spPr>
            <a:xfrm rot="5400000">
              <a:off x="6622621" y="2366936"/>
              <a:ext cx="423666" cy="220184"/>
            </a:xfrm>
            <a:custGeom>
              <a:avLst/>
              <a:gdLst/>
              <a:ahLst/>
              <a:cxnLst/>
              <a:rect l="l" t="t" r="r" b="b"/>
              <a:pathLst>
                <a:path w="423666" h="220184">
                  <a:moveTo>
                    <a:pt x="110092" y="0"/>
                  </a:moveTo>
                  <a:moveTo>
                    <a:pt x="110092" y="0"/>
                  </a:moveTo>
                  <a:lnTo>
                    <a:pt x="313574" y="0"/>
                  </a:lnTo>
                  <a:quadBezTo>
                    <a:pt x="423666" y="0"/>
                    <a:pt x="423666" y="110092"/>
                  </a:quadBezTo>
                  <a:lnTo>
                    <a:pt x="423666" y="110092"/>
                  </a:lnTo>
                  <a:quadBezTo>
                    <a:pt x="423666" y="220184"/>
                    <a:pt x="313574" y="220184"/>
                  </a:quadBezTo>
                  <a:lnTo>
                    <a:pt x="110092" y="220184"/>
                  </a:lnTo>
                  <a:quadBezTo>
                    <a:pt x="0" y="220184"/>
                    <a:pt x="0" y="110092"/>
                  </a:quadBezTo>
                  <a:lnTo>
                    <a:pt x="0" y="110092"/>
                  </a:lnTo>
                  <a:quadBezTo>
                    <a:pt x="0" y="0"/>
                    <a:pt x="110092" y="0"/>
                  </a:quadBezTo>
                  <a:close/>
                </a:path>
              </a:pathLst>
            </a:custGeom>
            <a:solidFill>
              <a:srgbClr val="0075F0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Shape 10">
              <a:extLst>
                <a:ext uri="{FF2B5EF4-FFF2-40B4-BE49-F238E27FC236}">
                  <a16:creationId xmlns:a16="http://schemas.microsoft.com/office/drawing/2014/main" id="{A4F542E6-3AA3-DC0D-3CA6-5B5B1C402F0F}"/>
                </a:ext>
              </a:extLst>
            </p:cNvPr>
            <p:cNvSpPr/>
            <p:nvPr/>
          </p:nvSpPr>
          <p:spPr>
            <a:xfrm>
              <a:off x="6725469" y="2200924"/>
              <a:ext cx="1095138" cy="367710"/>
            </a:xfrm>
            <a:custGeom>
              <a:avLst/>
              <a:gdLst/>
              <a:ahLst/>
              <a:cxnLst/>
              <a:rect l="l" t="t" r="r" b="b"/>
              <a:pathLst>
                <a:path w="1095138" h="367710">
                  <a:moveTo>
                    <a:pt x="183855" y="0"/>
                  </a:moveTo>
                  <a:moveTo>
                    <a:pt x="183855" y="0"/>
                  </a:moveTo>
                  <a:lnTo>
                    <a:pt x="911282" y="0"/>
                  </a:lnTo>
                  <a:quadBezTo>
                    <a:pt x="1095138" y="0"/>
                    <a:pt x="1095138" y="183855"/>
                  </a:quadBezTo>
                  <a:lnTo>
                    <a:pt x="1095138" y="183855"/>
                  </a:lnTo>
                  <a:quadBezTo>
                    <a:pt x="1095138" y="367710"/>
                    <a:pt x="911282" y="367710"/>
                  </a:quadBezTo>
                  <a:lnTo>
                    <a:pt x="183855" y="367710"/>
                  </a:lnTo>
                  <a:quadBezTo>
                    <a:pt x="0" y="367710"/>
                    <a:pt x="0" y="183855"/>
                  </a:quadBezTo>
                  <a:lnTo>
                    <a:pt x="0" y="183855"/>
                  </a:lnTo>
                  <a:quadBezTo>
                    <a:pt x="0" y="0"/>
                    <a:pt x="183855" y="0"/>
                  </a:quadBezTo>
                  <a:close/>
                </a:path>
              </a:pathLst>
            </a:custGeom>
            <a:solidFill>
              <a:srgbClr val="0084FF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 11">
              <a:extLst>
                <a:ext uri="{FF2B5EF4-FFF2-40B4-BE49-F238E27FC236}">
                  <a16:creationId xmlns:a16="http://schemas.microsoft.com/office/drawing/2014/main" id="{A1785210-3B10-95C9-107A-C357E42B8B6A}"/>
                </a:ext>
              </a:extLst>
            </p:cNvPr>
            <p:cNvSpPr/>
            <p:nvPr/>
          </p:nvSpPr>
          <p:spPr>
            <a:xfrm>
              <a:off x="6941910" y="2087599"/>
              <a:ext cx="878697" cy="540148"/>
            </a:xfrm>
            <a:prstGeom prst="rect">
              <a:avLst/>
            </a:prstGeom>
            <a:noFill/>
          </p:spPr>
          <p:txBody>
            <a:bodyPr wrap="square" lIns="95250" tIns="95250" rIns="95250" bIns="95250" rtlCol="0" anchor="t">
              <a:spAutoFit/>
            </a:bodyPr>
            <a:lstStyle/>
            <a:p>
              <a:pPr marL="0" indent="0">
                <a:lnSpc>
                  <a:spcPct val="113000"/>
                </a:lnSpc>
                <a:spcBef>
                  <a:spcPts val="375"/>
                </a:spcBef>
                <a:buNone/>
              </a:pPr>
              <a:r>
                <a:rPr lang="en-US" sz="216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03</a:t>
              </a:r>
              <a:endParaRPr lang="en-US" sz="1440" dirty="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3056B93-443F-F137-1E8A-56115DB97178}"/>
              </a:ext>
            </a:extLst>
          </p:cNvPr>
          <p:cNvGrpSpPr/>
          <p:nvPr/>
        </p:nvGrpSpPr>
        <p:grpSpPr>
          <a:xfrm>
            <a:off x="1108364" y="1991997"/>
            <a:ext cx="3343297" cy="3761309"/>
            <a:chOff x="1670299" y="2087551"/>
            <a:chExt cx="2409526" cy="3217098"/>
          </a:xfrm>
        </p:grpSpPr>
        <p:sp>
          <p:nvSpPr>
            <p:cNvPr id="11" name="Shape 2">
              <a:extLst>
                <a:ext uri="{FF2B5EF4-FFF2-40B4-BE49-F238E27FC236}">
                  <a16:creationId xmlns:a16="http://schemas.microsoft.com/office/drawing/2014/main" id="{4C22EF32-D2CC-D879-321A-5EB4076A9B2D}"/>
                </a:ext>
              </a:extLst>
            </p:cNvPr>
            <p:cNvSpPr/>
            <p:nvPr/>
          </p:nvSpPr>
          <p:spPr>
            <a:xfrm>
              <a:off x="1887848" y="2087612"/>
              <a:ext cx="2191977" cy="3217037"/>
            </a:xfrm>
            <a:custGeom>
              <a:avLst/>
              <a:gdLst/>
              <a:ahLst/>
              <a:cxnLst/>
              <a:rect l="l" t="t" r="r" b="b"/>
              <a:pathLst>
                <a:path w="2191977" h="3217037">
                  <a:moveTo>
                    <a:pt x="204724" y="0"/>
                  </a:moveTo>
                  <a:moveTo>
                    <a:pt x="204724" y="0"/>
                  </a:moveTo>
                  <a:lnTo>
                    <a:pt x="1987252" y="0"/>
                  </a:lnTo>
                  <a:quadBezTo>
                    <a:pt x="2191977" y="0"/>
                    <a:pt x="2191977" y="220827"/>
                  </a:quadBezTo>
                  <a:lnTo>
                    <a:pt x="2191977" y="2996210"/>
                  </a:lnTo>
                  <a:quadBezTo>
                    <a:pt x="2191977" y="3217037"/>
                    <a:pt x="1987252" y="3217037"/>
                  </a:quadBezTo>
                  <a:lnTo>
                    <a:pt x="204724" y="3217037"/>
                  </a:lnTo>
                  <a:quadBezTo>
                    <a:pt x="0" y="3217037"/>
                    <a:pt x="0" y="2996210"/>
                  </a:quadBezTo>
                  <a:lnTo>
                    <a:pt x="0" y="220827"/>
                  </a:lnTo>
                  <a:quadBezTo>
                    <a:pt x="0" y="0"/>
                    <a:pt x="204724" y="0"/>
                  </a:quad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9525">
              <a:solidFill>
                <a:srgbClr val="003F91"/>
              </a:solidFill>
              <a:prstDash val="solid"/>
            </a:ln>
          </p:spPr>
          <p:txBody>
            <a:bodyPr/>
            <a:lstStyle/>
            <a:p>
              <a:endParaRPr lang="en-US" altLang="zh-CN" sz="1600" b="1" dirty="0"/>
            </a:p>
            <a:p>
              <a:endParaRPr lang="en-US" altLang="zh-CN" sz="1600" b="1" dirty="0"/>
            </a:p>
            <a:p>
              <a:r>
                <a:rPr lang="zh-CN" altLang="en-US" sz="1600" b="1" dirty="0"/>
                <a:t>沙箱环境设计</a:t>
              </a:r>
            </a:p>
            <a:p>
              <a:r>
                <a:rPr lang="zh-CN" altLang="en-US" sz="1600" dirty="0"/>
                <a:t>沙箱环境用于隔离仿真回连行为，使得模拟攻击不会影响真实网络。</a:t>
              </a:r>
            </a:p>
            <a:p>
              <a:r>
                <a:rPr lang="zh-CN" altLang="en-US" sz="1600" dirty="0"/>
                <a:t>预置常见攻击脚本执行环境（</a:t>
              </a:r>
              <a:r>
                <a:rPr lang="en-US" altLang="zh-CN" sz="1600" dirty="0"/>
                <a:t>Python</a:t>
              </a:r>
              <a:r>
                <a:rPr lang="zh-CN" altLang="en-US" sz="1600" dirty="0"/>
                <a:t>、</a:t>
              </a:r>
              <a:r>
                <a:rPr lang="en-US" altLang="zh-CN" sz="1600" dirty="0"/>
                <a:t>bash</a:t>
              </a:r>
              <a:r>
                <a:rPr lang="zh-CN" altLang="en-US" sz="1600" dirty="0"/>
                <a:t>、</a:t>
              </a:r>
              <a:r>
                <a:rPr lang="en-US" altLang="zh-CN" sz="1600" dirty="0"/>
                <a:t>PowerShell </a:t>
              </a:r>
              <a:r>
                <a:rPr lang="zh-CN" altLang="en-US" sz="1600" dirty="0"/>
                <a:t>等）</a:t>
              </a:r>
            </a:p>
            <a:p>
              <a:r>
                <a:rPr lang="zh-CN" altLang="en-US" sz="1600" dirty="0"/>
                <a:t>支持自定义脚本任务执行</a:t>
              </a:r>
            </a:p>
            <a:p>
              <a:r>
                <a:rPr lang="zh-CN" altLang="en-US" sz="1600" dirty="0"/>
                <a:t>支持模拟真实客户端行为（如周期性心跳包、</a:t>
              </a:r>
              <a:r>
                <a:rPr lang="en-US" altLang="zh-CN" sz="1600" dirty="0"/>
                <a:t>HTTP/WS/TCP </a:t>
              </a:r>
              <a:r>
                <a:rPr lang="zh-CN" altLang="en-US" sz="1600" dirty="0"/>
                <a:t>回连）</a:t>
              </a:r>
            </a:p>
          </p:txBody>
        </p:sp>
        <p:sp>
          <p:nvSpPr>
            <p:cNvPr id="12" name="Shape 3">
              <a:extLst>
                <a:ext uri="{FF2B5EF4-FFF2-40B4-BE49-F238E27FC236}">
                  <a16:creationId xmlns:a16="http://schemas.microsoft.com/office/drawing/2014/main" id="{2D026A18-B905-D44C-3A20-E0F7772357FD}"/>
                </a:ext>
              </a:extLst>
            </p:cNvPr>
            <p:cNvSpPr/>
            <p:nvPr/>
          </p:nvSpPr>
          <p:spPr>
            <a:xfrm rot="5400000">
              <a:off x="1568558" y="2366888"/>
              <a:ext cx="423666" cy="220184"/>
            </a:xfrm>
            <a:custGeom>
              <a:avLst/>
              <a:gdLst/>
              <a:ahLst/>
              <a:cxnLst/>
              <a:rect l="l" t="t" r="r" b="b"/>
              <a:pathLst>
                <a:path w="423666" h="220184">
                  <a:moveTo>
                    <a:pt x="110092" y="0"/>
                  </a:moveTo>
                  <a:moveTo>
                    <a:pt x="110092" y="0"/>
                  </a:moveTo>
                  <a:lnTo>
                    <a:pt x="313574" y="0"/>
                  </a:lnTo>
                  <a:quadBezTo>
                    <a:pt x="423666" y="0"/>
                    <a:pt x="423666" y="110092"/>
                  </a:quadBezTo>
                  <a:lnTo>
                    <a:pt x="423666" y="110092"/>
                  </a:lnTo>
                  <a:quadBezTo>
                    <a:pt x="423666" y="220184"/>
                    <a:pt x="313574" y="220184"/>
                  </a:quadBezTo>
                  <a:lnTo>
                    <a:pt x="110092" y="220184"/>
                  </a:lnTo>
                  <a:quadBezTo>
                    <a:pt x="0" y="220184"/>
                    <a:pt x="0" y="110092"/>
                  </a:quadBezTo>
                  <a:lnTo>
                    <a:pt x="0" y="110092"/>
                  </a:lnTo>
                  <a:quadBezTo>
                    <a:pt x="0" y="0"/>
                    <a:pt x="110092" y="0"/>
                  </a:quadBezTo>
                  <a:close/>
                </a:path>
              </a:pathLst>
            </a:custGeom>
            <a:solidFill>
              <a:srgbClr val="0075F0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Shape 4">
              <a:extLst>
                <a:ext uri="{FF2B5EF4-FFF2-40B4-BE49-F238E27FC236}">
                  <a16:creationId xmlns:a16="http://schemas.microsoft.com/office/drawing/2014/main" id="{8C74B8A7-95FC-9F57-E8BF-851E6C2044B5}"/>
                </a:ext>
              </a:extLst>
            </p:cNvPr>
            <p:cNvSpPr/>
            <p:nvPr/>
          </p:nvSpPr>
          <p:spPr>
            <a:xfrm>
              <a:off x="1671407" y="2200876"/>
              <a:ext cx="1095138" cy="367710"/>
            </a:xfrm>
            <a:custGeom>
              <a:avLst/>
              <a:gdLst/>
              <a:ahLst/>
              <a:cxnLst/>
              <a:rect l="l" t="t" r="r" b="b"/>
              <a:pathLst>
                <a:path w="1095138" h="367710">
                  <a:moveTo>
                    <a:pt x="183855" y="0"/>
                  </a:moveTo>
                  <a:moveTo>
                    <a:pt x="183855" y="0"/>
                  </a:moveTo>
                  <a:lnTo>
                    <a:pt x="911282" y="0"/>
                  </a:lnTo>
                  <a:quadBezTo>
                    <a:pt x="1095138" y="0"/>
                    <a:pt x="1095138" y="183855"/>
                  </a:quadBezTo>
                  <a:lnTo>
                    <a:pt x="1095138" y="183855"/>
                  </a:lnTo>
                  <a:quadBezTo>
                    <a:pt x="1095138" y="367710"/>
                    <a:pt x="911282" y="367710"/>
                  </a:quadBezTo>
                  <a:lnTo>
                    <a:pt x="183855" y="367710"/>
                  </a:lnTo>
                  <a:quadBezTo>
                    <a:pt x="0" y="367710"/>
                    <a:pt x="0" y="183855"/>
                  </a:quadBezTo>
                  <a:lnTo>
                    <a:pt x="0" y="183855"/>
                  </a:lnTo>
                  <a:quadBezTo>
                    <a:pt x="0" y="0"/>
                    <a:pt x="183855" y="0"/>
                  </a:quadBezTo>
                  <a:close/>
                </a:path>
              </a:pathLst>
            </a:custGeom>
            <a:solidFill>
              <a:srgbClr val="0084FF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 5">
              <a:extLst>
                <a:ext uri="{FF2B5EF4-FFF2-40B4-BE49-F238E27FC236}">
                  <a16:creationId xmlns:a16="http://schemas.microsoft.com/office/drawing/2014/main" id="{16BF9AAE-4F2F-F182-8D70-B4C92726BA62}"/>
                </a:ext>
              </a:extLst>
            </p:cNvPr>
            <p:cNvSpPr/>
            <p:nvPr/>
          </p:nvSpPr>
          <p:spPr>
            <a:xfrm>
              <a:off x="1887848" y="2087551"/>
              <a:ext cx="878697" cy="540148"/>
            </a:xfrm>
            <a:prstGeom prst="rect">
              <a:avLst/>
            </a:prstGeom>
            <a:noFill/>
          </p:spPr>
          <p:txBody>
            <a:bodyPr wrap="square" lIns="95250" tIns="95250" rIns="95250" bIns="95250" rtlCol="0" anchor="t">
              <a:spAutoFit/>
            </a:bodyPr>
            <a:lstStyle/>
            <a:p>
              <a:pPr marL="0" indent="0">
                <a:lnSpc>
                  <a:spcPct val="113000"/>
                </a:lnSpc>
                <a:spcBef>
                  <a:spcPts val="375"/>
                </a:spcBef>
                <a:buNone/>
              </a:pPr>
              <a:r>
                <a:rPr lang="en-US" sz="216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01</a:t>
              </a:r>
              <a:endParaRPr lang="en-US" sz="1440" dirty="0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AECB517-EF19-7E22-E652-D25A9FD3BB76}"/>
              </a:ext>
            </a:extLst>
          </p:cNvPr>
          <p:cNvGrpSpPr/>
          <p:nvPr/>
        </p:nvGrpSpPr>
        <p:grpSpPr>
          <a:xfrm>
            <a:off x="4542873" y="1991807"/>
            <a:ext cx="3343016" cy="3761641"/>
            <a:chOff x="5039673" y="2092415"/>
            <a:chExt cx="2409323" cy="3217382"/>
          </a:xfrm>
        </p:grpSpPr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3E716216-A040-13AA-D23B-E90B006865C0}"/>
                </a:ext>
              </a:extLst>
            </p:cNvPr>
            <p:cNvSpPr/>
            <p:nvPr/>
          </p:nvSpPr>
          <p:spPr>
            <a:xfrm>
              <a:off x="5257179" y="2092415"/>
              <a:ext cx="2191817" cy="3217382"/>
            </a:xfrm>
            <a:custGeom>
              <a:avLst/>
              <a:gdLst/>
              <a:ahLst/>
              <a:cxnLst/>
              <a:rect l="l" t="t" r="r" b="b"/>
              <a:pathLst>
                <a:path w="2191817" h="3217382">
                  <a:moveTo>
                    <a:pt x="204709" y="0"/>
                  </a:moveTo>
                  <a:moveTo>
                    <a:pt x="204709" y="0"/>
                  </a:moveTo>
                  <a:lnTo>
                    <a:pt x="1987108" y="0"/>
                  </a:lnTo>
                  <a:quadBezTo>
                    <a:pt x="2191817" y="0"/>
                    <a:pt x="2191817" y="220811"/>
                  </a:quadBezTo>
                  <a:lnTo>
                    <a:pt x="2191817" y="2996571"/>
                  </a:lnTo>
                  <a:quadBezTo>
                    <a:pt x="2191817" y="3217382"/>
                    <a:pt x="1987108" y="3217382"/>
                  </a:quadBezTo>
                  <a:lnTo>
                    <a:pt x="204709" y="3217382"/>
                  </a:lnTo>
                  <a:quadBezTo>
                    <a:pt x="0" y="3217382"/>
                    <a:pt x="0" y="2996571"/>
                  </a:quadBezTo>
                  <a:lnTo>
                    <a:pt x="0" y="220811"/>
                  </a:lnTo>
                  <a:quadBezTo>
                    <a:pt x="0" y="0"/>
                    <a:pt x="204709" y="0"/>
                  </a:quad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9525">
              <a:solidFill>
                <a:srgbClr val="003F91"/>
              </a:solidFill>
              <a:prstDash val="solid"/>
            </a:ln>
          </p:spPr>
          <p:txBody>
            <a:bodyPr/>
            <a:lstStyle/>
            <a:p>
              <a:endParaRPr lang="en-US" altLang="zh-CN" sz="1600" b="1" dirty="0"/>
            </a:p>
            <a:p>
              <a:endParaRPr lang="en-US" altLang="zh-CN" sz="1600" b="1" dirty="0"/>
            </a:p>
            <a:p>
              <a:r>
                <a:rPr lang="zh-CN" altLang="en-US" sz="1600" b="1" dirty="0"/>
                <a:t>回连行为模拟设计</a:t>
              </a:r>
            </a:p>
            <a:p>
              <a:r>
                <a:rPr lang="zh-CN" altLang="en-US" sz="1600" dirty="0"/>
                <a:t>该模块用于模拟恶意程序常见的远程回连行为，使检测系统能够识别异常模式。</a:t>
              </a:r>
            </a:p>
            <a:p>
              <a:r>
                <a:rPr lang="zh-CN" altLang="en-US" sz="1600" dirty="0"/>
                <a:t>目标是让检测系统捕捉到 </a:t>
              </a:r>
              <a:r>
                <a:rPr lang="zh-CN" altLang="en-US" sz="1600" b="1" dirty="0"/>
                <a:t>主动外连、周期性行为、异常端口访问、指令通信等特征</a:t>
              </a:r>
              <a:r>
                <a:rPr lang="zh-CN" altLang="en-US" sz="1600" dirty="0"/>
                <a:t>。</a:t>
              </a:r>
            </a:p>
            <a:p>
              <a:endParaRPr lang="zh-CN" altLang="en-US" sz="1600" dirty="0"/>
            </a:p>
          </p:txBody>
        </p:sp>
        <p:sp>
          <p:nvSpPr>
            <p:cNvPr id="17" name="Shape 17">
              <a:extLst>
                <a:ext uri="{FF2B5EF4-FFF2-40B4-BE49-F238E27FC236}">
                  <a16:creationId xmlns:a16="http://schemas.microsoft.com/office/drawing/2014/main" id="{A28A3321-BBFE-642E-745B-A421F44178C7}"/>
                </a:ext>
              </a:extLst>
            </p:cNvPr>
            <p:cNvSpPr/>
            <p:nvPr/>
          </p:nvSpPr>
          <p:spPr>
            <a:xfrm rot="5400000">
              <a:off x="4937932" y="2371864"/>
              <a:ext cx="423666" cy="220184"/>
            </a:xfrm>
            <a:custGeom>
              <a:avLst/>
              <a:gdLst/>
              <a:ahLst/>
              <a:cxnLst/>
              <a:rect l="l" t="t" r="r" b="b"/>
              <a:pathLst>
                <a:path w="423666" h="220184">
                  <a:moveTo>
                    <a:pt x="110092" y="0"/>
                  </a:moveTo>
                  <a:moveTo>
                    <a:pt x="110092" y="0"/>
                  </a:moveTo>
                  <a:lnTo>
                    <a:pt x="313574" y="0"/>
                  </a:lnTo>
                  <a:quadBezTo>
                    <a:pt x="423666" y="0"/>
                    <a:pt x="423666" y="110092"/>
                  </a:quadBezTo>
                  <a:lnTo>
                    <a:pt x="423666" y="110092"/>
                  </a:lnTo>
                  <a:quadBezTo>
                    <a:pt x="423666" y="220184"/>
                    <a:pt x="313574" y="220184"/>
                  </a:quadBezTo>
                  <a:lnTo>
                    <a:pt x="110092" y="220184"/>
                  </a:lnTo>
                  <a:quadBezTo>
                    <a:pt x="0" y="220184"/>
                    <a:pt x="0" y="110092"/>
                  </a:quadBezTo>
                  <a:lnTo>
                    <a:pt x="0" y="110092"/>
                  </a:lnTo>
                  <a:quadBezTo>
                    <a:pt x="0" y="0"/>
                    <a:pt x="110092" y="0"/>
                  </a:quadBezTo>
                  <a:close/>
                </a:path>
              </a:pathLst>
            </a:custGeom>
            <a:solidFill>
              <a:srgbClr val="4287F0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Shape 18">
              <a:extLst>
                <a:ext uri="{FF2B5EF4-FFF2-40B4-BE49-F238E27FC236}">
                  <a16:creationId xmlns:a16="http://schemas.microsoft.com/office/drawing/2014/main" id="{26F48094-F2E1-B08C-EE28-43D4CCF49C05}"/>
                </a:ext>
              </a:extLst>
            </p:cNvPr>
            <p:cNvSpPr/>
            <p:nvPr/>
          </p:nvSpPr>
          <p:spPr>
            <a:xfrm>
              <a:off x="5040780" y="2205852"/>
              <a:ext cx="1095138" cy="367710"/>
            </a:xfrm>
            <a:custGeom>
              <a:avLst/>
              <a:gdLst/>
              <a:ahLst/>
              <a:cxnLst/>
              <a:rect l="l" t="t" r="r" b="b"/>
              <a:pathLst>
                <a:path w="1095138" h="367710">
                  <a:moveTo>
                    <a:pt x="183855" y="0"/>
                  </a:moveTo>
                  <a:moveTo>
                    <a:pt x="183855" y="0"/>
                  </a:moveTo>
                  <a:lnTo>
                    <a:pt x="911282" y="0"/>
                  </a:lnTo>
                  <a:quadBezTo>
                    <a:pt x="1095138" y="0"/>
                    <a:pt x="1095138" y="183855"/>
                  </a:quadBezTo>
                  <a:lnTo>
                    <a:pt x="1095138" y="183855"/>
                  </a:lnTo>
                  <a:quadBezTo>
                    <a:pt x="1095138" y="367710"/>
                    <a:pt x="911282" y="367710"/>
                  </a:quadBezTo>
                  <a:lnTo>
                    <a:pt x="183855" y="367710"/>
                  </a:lnTo>
                  <a:quadBezTo>
                    <a:pt x="0" y="367710"/>
                    <a:pt x="0" y="183855"/>
                  </a:quadBezTo>
                  <a:lnTo>
                    <a:pt x="0" y="183855"/>
                  </a:lnTo>
                  <a:quadBezTo>
                    <a:pt x="0" y="0"/>
                    <a:pt x="183855" y="0"/>
                  </a:quadBezTo>
                  <a:close/>
                </a:path>
              </a:pathLst>
            </a:custGeom>
            <a:solidFill>
              <a:srgbClr val="5196FF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 19">
              <a:extLst>
                <a:ext uri="{FF2B5EF4-FFF2-40B4-BE49-F238E27FC236}">
                  <a16:creationId xmlns:a16="http://schemas.microsoft.com/office/drawing/2014/main" id="{311FB046-F4A5-A96D-0D8E-72D68682EE5F}"/>
                </a:ext>
              </a:extLst>
            </p:cNvPr>
            <p:cNvSpPr/>
            <p:nvPr/>
          </p:nvSpPr>
          <p:spPr>
            <a:xfrm>
              <a:off x="5257179" y="2092527"/>
              <a:ext cx="878739" cy="540148"/>
            </a:xfrm>
            <a:prstGeom prst="rect">
              <a:avLst/>
            </a:prstGeom>
            <a:noFill/>
          </p:spPr>
          <p:txBody>
            <a:bodyPr wrap="square" lIns="95250" tIns="95250" rIns="95250" bIns="95250" rtlCol="0" anchor="t">
              <a:spAutoFit/>
            </a:bodyPr>
            <a:lstStyle/>
            <a:p>
              <a:pPr marL="0" indent="0">
                <a:lnSpc>
                  <a:spcPct val="113000"/>
                </a:lnSpc>
                <a:spcBef>
                  <a:spcPts val="375"/>
                </a:spcBef>
                <a:buNone/>
              </a:pPr>
              <a:r>
                <a:rPr lang="en-US" sz="216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02</a:t>
              </a:r>
              <a:endParaRPr lang="en-US" sz="1440" dirty="0"/>
            </a:p>
          </p:txBody>
        </p:sp>
      </p:grpSp>
    </p:spTree>
    <p:extLst>
      <p:ext uri="{BB962C8B-B14F-4D97-AF65-F5344CB8AC3E}">
        <p14:creationId xmlns:p14="http://schemas.microsoft.com/office/powerpoint/2010/main" val="1897700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14295-3B39-81CD-AD75-702D31AD6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24B2F7-22FE-D269-4D1B-4C6B4CD48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498475"/>
            <a:ext cx="7960421" cy="578054"/>
          </a:xfrm>
        </p:spPr>
        <p:txBody>
          <a:bodyPr rtlCol="0"/>
          <a:lstStyle/>
          <a:p>
            <a:r>
              <a:rPr lang="zh-CN" altLang="en-US" dirty="0"/>
              <a:t>网络流量抓取与分析模块设计</a:t>
            </a:r>
            <a:endParaRPr lang="zh-c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48DB887-3FB6-828A-BABD-3C66E6521A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0862" y="1076529"/>
            <a:ext cx="164981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数据抓取方法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特征提取方法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异常检测思路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506CDD18-A573-E5EA-FCBD-019A90182246}"/>
              </a:ext>
            </a:extLst>
          </p:cNvPr>
          <p:cNvGrpSpPr/>
          <p:nvPr/>
        </p:nvGrpSpPr>
        <p:grpSpPr>
          <a:xfrm>
            <a:off x="7819887" y="2054724"/>
            <a:ext cx="3343296" cy="3761253"/>
            <a:chOff x="6724362" y="2087599"/>
            <a:chExt cx="2409525" cy="3217050"/>
          </a:xfrm>
        </p:grpSpPr>
        <p:sp>
          <p:nvSpPr>
            <p:cNvPr id="63" name="Shape 8">
              <a:extLst>
                <a:ext uri="{FF2B5EF4-FFF2-40B4-BE49-F238E27FC236}">
                  <a16:creationId xmlns:a16="http://schemas.microsoft.com/office/drawing/2014/main" id="{7665D8EE-0F5B-A47E-D081-74241F3388B8}"/>
                </a:ext>
              </a:extLst>
            </p:cNvPr>
            <p:cNvSpPr/>
            <p:nvPr/>
          </p:nvSpPr>
          <p:spPr>
            <a:xfrm>
              <a:off x="6941910" y="2087612"/>
              <a:ext cx="2191977" cy="3217037"/>
            </a:xfrm>
            <a:custGeom>
              <a:avLst/>
              <a:gdLst/>
              <a:ahLst/>
              <a:cxnLst/>
              <a:rect l="l" t="t" r="r" b="b"/>
              <a:pathLst>
                <a:path w="2191977" h="3217037">
                  <a:moveTo>
                    <a:pt x="204724" y="0"/>
                  </a:moveTo>
                  <a:moveTo>
                    <a:pt x="204724" y="0"/>
                  </a:moveTo>
                  <a:lnTo>
                    <a:pt x="1987252" y="0"/>
                  </a:lnTo>
                  <a:quadBezTo>
                    <a:pt x="2191977" y="0"/>
                    <a:pt x="2191977" y="220827"/>
                  </a:quadBezTo>
                  <a:lnTo>
                    <a:pt x="2191977" y="2996210"/>
                  </a:lnTo>
                  <a:quadBezTo>
                    <a:pt x="2191977" y="3217037"/>
                    <a:pt x="1987252" y="3217037"/>
                  </a:quadBezTo>
                  <a:lnTo>
                    <a:pt x="204724" y="3217037"/>
                  </a:lnTo>
                  <a:quadBezTo>
                    <a:pt x="0" y="3217037"/>
                    <a:pt x="0" y="2996210"/>
                  </a:quadBezTo>
                  <a:lnTo>
                    <a:pt x="0" y="220827"/>
                  </a:lnTo>
                  <a:quadBezTo>
                    <a:pt x="0" y="0"/>
                    <a:pt x="204724" y="0"/>
                  </a:quad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9525">
              <a:solidFill>
                <a:srgbClr val="003F91"/>
              </a:solidFill>
              <a:prstDash val="solid"/>
            </a:ln>
          </p:spPr>
          <p:txBody>
            <a:bodyPr/>
            <a:lstStyle/>
            <a:p>
              <a:endParaRPr lang="en-US" altLang="zh-CN" sz="1600" b="1" dirty="0"/>
            </a:p>
            <a:p>
              <a:endParaRPr lang="en-US" altLang="zh-CN" sz="1600" b="1" dirty="0"/>
            </a:p>
            <a:p>
              <a:r>
                <a:rPr lang="zh-CN" altLang="en-US" sz="1600" b="1" dirty="0"/>
                <a:t>脚本任务下发与回传模块</a:t>
              </a:r>
            </a:p>
            <a:p>
              <a:r>
                <a:rPr lang="zh-CN" altLang="en-US" sz="1600" dirty="0"/>
                <a:t>用于模拟 </a:t>
              </a:r>
              <a:r>
                <a:rPr lang="en-US" altLang="zh-CN" sz="1600" dirty="0"/>
                <a:t>C2 </a:t>
              </a:r>
              <a:r>
                <a:rPr lang="zh-CN" altLang="en-US" sz="1600" dirty="0"/>
                <a:t>服务器向客户端下发指令，并接收回传结果。</a:t>
              </a:r>
            </a:p>
            <a:p>
              <a:r>
                <a:rPr lang="zh-CN" altLang="en-US" sz="1600" dirty="0"/>
                <a:t>通信方式支持：</a:t>
              </a:r>
            </a:p>
            <a:p>
              <a:r>
                <a:rPr lang="en-US" altLang="zh-CN" sz="1600" dirty="0"/>
                <a:t>HTTP POST </a:t>
              </a:r>
              <a:r>
                <a:rPr lang="zh-CN" altLang="en-US" sz="1600" dirty="0"/>
                <a:t>回传数据</a:t>
              </a:r>
            </a:p>
            <a:p>
              <a:r>
                <a:rPr lang="en-US" altLang="zh-CN" sz="1600" dirty="0"/>
                <a:t>WebSocket </a:t>
              </a:r>
              <a:r>
                <a:rPr lang="zh-CN" altLang="en-US" sz="1600" dirty="0"/>
                <a:t>双向通道</a:t>
              </a:r>
            </a:p>
            <a:p>
              <a:r>
                <a:rPr lang="zh-CN" altLang="en-US" sz="1600" dirty="0"/>
                <a:t>自定义二进制协议（可选）</a:t>
              </a:r>
            </a:p>
            <a:p>
              <a:endParaRPr lang="zh-CN" altLang="en-US" sz="1600" dirty="0"/>
            </a:p>
          </p:txBody>
        </p:sp>
        <p:sp>
          <p:nvSpPr>
            <p:cNvPr id="64" name="Shape 9">
              <a:extLst>
                <a:ext uri="{FF2B5EF4-FFF2-40B4-BE49-F238E27FC236}">
                  <a16:creationId xmlns:a16="http://schemas.microsoft.com/office/drawing/2014/main" id="{7B1328F4-3C97-CE64-9D46-01E9CF1C5A19}"/>
                </a:ext>
              </a:extLst>
            </p:cNvPr>
            <p:cNvSpPr/>
            <p:nvPr/>
          </p:nvSpPr>
          <p:spPr>
            <a:xfrm rot="5400000">
              <a:off x="6622621" y="2366936"/>
              <a:ext cx="423666" cy="220184"/>
            </a:xfrm>
            <a:custGeom>
              <a:avLst/>
              <a:gdLst/>
              <a:ahLst/>
              <a:cxnLst/>
              <a:rect l="l" t="t" r="r" b="b"/>
              <a:pathLst>
                <a:path w="423666" h="220184">
                  <a:moveTo>
                    <a:pt x="110092" y="0"/>
                  </a:moveTo>
                  <a:moveTo>
                    <a:pt x="110092" y="0"/>
                  </a:moveTo>
                  <a:lnTo>
                    <a:pt x="313574" y="0"/>
                  </a:lnTo>
                  <a:quadBezTo>
                    <a:pt x="423666" y="0"/>
                    <a:pt x="423666" y="110092"/>
                  </a:quadBezTo>
                  <a:lnTo>
                    <a:pt x="423666" y="110092"/>
                  </a:lnTo>
                  <a:quadBezTo>
                    <a:pt x="423666" y="220184"/>
                    <a:pt x="313574" y="220184"/>
                  </a:quadBezTo>
                  <a:lnTo>
                    <a:pt x="110092" y="220184"/>
                  </a:lnTo>
                  <a:quadBezTo>
                    <a:pt x="0" y="220184"/>
                    <a:pt x="0" y="110092"/>
                  </a:quadBezTo>
                  <a:lnTo>
                    <a:pt x="0" y="110092"/>
                  </a:lnTo>
                  <a:quadBezTo>
                    <a:pt x="0" y="0"/>
                    <a:pt x="110092" y="0"/>
                  </a:quadBezTo>
                  <a:close/>
                </a:path>
              </a:pathLst>
            </a:custGeom>
            <a:solidFill>
              <a:srgbClr val="0075F0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Shape 10">
              <a:extLst>
                <a:ext uri="{FF2B5EF4-FFF2-40B4-BE49-F238E27FC236}">
                  <a16:creationId xmlns:a16="http://schemas.microsoft.com/office/drawing/2014/main" id="{DDB0F62C-FDB2-A69F-6E80-C8BC1290DFDD}"/>
                </a:ext>
              </a:extLst>
            </p:cNvPr>
            <p:cNvSpPr/>
            <p:nvPr/>
          </p:nvSpPr>
          <p:spPr>
            <a:xfrm>
              <a:off x="6725469" y="2200924"/>
              <a:ext cx="1095138" cy="367710"/>
            </a:xfrm>
            <a:custGeom>
              <a:avLst/>
              <a:gdLst/>
              <a:ahLst/>
              <a:cxnLst/>
              <a:rect l="l" t="t" r="r" b="b"/>
              <a:pathLst>
                <a:path w="1095138" h="367710">
                  <a:moveTo>
                    <a:pt x="183855" y="0"/>
                  </a:moveTo>
                  <a:moveTo>
                    <a:pt x="183855" y="0"/>
                  </a:moveTo>
                  <a:lnTo>
                    <a:pt x="911282" y="0"/>
                  </a:lnTo>
                  <a:quadBezTo>
                    <a:pt x="1095138" y="0"/>
                    <a:pt x="1095138" y="183855"/>
                  </a:quadBezTo>
                  <a:lnTo>
                    <a:pt x="1095138" y="183855"/>
                  </a:lnTo>
                  <a:quadBezTo>
                    <a:pt x="1095138" y="367710"/>
                    <a:pt x="911282" y="367710"/>
                  </a:quadBezTo>
                  <a:lnTo>
                    <a:pt x="183855" y="367710"/>
                  </a:lnTo>
                  <a:quadBezTo>
                    <a:pt x="0" y="367710"/>
                    <a:pt x="0" y="183855"/>
                  </a:quadBezTo>
                  <a:lnTo>
                    <a:pt x="0" y="183855"/>
                  </a:lnTo>
                  <a:quadBezTo>
                    <a:pt x="0" y="0"/>
                    <a:pt x="183855" y="0"/>
                  </a:quadBezTo>
                  <a:close/>
                </a:path>
              </a:pathLst>
            </a:custGeom>
            <a:solidFill>
              <a:srgbClr val="0084FF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Text 11">
              <a:extLst>
                <a:ext uri="{FF2B5EF4-FFF2-40B4-BE49-F238E27FC236}">
                  <a16:creationId xmlns:a16="http://schemas.microsoft.com/office/drawing/2014/main" id="{B041925C-D9FC-769B-23ED-A15360C84B3E}"/>
                </a:ext>
              </a:extLst>
            </p:cNvPr>
            <p:cNvSpPr/>
            <p:nvPr/>
          </p:nvSpPr>
          <p:spPr>
            <a:xfrm>
              <a:off x="6941910" y="2087599"/>
              <a:ext cx="878697" cy="540148"/>
            </a:xfrm>
            <a:prstGeom prst="rect">
              <a:avLst/>
            </a:prstGeom>
            <a:noFill/>
          </p:spPr>
          <p:txBody>
            <a:bodyPr wrap="square" lIns="95250" tIns="95250" rIns="95250" bIns="95250" rtlCol="0" anchor="t">
              <a:spAutoFit/>
            </a:bodyPr>
            <a:lstStyle/>
            <a:p>
              <a:pPr marL="0" indent="0">
                <a:lnSpc>
                  <a:spcPct val="113000"/>
                </a:lnSpc>
                <a:spcBef>
                  <a:spcPts val="375"/>
                </a:spcBef>
                <a:buNone/>
              </a:pPr>
              <a:r>
                <a:rPr lang="en-US" sz="216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03</a:t>
              </a:r>
              <a:endParaRPr lang="en-US" sz="1440" dirty="0"/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33D8773A-CFBF-7F74-3C8C-4860BEFADE2A}"/>
              </a:ext>
            </a:extLst>
          </p:cNvPr>
          <p:cNvGrpSpPr/>
          <p:nvPr/>
        </p:nvGrpSpPr>
        <p:grpSpPr>
          <a:xfrm>
            <a:off x="989983" y="2054892"/>
            <a:ext cx="3343297" cy="3761309"/>
            <a:chOff x="1670299" y="2087551"/>
            <a:chExt cx="2409526" cy="3217098"/>
          </a:xfrm>
        </p:grpSpPr>
        <p:sp>
          <p:nvSpPr>
            <p:cNvPr id="68" name="Shape 2">
              <a:extLst>
                <a:ext uri="{FF2B5EF4-FFF2-40B4-BE49-F238E27FC236}">
                  <a16:creationId xmlns:a16="http://schemas.microsoft.com/office/drawing/2014/main" id="{F9E9B00C-3F02-8477-8EA8-3C589739C19D}"/>
                </a:ext>
              </a:extLst>
            </p:cNvPr>
            <p:cNvSpPr/>
            <p:nvPr/>
          </p:nvSpPr>
          <p:spPr>
            <a:xfrm>
              <a:off x="1887848" y="2087612"/>
              <a:ext cx="2191977" cy="3217037"/>
            </a:xfrm>
            <a:custGeom>
              <a:avLst/>
              <a:gdLst/>
              <a:ahLst/>
              <a:cxnLst/>
              <a:rect l="l" t="t" r="r" b="b"/>
              <a:pathLst>
                <a:path w="2191977" h="3217037">
                  <a:moveTo>
                    <a:pt x="204724" y="0"/>
                  </a:moveTo>
                  <a:moveTo>
                    <a:pt x="204724" y="0"/>
                  </a:moveTo>
                  <a:lnTo>
                    <a:pt x="1987252" y="0"/>
                  </a:lnTo>
                  <a:quadBezTo>
                    <a:pt x="2191977" y="0"/>
                    <a:pt x="2191977" y="220827"/>
                  </a:quadBezTo>
                  <a:lnTo>
                    <a:pt x="2191977" y="2996210"/>
                  </a:lnTo>
                  <a:quadBezTo>
                    <a:pt x="2191977" y="3217037"/>
                    <a:pt x="1987252" y="3217037"/>
                  </a:quadBezTo>
                  <a:lnTo>
                    <a:pt x="204724" y="3217037"/>
                  </a:lnTo>
                  <a:quadBezTo>
                    <a:pt x="0" y="3217037"/>
                    <a:pt x="0" y="2996210"/>
                  </a:quadBezTo>
                  <a:lnTo>
                    <a:pt x="0" y="220827"/>
                  </a:lnTo>
                  <a:quadBezTo>
                    <a:pt x="0" y="0"/>
                    <a:pt x="204724" y="0"/>
                  </a:quad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9525">
              <a:solidFill>
                <a:srgbClr val="003F91"/>
              </a:solidFill>
              <a:prstDash val="solid"/>
            </a:ln>
          </p:spPr>
          <p:txBody>
            <a:bodyPr/>
            <a:lstStyle/>
            <a:p>
              <a:endParaRPr lang="en-US" altLang="zh-CN" sz="1600" b="1" dirty="0"/>
            </a:p>
            <a:p>
              <a:endParaRPr lang="en-US" altLang="zh-CN" sz="1600" b="1" dirty="0"/>
            </a:p>
            <a:p>
              <a:r>
                <a:rPr lang="zh-CN" altLang="en-US" dirty="0"/>
                <a:t>数据抓取模块用于从网络中获取原始数据流。主要方法包括：</a:t>
              </a:r>
            </a:p>
            <a:p>
              <a:r>
                <a:rPr lang="zh-CN" altLang="en-US" sz="1600" dirty="0"/>
                <a:t>抓包（</a:t>
              </a:r>
              <a:r>
                <a:rPr lang="en-US" altLang="zh-CN" sz="1600" dirty="0"/>
                <a:t>Packet Sniffing</a:t>
              </a:r>
              <a:r>
                <a:rPr lang="zh-CN" altLang="en-US" sz="1600" dirty="0"/>
                <a:t>）</a:t>
              </a:r>
            </a:p>
            <a:p>
              <a:r>
                <a:rPr lang="zh-CN" altLang="en-US" sz="1600" dirty="0"/>
                <a:t>端口镜像 </a:t>
              </a:r>
              <a:r>
                <a:rPr lang="en-US" altLang="zh-CN" sz="1600" dirty="0"/>
                <a:t>/ </a:t>
              </a:r>
              <a:r>
                <a:rPr lang="zh-CN" altLang="en-US" sz="1600" dirty="0"/>
                <a:t>流量复制（</a:t>
              </a:r>
              <a:r>
                <a:rPr lang="en-US" altLang="zh-CN" sz="1600" dirty="0"/>
                <a:t>Port Mirroring / TAP</a:t>
              </a:r>
              <a:r>
                <a:rPr lang="zh-CN" altLang="en-US" sz="1600" dirty="0"/>
                <a:t>）</a:t>
              </a:r>
            </a:p>
            <a:p>
              <a:r>
                <a:rPr lang="zh-CN" altLang="en-US" sz="1600" dirty="0"/>
                <a:t>流量汇总（</a:t>
              </a:r>
              <a:r>
                <a:rPr lang="en-US" altLang="zh-CN" sz="1600" dirty="0"/>
                <a:t>Flow Collection</a:t>
              </a:r>
              <a:r>
                <a:rPr lang="zh-CN" altLang="en-US" sz="1600" dirty="0"/>
                <a:t>）</a:t>
              </a:r>
            </a:p>
            <a:p>
              <a:r>
                <a:rPr lang="zh-CN" altLang="en-US" sz="1600" dirty="0"/>
                <a:t>数据存储与管理</a:t>
              </a:r>
            </a:p>
            <a:p>
              <a:endParaRPr lang="en-US" altLang="zh-CN" sz="1600" b="1" dirty="0"/>
            </a:p>
          </p:txBody>
        </p:sp>
        <p:sp>
          <p:nvSpPr>
            <p:cNvPr id="69" name="Shape 3">
              <a:extLst>
                <a:ext uri="{FF2B5EF4-FFF2-40B4-BE49-F238E27FC236}">
                  <a16:creationId xmlns:a16="http://schemas.microsoft.com/office/drawing/2014/main" id="{59F35D75-B79D-96D7-D00D-2CB3236B24BF}"/>
                </a:ext>
              </a:extLst>
            </p:cNvPr>
            <p:cNvSpPr/>
            <p:nvPr/>
          </p:nvSpPr>
          <p:spPr>
            <a:xfrm rot="5400000">
              <a:off x="1568558" y="2366888"/>
              <a:ext cx="423666" cy="220184"/>
            </a:xfrm>
            <a:custGeom>
              <a:avLst/>
              <a:gdLst/>
              <a:ahLst/>
              <a:cxnLst/>
              <a:rect l="l" t="t" r="r" b="b"/>
              <a:pathLst>
                <a:path w="423666" h="220184">
                  <a:moveTo>
                    <a:pt x="110092" y="0"/>
                  </a:moveTo>
                  <a:moveTo>
                    <a:pt x="110092" y="0"/>
                  </a:moveTo>
                  <a:lnTo>
                    <a:pt x="313574" y="0"/>
                  </a:lnTo>
                  <a:quadBezTo>
                    <a:pt x="423666" y="0"/>
                    <a:pt x="423666" y="110092"/>
                  </a:quadBezTo>
                  <a:lnTo>
                    <a:pt x="423666" y="110092"/>
                  </a:lnTo>
                  <a:quadBezTo>
                    <a:pt x="423666" y="220184"/>
                    <a:pt x="313574" y="220184"/>
                  </a:quadBezTo>
                  <a:lnTo>
                    <a:pt x="110092" y="220184"/>
                  </a:lnTo>
                  <a:quadBezTo>
                    <a:pt x="0" y="220184"/>
                    <a:pt x="0" y="110092"/>
                  </a:quadBezTo>
                  <a:lnTo>
                    <a:pt x="0" y="110092"/>
                  </a:lnTo>
                  <a:quadBezTo>
                    <a:pt x="0" y="0"/>
                    <a:pt x="110092" y="0"/>
                  </a:quadBezTo>
                  <a:close/>
                </a:path>
              </a:pathLst>
            </a:custGeom>
            <a:solidFill>
              <a:srgbClr val="0075F0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Shape 4">
              <a:extLst>
                <a:ext uri="{FF2B5EF4-FFF2-40B4-BE49-F238E27FC236}">
                  <a16:creationId xmlns:a16="http://schemas.microsoft.com/office/drawing/2014/main" id="{2FBCD6AD-3E1E-C920-3C64-4504E4A7926A}"/>
                </a:ext>
              </a:extLst>
            </p:cNvPr>
            <p:cNvSpPr/>
            <p:nvPr/>
          </p:nvSpPr>
          <p:spPr>
            <a:xfrm>
              <a:off x="1671407" y="2200876"/>
              <a:ext cx="1095138" cy="367710"/>
            </a:xfrm>
            <a:custGeom>
              <a:avLst/>
              <a:gdLst/>
              <a:ahLst/>
              <a:cxnLst/>
              <a:rect l="l" t="t" r="r" b="b"/>
              <a:pathLst>
                <a:path w="1095138" h="367710">
                  <a:moveTo>
                    <a:pt x="183855" y="0"/>
                  </a:moveTo>
                  <a:moveTo>
                    <a:pt x="183855" y="0"/>
                  </a:moveTo>
                  <a:lnTo>
                    <a:pt x="911282" y="0"/>
                  </a:lnTo>
                  <a:quadBezTo>
                    <a:pt x="1095138" y="0"/>
                    <a:pt x="1095138" y="183855"/>
                  </a:quadBezTo>
                  <a:lnTo>
                    <a:pt x="1095138" y="183855"/>
                  </a:lnTo>
                  <a:quadBezTo>
                    <a:pt x="1095138" y="367710"/>
                    <a:pt x="911282" y="367710"/>
                  </a:quadBezTo>
                  <a:lnTo>
                    <a:pt x="183855" y="367710"/>
                  </a:lnTo>
                  <a:quadBezTo>
                    <a:pt x="0" y="367710"/>
                    <a:pt x="0" y="183855"/>
                  </a:quadBezTo>
                  <a:lnTo>
                    <a:pt x="0" y="183855"/>
                  </a:lnTo>
                  <a:quadBezTo>
                    <a:pt x="0" y="0"/>
                    <a:pt x="183855" y="0"/>
                  </a:quadBezTo>
                  <a:close/>
                </a:path>
              </a:pathLst>
            </a:custGeom>
            <a:solidFill>
              <a:srgbClr val="0084FF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Text 5">
              <a:extLst>
                <a:ext uri="{FF2B5EF4-FFF2-40B4-BE49-F238E27FC236}">
                  <a16:creationId xmlns:a16="http://schemas.microsoft.com/office/drawing/2014/main" id="{B10822DD-EEB4-C438-106A-FF79D2EF5887}"/>
                </a:ext>
              </a:extLst>
            </p:cNvPr>
            <p:cNvSpPr/>
            <p:nvPr/>
          </p:nvSpPr>
          <p:spPr>
            <a:xfrm>
              <a:off x="1887848" y="2087551"/>
              <a:ext cx="878697" cy="540148"/>
            </a:xfrm>
            <a:prstGeom prst="rect">
              <a:avLst/>
            </a:prstGeom>
            <a:noFill/>
          </p:spPr>
          <p:txBody>
            <a:bodyPr wrap="square" lIns="95250" tIns="95250" rIns="95250" bIns="95250" rtlCol="0" anchor="t">
              <a:spAutoFit/>
            </a:bodyPr>
            <a:lstStyle/>
            <a:p>
              <a:pPr marL="0" indent="0">
                <a:lnSpc>
                  <a:spcPct val="113000"/>
                </a:lnSpc>
                <a:spcBef>
                  <a:spcPts val="375"/>
                </a:spcBef>
                <a:buNone/>
              </a:pPr>
              <a:r>
                <a:rPr lang="en-US" sz="216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01</a:t>
              </a:r>
              <a:endParaRPr lang="en-US" sz="1440" dirty="0"/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50D093B2-85B3-9C55-0AC4-422FED92DB40}"/>
              </a:ext>
            </a:extLst>
          </p:cNvPr>
          <p:cNvGrpSpPr/>
          <p:nvPr/>
        </p:nvGrpSpPr>
        <p:grpSpPr>
          <a:xfrm>
            <a:off x="4424492" y="2054702"/>
            <a:ext cx="3343016" cy="3761641"/>
            <a:chOff x="5039673" y="2092415"/>
            <a:chExt cx="2409323" cy="3217382"/>
          </a:xfrm>
        </p:grpSpPr>
        <p:sp>
          <p:nvSpPr>
            <p:cNvPr id="73" name="Shape 14">
              <a:extLst>
                <a:ext uri="{FF2B5EF4-FFF2-40B4-BE49-F238E27FC236}">
                  <a16:creationId xmlns:a16="http://schemas.microsoft.com/office/drawing/2014/main" id="{6AF57699-FAFE-69D4-2C38-CB5B80B714A2}"/>
                </a:ext>
              </a:extLst>
            </p:cNvPr>
            <p:cNvSpPr/>
            <p:nvPr/>
          </p:nvSpPr>
          <p:spPr>
            <a:xfrm>
              <a:off x="5257179" y="2092415"/>
              <a:ext cx="2191817" cy="3217382"/>
            </a:xfrm>
            <a:custGeom>
              <a:avLst/>
              <a:gdLst/>
              <a:ahLst/>
              <a:cxnLst/>
              <a:rect l="l" t="t" r="r" b="b"/>
              <a:pathLst>
                <a:path w="2191817" h="3217382">
                  <a:moveTo>
                    <a:pt x="204709" y="0"/>
                  </a:moveTo>
                  <a:moveTo>
                    <a:pt x="204709" y="0"/>
                  </a:moveTo>
                  <a:lnTo>
                    <a:pt x="1987108" y="0"/>
                  </a:lnTo>
                  <a:quadBezTo>
                    <a:pt x="2191817" y="0"/>
                    <a:pt x="2191817" y="220811"/>
                  </a:quadBezTo>
                  <a:lnTo>
                    <a:pt x="2191817" y="2996571"/>
                  </a:lnTo>
                  <a:quadBezTo>
                    <a:pt x="2191817" y="3217382"/>
                    <a:pt x="1987108" y="3217382"/>
                  </a:quadBezTo>
                  <a:lnTo>
                    <a:pt x="204709" y="3217382"/>
                  </a:lnTo>
                  <a:quadBezTo>
                    <a:pt x="0" y="3217382"/>
                    <a:pt x="0" y="2996571"/>
                  </a:quadBezTo>
                  <a:lnTo>
                    <a:pt x="0" y="220811"/>
                  </a:lnTo>
                  <a:quadBezTo>
                    <a:pt x="0" y="0"/>
                    <a:pt x="204709" y="0"/>
                  </a:quad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9525">
              <a:solidFill>
                <a:srgbClr val="003F91"/>
              </a:solidFill>
              <a:prstDash val="solid"/>
            </a:ln>
          </p:spPr>
          <p:txBody>
            <a:bodyPr/>
            <a:lstStyle/>
            <a:p>
              <a:endParaRPr lang="en-US" altLang="zh-CN" sz="1600" b="1" dirty="0"/>
            </a:p>
            <a:p>
              <a:endParaRPr lang="en-US" altLang="zh-CN" sz="1600" b="1" dirty="0"/>
            </a:p>
            <a:p>
              <a:r>
                <a:rPr lang="zh-CN" altLang="en-US" dirty="0"/>
                <a:t>特征提取模块将原始网络数据转换为可分析的结构化信息</a:t>
              </a:r>
            </a:p>
            <a:p>
              <a:r>
                <a:rPr lang="zh-CN" altLang="en-US" sz="1600" dirty="0"/>
                <a:t>基本统计特征</a:t>
              </a:r>
            </a:p>
            <a:p>
              <a:r>
                <a:rPr lang="zh-CN" altLang="en-US" sz="1600" dirty="0"/>
                <a:t>协议特征</a:t>
              </a:r>
            </a:p>
            <a:p>
              <a:r>
                <a:rPr lang="zh-CN" altLang="en-US" sz="1600" dirty="0"/>
                <a:t>行为特征</a:t>
              </a:r>
            </a:p>
            <a:p>
              <a:r>
                <a:rPr lang="zh-CN" altLang="en-US" sz="1600" dirty="0"/>
                <a:t>内容特征（可选）</a:t>
              </a:r>
            </a:p>
            <a:p>
              <a:r>
                <a:rPr lang="zh-CN" altLang="en-US" sz="1600" dirty="0"/>
                <a:t>特征表示</a:t>
              </a:r>
            </a:p>
            <a:p>
              <a:endParaRPr lang="zh-CN" altLang="en-US" sz="1600" dirty="0"/>
            </a:p>
          </p:txBody>
        </p:sp>
        <p:sp>
          <p:nvSpPr>
            <p:cNvPr id="74" name="Shape 17">
              <a:extLst>
                <a:ext uri="{FF2B5EF4-FFF2-40B4-BE49-F238E27FC236}">
                  <a16:creationId xmlns:a16="http://schemas.microsoft.com/office/drawing/2014/main" id="{733751B2-3143-579C-65C6-C1773587E36B}"/>
                </a:ext>
              </a:extLst>
            </p:cNvPr>
            <p:cNvSpPr/>
            <p:nvPr/>
          </p:nvSpPr>
          <p:spPr>
            <a:xfrm rot="5400000">
              <a:off x="4937932" y="2371864"/>
              <a:ext cx="423666" cy="220184"/>
            </a:xfrm>
            <a:custGeom>
              <a:avLst/>
              <a:gdLst/>
              <a:ahLst/>
              <a:cxnLst/>
              <a:rect l="l" t="t" r="r" b="b"/>
              <a:pathLst>
                <a:path w="423666" h="220184">
                  <a:moveTo>
                    <a:pt x="110092" y="0"/>
                  </a:moveTo>
                  <a:moveTo>
                    <a:pt x="110092" y="0"/>
                  </a:moveTo>
                  <a:lnTo>
                    <a:pt x="313574" y="0"/>
                  </a:lnTo>
                  <a:quadBezTo>
                    <a:pt x="423666" y="0"/>
                    <a:pt x="423666" y="110092"/>
                  </a:quadBezTo>
                  <a:lnTo>
                    <a:pt x="423666" y="110092"/>
                  </a:lnTo>
                  <a:quadBezTo>
                    <a:pt x="423666" y="220184"/>
                    <a:pt x="313574" y="220184"/>
                  </a:quadBezTo>
                  <a:lnTo>
                    <a:pt x="110092" y="220184"/>
                  </a:lnTo>
                  <a:quadBezTo>
                    <a:pt x="0" y="220184"/>
                    <a:pt x="0" y="110092"/>
                  </a:quadBezTo>
                  <a:lnTo>
                    <a:pt x="0" y="110092"/>
                  </a:lnTo>
                  <a:quadBezTo>
                    <a:pt x="0" y="0"/>
                    <a:pt x="110092" y="0"/>
                  </a:quadBezTo>
                  <a:close/>
                </a:path>
              </a:pathLst>
            </a:custGeom>
            <a:solidFill>
              <a:srgbClr val="4287F0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Shape 18">
              <a:extLst>
                <a:ext uri="{FF2B5EF4-FFF2-40B4-BE49-F238E27FC236}">
                  <a16:creationId xmlns:a16="http://schemas.microsoft.com/office/drawing/2014/main" id="{3DD67203-F41B-0CAE-8AD5-A897282433F8}"/>
                </a:ext>
              </a:extLst>
            </p:cNvPr>
            <p:cNvSpPr/>
            <p:nvPr/>
          </p:nvSpPr>
          <p:spPr>
            <a:xfrm>
              <a:off x="5040780" y="2205852"/>
              <a:ext cx="1095138" cy="367710"/>
            </a:xfrm>
            <a:custGeom>
              <a:avLst/>
              <a:gdLst/>
              <a:ahLst/>
              <a:cxnLst/>
              <a:rect l="l" t="t" r="r" b="b"/>
              <a:pathLst>
                <a:path w="1095138" h="367710">
                  <a:moveTo>
                    <a:pt x="183855" y="0"/>
                  </a:moveTo>
                  <a:moveTo>
                    <a:pt x="183855" y="0"/>
                  </a:moveTo>
                  <a:lnTo>
                    <a:pt x="911282" y="0"/>
                  </a:lnTo>
                  <a:quadBezTo>
                    <a:pt x="1095138" y="0"/>
                    <a:pt x="1095138" y="183855"/>
                  </a:quadBezTo>
                  <a:lnTo>
                    <a:pt x="1095138" y="183855"/>
                  </a:lnTo>
                  <a:quadBezTo>
                    <a:pt x="1095138" y="367710"/>
                    <a:pt x="911282" y="367710"/>
                  </a:quadBezTo>
                  <a:lnTo>
                    <a:pt x="183855" y="367710"/>
                  </a:lnTo>
                  <a:quadBezTo>
                    <a:pt x="0" y="367710"/>
                    <a:pt x="0" y="183855"/>
                  </a:quadBezTo>
                  <a:lnTo>
                    <a:pt x="0" y="183855"/>
                  </a:lnTo>
                  <a:quadBezTo>
                    <a:pt x="0" y="0"/>
                    <a:pt x="183855" y="0"/>
                  </a:quadBezTo>
                  <a:close/>
                </a:path>
              </a:pathLst>
            </a:custGeom>
            <a:solidFill>
              <a:srgbClr val="5196FF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Text 19">
              <a:extLst>
                <a:ext uri="{FF2B5EF4-FFF2-40B4-BE49-F238E27FC236}">
                  <a16:creationId xmlns:a16="http://schemas.microsoft.com/office/drawing/2014/main" id="{D7557A69-3A43-EED9-C1D0-F693A4824CF5}"/>
                </a:ext>
              </a:extLst>
            </p:cNvPr>
            <p:cNvSpPr/>
            <p:nvPr/>
          </p:nvSpPr>
          <p:spPr>
            <a:xfrm>
              <a:off x="5257179" y="2092527"/>
              <a:ext cx="878739" cy="540148"/>
            </a:xfrm>
            <a:prstGeom prst="rect">
              <a:avLst/>
            </a:prstGeom>
            <a:noFill/>
          </p:spPr>
          <p:txBody>
            <a:bodyPr wrap="square" lIns="95250" tIns="95250" rIns="95250" bIns="95250" rtlCol="0" anchor="t">
              <a:spAutoFit/>
            </a:bodyPr>
            <a:lstStyle/>
            <a:p>
              <a:pPr marL="0" indent="0">
                <a:lnSpc>
                  <a:spcPct val="113000"/>
                </a:lnSpc>
                <a:spcBef>
                  <a:spcPts val="375"/>
                </a:spcBef>
                <a:buNone/>
              </a:pPr>
              <a:r>
                <a:rPr lang="en-US" sz="216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02</a:t>
              </a:r>
              <a:endParaRPr lang="en-US" sz="1440" dirty="0"/>
            </a:p>
          </p:txBody>
        </p:sp>
      </p:grpSp>
    </p:spTree>
    <p:extLst>
      <p:ext uri="{BB962C8B-B14F-4D97-AF65-F5344CB8AC3E}">
        <p14:creationId xmlns:p14="http://schemas.microsoft.com/office/powerpoint/2010/main" val="3032801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C753B-8F52-0F57-E2E6-3DD863FD8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D98489-4783-F698-D9D6-1CF6EE8D0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498474"/>
            <a:ext cx="7960421" cy="597509"/>
          </a:xfrm>
        </p:spPr>
        <p:txBody>
          <a:bodyPr rtlCol="0"/>
          <a:lstStyle/>
          <a:p>
            <a:r>
              <a:rPr lang="zh-CN" altLang="en-US" dirty="0"/>
              <a:t>防御策略与告警机制设计</a:t>
            </a:r>
            <a:endParaRPr lang="zh-c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B4B35CF-91BC-2309-7D66-3484BB7DDE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0862" y="1095983"/>
            <a:ext cx="171393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异常识别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阈值设定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可选阻断/告警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37CA836-DE99-D351-C22C-114DC37F48E5}"/>
              </a:ext>
            </a:extLst>
          </p:cNvPr>
          <p:cNvGrpSpPr/>
          <p:nvPr/>
        </p:nvGrpSpPr>
        <p:grpSpPr>
          <a:xfrm>
            <a:off x="7819887" y="2054724"/>
            <a:ext cx="3343296" cy="3761253"/>
            <a:chOff x="6724362" y="2087599"/>
            <a:chExt cx="2409525" cy="3217050"/>
          </a:xfrm>
        </p:grpSpPr>
        <p:sp>
          <p:nvSpPr>
            <p:cNvPr id="7" name="Shape 8">
              <a:extLst>
                <a:ext uri="{FF2B5EF4-FFF2-40B4-BE49-F238E27FC236}">
                  <a16:creationId xmlns:a16="http://schemas.microsoft.com/office/drawing/2014/main" id="{52182E71-68DB-A41A-4207-4F073DD8F107}"/>
                </a:ext>
              </a:extLst>
            </p:cNvPr>
            <p:cNvSpPr/>
            <p:nvPr/>
          </p:nvSpPr>
          <p:spPr>
            <a:xfrm>
              <a:off x="6941910" y="2087612"/>
              <a:ext cx="2191977" cy="3217037"/>
            </a:xfrm>
            <a:custGeom>
              <a:avLst/>
              <a:gdLst/>
              <a:ahLst/>
              <a:cxnLst/>
              <a:rect l="l" t="t" r="r" b="b"/>
              <a:pathLst>
                <a:path w="2191977" h="3217037">
                  <a:moveTo>
                    <a:pt x="204724" y="0"/>
                  </a:moveTo>
                  <a:moveTo>
                    <a:pt x="204724" y="0"/>
                  </a:moveTo>
                  <a:lnTo>
                    <a:pt x="1987252" y="0"/>
                  </a:lnTo>
                  <a:quadBezTo>
                    <a:pt x="2191977" y="0"/>
                    <a:pt x="2191977" y="220827"/>
                  </a:quadBezTo>
                  <a:lnTo>
                    <a:pt x="2191977" y="2996210"/>
                  </a:lnTo>
                  <a:quadBezTo>
                    <a:pt x="2191977" y="3217037"/>
                    <a:pt x="1987252" y="3217037"/>
                  </a:quadBezTo>
                  <a:lnTo>
                    <a:pt x="204724" y="3217037"/>
                  </a:lnTo>
                  <a:quadBezTo>
                    <a:pt x="0" y="3217037"/>
                    <a:pt x="0" y="2996210"/>
                  </a:quadBezTo>
                  <a:lnTo>
                    <a:pt x="0" y="220827"/>
                  </a:lnTo>
                  <a:quadBezTo>
                    <a:pt x="0" y="0"/>
                    <a:pt x="204724" y="0"/>
                  </a:quad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9525">
              <a:solidFill>
                <a:srgbClr val="003F91"/>
              </a:solidFill>
              <a:prstDash val="solid"/>
            </a:ln>
          </p:spPr>
          <p:txBody>
            <a:bodyPr/>
            <a:lstStyle/>
            <a:p>
              <a:endParaRPr lang="en-US" altLang="zh-CN" sz="1600" b="1" dirty="0"/>
            </a:p>
            <a:p>
              <a:endParaRPr lang="en-US" altLang="zh-CN" sz="1600" b="1" dirty="0"/>
            </a:p>
            <a:p>
              <a:r>
                <a:rPr lang="zh-CN" altLang="en-US" b="1" dirty="0"/>
                <a:t>可选阻断与告警机制</a:t>
              </a:r>
            </a:p>
            <a:p>
              <a:r>
                <a:rPr lang="zh-CN" altLang="en-US" b="1" dirty="0"/>
                <a:t>阻断策略</a:t>
              </a:r>
              <a:r>
                <a:rPr lang="zh-CN" altLang="en-US" dirty="0"/>
                <a:t>（可选）：阻断异常 </a:t>
              </a:r>
              <a:r>
                <a:rPr lang="en-US" altLang="zh-CN" dirty="0"/>
                <a:t>IP </a:t>
              </a:r>
              <a:r>
                <a:rPr lang="zh-CN" altLang="en-US" dirty="0"/>
                <a:t>或端口的访问，限制恶意流量扩散。</a:t>
              </a:r>
            </a:p>
            <a:p>
              <a:r>
                <a:rPr lang="zh-CN" altLang="en-US" b="1" dirty="0"/>
                <a:t>告警机制</a:t>
              </a:r>
              <a:r>
                <a:rPr lang="zh-CN" altLang="en-US" dirty="0"/>
                <a:t>：</a:t>
              </a:r>
              <a:endParaRPr lang="en-US" altLang="zh-CN" dirty="0"/>
            </a:p>
            <a:p>
              <a:r>
                <a:rPr lang="zh-CN" altLang="en-US" dirty="0"/>
                <a:t>实时生成告警信息，内容包括异常源 </a:t>
              </a:r>
              <a:r>
                <a:rPr lang="en-US" altLang="zh-CN" dirty="0"/>
                <a:t>IP</a:t>
              </a:r>
              <a:r>
                <a:rPr lang="zh-CN" altLang="en-US" dirty="0"/>
                <a:t>、端口、行为类型、时间戳及风险等级。</a:t>
              </a:r>
            </a:p>
            <a:p>
              <a:endParaRPr lang="zh-CN" altLang="en-US" sz="1600" dirty="0"/>
            </a:p>
          </p:txBody>
        </p:sp>
        <p:sp>
          <p:nvSpPr>
            <p:cNvPr id="8" name="Shape 9">
              <a:extLst>
                <a:ext uri="{FF2B5EF4-FFF2-40B4-BE49-F238E27FC236}">
                  <a16:creationId xmlns:a16="http://schemas.microsoft.com/office/drawing/2014/main" id="{90A9DF8F-833D-4E49-D1DB-A84C500FE54C}"/>
                </a:ext>
              </a:extLst>
            </p:cNvPr>
            <p:cNvSpPr/>
            <p:nvPr/>
          </p:nvSpPr>
          <p:spPr>
            <a:xfrm rot="5400000">
              <a:off x="6622621" y="2366936"/>
              <a:ext cx="423666" cy="220184"/>
            </a:xfrm>
            <a:custGeom>
              <a:avLst/>
              <a:gdLst/>
              <a:ahLst/>
              <a:cxnLst/>
              <a:rect l="l" t="t" r="r" b="b"/>
              <a:pathLst>
                <a:path w="423666" h="220184">
                  <a:moveTo>
                    <a:pt x="110092" y="0"/>
                  </a:moveTo>
                  <a:moveTo>
                    <a:pt x="110092" y="0"/>
                  </a:moveTo>
                  <a:lnTo>
                    <a:pt x="313574" y="0"/>
                  </a:lnTo>
                  <a:quadBezTo>
                    <a:pt x="423666" y="0"/>
                    <a:pt x="423666" y="110092"/>
                  </a:quadBezTo>
                  <a:lnTo>
                    <a:pt x="423666" y="110092"/>
                  </a:lnTo>
                  <a:quadBezTo>
                    <a:pt x="423666" y="220184"/>
                    <a:pt x="313574" y="220184"/>
                  </a:quadBezTo>
                  <a:lnTo>
                    <a:pt x="110092" y="220184"/>
                  </a:lnTo>
                  <a:quadBezTo>
                    <a:pt x="0" y="220184"/>
                    <a:pt x="0" y="110092"/>
                  </a:quadBezTo>
                  <a:lnTo>
                    <a:pt x="0" y="110092"/>
                  </a:lnTo>
                  <a:quadBezTo>
                    <a:pt x="0" y="0"/>
                    <a:pt x="110092" y="0"/>
                  </a:quadBezTo>
                  <a:close/>
                </a:path>
              </a:pathLst>
            </a:custGeom>
            <a:solidFill>
              <a:srgbClr val="0075F0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Shape 10">
              <a:extLst>
                <a:ext uri="{FF2B5EF4-FFF2-40B4-BE49-F238E27FC236}">
                  <a16:creationId xmlns:a16="http://schemas.microsoft.com/office/drawing/2014/main" id="{F71332A4-5CB8-DA49-322F-3227385908CD}"/>
                </a:ext>
              </a:extLst>
            </p:cNvPr>
            <p:cNvSpPr/>
            <p:nvPr/>
          </p:nvSpPr>
          <p:spPr>
            <a:xfrm>
              <a:off x="6725469" y="2200924"/>
              <a:ext cx="1095138" cy="367710"/>
            </a:xfrm>
            <a:custGeom>
              <a:avLst/>
              <a:gdLst/>
              <a:ahLst/>
              <a:cxnLst/>
              <a:rect l="l" t="t" r="r" b="b"/>
              <a:pathLst>
                <a:path w="1095138" h="367710">
                  <a:moveTo>
                    <a:pt x="183855" y="0"/>
                  </a:moveTo>
                  <a:moveTo>
                    <a:pt x="183855" y="0"/>
                  </a:moveTo>
                  <a:lnTo>
                    <a:pt x="911282" y="0"/>
                  </a:lnTo>
                  <a:quadBezTo>
                    <a:pt x="1095138" y="0"/>
                    <a:pt x="1095138" y="183855"/>
                  </a:quadBezTo>
                  <a:lnTo>
                    <a:pt x="1095138" y="183855"/>
                  </a:lnTo>
                  <a:quadBezTo>
                    <a:pt x="1095138" y="367710"/>
                    <a:pt x="911282" y="367710"/>
                  </a:quadBezTo>
                  <a:lnTo>
                    <a:pt x="183855" y="367710"/>
                  </a:lnTo>
                  <a:quadBezTo>
                    <a:pt x="0" y="367710"/>
                    <a:pt x="0" y="183855"/>
                  </a:quadBezTo>
                  <a:lnTo>
                    <a:pt x="0" y="183855"/>
                  </a:lnTo>
                  <a:quadBezTo>
                    <a:pt x="0" y="0"/>
                    <a:pt x="183855" y="0"/>
                  </a:quadBezTo>
                  <a:close/>
                </a:path>
              </a:pathLst>
            </a:custGeom>
            <a:solidFill>
              <a:srgbClr val="0084FF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 11">
              <a:extLst>
                <a:ext uri="{FF2B5EF4-FFF2-40B4-BE49-F238E27FC236}">
                  <a16:creationId xmlns:a16="http://schemas.microsoft.com/office/drawing/2014/main" id="{F7C3CE4A-4958-FEDD-4B93-BAA4CA6821E1}"/>
                </a:ext>
              </a:extLst>
            </p:cNvPr>
            <p:cNvSpPr/>
            <p:nvPr/>
          </p:nvSpPr>
          <p:spPr>
            <a:xfrm>
              <a:off x="6941910" y="2087599"/>
              <a:ext cx="878697" cy="540148"/>
            </a:xfrm>
            <a:prstGeom prst="rect">
              <a:avLst/>
            </a:prstGeom>
            <a:noFill/>
          </p:spPr>
          <p:txBody>
            <a:bodyPr wrap="square" lIns="95250" tIns="95250" rIns="95250" bIns="95250" rtlCol="0" anchor="t">
              <a:spAutoFit/>
            </a:bodyPr>
            <a:lstStyle/>
            <a:p>
              <a:pPr marL="0" indent="0">
                <a:lnSpc>
                  <a:spcPct val="113000"/>
                </a:lnSpc>
                <a:spcBef>
                  <a:spcPts val="375"/>
                </a:spcBef>
                <a:buNone/>
              </a:pPr>
              <a:r>
                <a:rPr lang="en-US" sz="216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03</a:t>
              </a:r>
              <a:endParaRPr lang="en-US" sz="1440" dirty="0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8E0BDD07-696E-3F94-9078-A2AC31216352}"/>
              </a:ext>
            </a:extLst>
          </p:cNvPr>
          <p:cNvGrpSpPr/>
          <p:nvPr/>
        </p:nvGrpSpPr>
        <p:grpSpPr>
          <a:xfrm>
            <a:off x="989983" y="2054892"/>
            <a:ext cx="3343297" cy="3761309"/>
            <a:chOff x="1670299" y="2087551"/>
            <a:chExt cx="2409526" cy="3217098"/>
          </a:xfrm>
        </p:grpSpPr>
        <p:sp>
          <p:nvSpPr>
            <p:cNvPr id="12" name="Shape 2">
              <a:extLst>
                <a:ext uri="{FF2B5EF4-FFF2-40B4-BE49-F238E27FC236}">
                  <a16:creationId xmlns:a16="http://schemas.microsoft.com/office/drawing/2014/main" id="{166496D0-97D8-AEE3-EEFF-8662CD29BE35}"/>
                </a:ext>
              </a:extLst>
            </p:cNvPr>
            <p:cNvSpPr/>
            <p:nvPr/>
          </p:nvSpPr>
          <p:spPr>
            <a:xfrm>
              <a:off x="1887848" y="2087612"/>
              <a:ext cx="2191977" cy="3217037"/>
            </a:xfrm>
            <a:custGeom>
              <a:avLst/>
              <a:gdLst/>
              <a:ahLst/>
              <a:cxnLst/>
              <a:rect l="l" t="t" r="r" b="b"/>
              <a:pathLst>
                <a:path w="2191977" h="3217037">
                  <a:moveTo>
                    <a:pt x="204724" y="0"/>
                  </a:moveTo>
                  <a:moveTo>
                    <a:pt x="204724" y="0"/>
                  </a:moveTo>
                  <a:lnTo>
                    <a:pt x="1987252" y="0"/>
                  </a:lnTo>
                  <a:quadBezTo>
                    <a:pt x="2191977" y="0"/>
                    <a:pt x="2191977" y="220827"/>
                  </a:quadBezTo>
                  <a:lnTo>
                    <a:pt x="2191977" y="2996210"/>
                  </a:lnTo>
                  <a:quadBezTo>
                    <a:pt x="2191977" y="3217037"/>
                    <a:pt x="1987252" y="3217037"/>
                  </a:quadBezTo>
                  <a:lnTo>
                    <a:pt x="204724" y="3217037"/>
                  </a:lnTo>
                  <a:quadBezTo>
                    <a:pt x="0" y="3217037"/>
                    <a:pt x="0" y="2996210"/>
                  </a:quadBezTo>
                  <a:lnTo>
                    <a:pt x="0" y="220827"/>
                  </a:lnTo>
                  <a:quadBezTo>
                    <a:pt x="0" y="0"/>
                    <a:pt x="204724" y="0"/>
                  </a:quad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9525">
              <a:solidFill>
                <a:srgbClr val="003F91"/>
              </a:solidFill>
              <a:prstDash val="solid"/>
            </a:ln>
          </p:spPr>
          <p:txBody>
            <a:bodyPr/>
            <a:lstStyle/>
            <a:p>
              <a:endParaRPr lang="en-US" altLang="zh-CN" sz="1600" b="1" dirty="0"/>
            </a:p>
            <a:p>
              <a:endParaRPr lang="en-US" altLang="zh-CN" sz="1600" b="1" dirty="0"/>
            </a:p>
            <a:p>
              <a:r>
                <a:rPr lang="zh-CN" altLang="en-US" b="1" dirty="0"/>
                <a:t>异常识别</a:t>
              </a:r>
            </a:p>
            <a:p>
              <a:r>
                <a:rPr lang="zh-CN" altLang="en-US" b="1" dirty="0"/>
                <a:t>功能</a:t>
              </a:r>
              <a:r>
                <a:rPr lang="zh-CN" altLang="en-US" dirty="0"/>
                <a:t>：识别潜在的恶意或异常网络行为，为防御和告警提供依据。</a:t>
              </a:r>
              <a:endParaRPr lang="en-US" altLang="zh-CN" dirty="0"/>
            </a:p>
            <a:p>
              <a:r>
                <a:rPr lang="zh-CN" altLang="en-US" sz="1600" dirty="0"/>
                <a:t>基于特征匹配</a:t>
              </a:r>
              <a:endParaRPr lang="en-US" altLang="zh-CN" sz="1600" dirty="0"/>
            </a:p>
            <a:p>
              <a:r>
                <a:rPr lang="zh-CN" altLang="en-US" sz="1600" dirty="0"/>
                <a:t>基于统计分析</a:t>
              </a:r>
              <a:endParaRPr lang="en-US" altLang="zh-CN" sz="1600" dirty="0"/>
            </a:p>
            <a:p>
              <a:r>
                <a:rPr lang="zh-CN" altLang="en-US" sz="1600" dirty="0"/>
                <a:t>基于模型预测</a:t>
              </a:r>
              <a:endParaRPr lang="en-US" altLang="zh-CN" sz="1600" dirty="0"/>
            </a:p>
          </p:txBody>
        </p:sp>
        <p:sp>
          <p:nvSpPr>
            <p:cNvPr id="13" name="Shape 3">
              <a:extLst>
                <a:ext uri="{FF2B5EF4-FFF2-40B4-BE49-F238E27FC236}">
                  <a16:creationId xmlns:a16="http://schemas.microsoft.com/office/drawing/2014/main" id="{65EA80CC-EB30-E2CC-EFD0-8C2410F74BCF}"/>
                </a:ext>
              </a:extLst>
            </p:cNvPr>
            <p:cNvSpPr/>
            <p:nvPr/>
          </p:nvSpPr>
          <p:spPr>
            <a:xfrm rot="5400000">
              <a:off x="1568558" y="2366888"/>
              <a:ext cx="423666" cy="220184"/>
            </a:xfrm>
            <a:custGeom>
              <a:avLst/>
              <a:gdLst/>
              <a:ahLst/>
              <a:cxnLst/>
              <a:rect l="l" t="t" r="r" b="b"/>
              <a:pathLst>
                <a:path w="423666" h="220184">
                  <a:moveTo>
                    <a:pt x="110092" y="0"/>
                  </a:moveTo>
                  <a:moveTo>
                    <a:pt x="110092" y="0"/>
                  </a:moveTo>
                  <a:lnTo>
                    <a:pt x="313574" y="0"/>
                  </a:lnTo>
                  <a:quadBezTo>
                    <a:pt x="423666" y="0"/>
                    <a:pt x="423666" y="110092"/>
                  </a:quadBezTo>
                  <a:lnTo>
                    <a:pt x="423666" y="110092"/>
                  </a:lnTo>
                  <a:quadBezTo>
                    <a:pt x="423666" y="220184"/>
                    <a:pt x="313574" y="220184"/>
                  </a:quadBezTo>
                  <a:lnTo>
                    <a:pt x="110092" y="220184"/>
                  </a:lnTo>
                  <a:quadBezTo>
                    <a:pt x="0" y="220184"/>
                    <a:pt x="0" y="110092"/>
                  </a:quadBezTo>
                  <a:lnTo>
                    <a:pt x="0" y="110092"/>
                  </a:lnTo>
                  <a:quadBezTo>
                    <a:pt x="0" y="0"/>
                    <a:pt x="110092" y="0"/>
                  </a:quadBezTo>
                  <a:close/>
                </a:path>
              </a:pathLst>
            </a:custGeom>
            <a:solidFill>
              <a:srgbClr val="0075F0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Shape 4">
              <a:extLst>
                <a:ext uri="{FF2B5EF4-FFF2-40B4-BE49-F238E27FC236}">
                  <a16:creationId xmlns:a16="http://schemas.microsoft.com/office/drawing/2014/main" id="{848B4F13-9937-010F-16E6-240531630BD0}"/>
                </a:ext>
              </a:extLst>
            </p:cNvPr>
            <p:cNvSpPr/>
            <p:nvPr/>
          </p:nvSpPr>
          <p:spPr>
            <a:xfrm>
              <a:off x="1671407" y="2200876"/>
              <a:ext cx="1095138" cy="367710"/>
            </a:xfrm>
            <a:custGeom>
              <a:avLst/>
              <a:gdLst/>
              <a:ahLst/>
              <a:cxnLst/>
              <a:rect l="l" t="t" r="r" b="b"/>
              <a:pathLst>
                <a:path w="1095138" h="367710">
                  <a:moveTo>
                    <a:pt x="183855" y="0"/>
                  </a:moveTo>
                  <a:moveTo>
                    <a:pt x="183855" y="0"/>
                  </a:moveTo>
                  <a:lnTo>
                    <a:pt x="911282" y="0"/>
                  </a:lnTo>
                  <a:quadBezTo>
                    <a:pt x="1095138" y="0"/>
                    <a:pt x="1095138" y="183855"/>
                  </a:quadBezTo>
                  <a:lnTo>
                    <a:pt x="1095138" y="183855"/>
                  </a:lnTo>
                  <a:quadBezTo>
                    <a:pt x="1095138" y="367710"/>
                    <a:pt x="911282" y="367710"/>
                  </a:quadBezTo>
                  <a:lnTo>
                    <a:pt x="183855" y="367710"/>
                  </a:lnTo>
                  <a:quadBezTo>
                    <a:pt x="0" y="367710"/>
                    <a:pt x="0" y="183855"/>
                  </a:quadBezTo>
                  <a:lnTo>
                    <a:pt x="0" y="183855"/>
                  </a:lnTo>
                  <a:quadBezTo>
                    <a:pt x="0" y="0"/>
                    <a:pt x="183855" y="0"/>
                  </a:quadBezTo>
                  <a:close/>
                </a:path>
              </a:pathLst>
            </a:custGeom>
            <a:solidFill>
              <a:srgbClr val="0084FF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 5">
              <a:extLst>
                <a:ext uri="{FF2B5EF4-FFF2-40B4-BE49-F238E27FC236}">
                  <a16:creationId xmlns:a16="http://schemas.microsoft.com/office/drawing/2014/main" id="{6D5F9332-31D8-70E8-1545-7440F85191D1}"/>
                </a:ext>
              </a:extLst>
            </p:cNvPr>
            <p:cNvSpPr/>
            <p:nvPr/>
          </p:nvSpPr>
          <p:spPr>
            <a:xfrm>
              <a:off x="1887848" y="2087551"/>
              <a:ext cx="878697" cy="540148"/>
            </a:xfrm>
            <a:prstGeom prst="rect">
              <a:avLst/>
            </a:prstGeom>
            <a:noFill/>
          </p:spPr>
          <p:txBody>
            <a:bodyPr wrap="square" lIns="95250" tIns="95250" rIns="95250" bIns="95250" rtlCol="0" anchor="t">
              <a:spAutoFit/>
            </a:bodyPr>
            <a:lstStyle/>
            <a:p>
              <a:pPr marL="0" indent="0">
                <a:lnSpc>
                  <a:spcPct val="113000"/>
                </a:lnSpc>
                <a:spcBef>
                  <a:spcPts val="375"/>
                </a:spcBef>
                <a:buNone/>
              </a:pPr>
              <a:r>
                <a:rPr lang="en-US" sz="216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01</a:t>
              </a:r>
              <a:endParaRPr lang="en-US" sz="1440" dirty="0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C6900B8-D6EB-C4D8-5F5C-734FD3C588BE}"/>
              </a:ext>
            </a:extLst>
          </p:cNvPr>
          <p:cNvGrpSpPr/>
          <p:nvPr/>
        </p:nvGrpSpPr>
        <p:grpSpPr>
          <a:xfrm>
            <a:off x="4424492" y="2054724"/>
            <a:ext cx="3343016" cy="3761641"/>
            <a:chOff x="5039673" y="2092415"/>
            <a:chExt cx="2409323" cy="3217382"/>
          </a:xfrm>
        </p:grpSpPr>
        <p:sp>
          <p:nvSpPr>
            <p:cNvPr id="17" name="Shape 14">
              <a:extLst>
                <a:ext uri="{FF2B5EF4-FFF2-40B4-BE49-F238E27FC236}">
                  <a16:creationId xmlns:a16="http://schemas.microsoft.com/office/drawing/2014/main" id="{59471C87-C0B3-34DB-C0E7-4E0A0F2A4FFA}"/>
                </a:ext>
              </a:extLst>
            </p:cNvPr>
            <p:cNvSpPr/>
            <p:nvPr/>
          </p:nvSpPr>
          <p:spPr>
            <a:xfrm>
              <a:off x="5257179" y="2092415"/>
              <a:ext cx="2191817" cy="3217382"/>
            </a:xfrm>
            <a:custGeom>
              <a:avLst/>
              <a:gdLst/>
              <a:ahLst/>
              <a:cxnLst/>
              <a:rect l="l" t="t" r="r" b="b"/>
              <a:pathLst>
                <a:path w="2191817" h="3217382">
                  <a:moveTo>
                    <a:pt x="204709" y="0"/>
                  </a:moveTo>
                  <a:moveTo>
                    <a:pt x="204709" y="0"/>
                  </a:moveTo>
                  <a:lnTo>
                    <a:pt x="1987108" y="0"/>
                  </a:lnTo>
                  <a:quadBezTo>
                    <a:pt x="2191817" y="0"/>
                    <a:pt x="2191817" y="220811"/>
                  </a:quadBezTo>
                  <a:lnTo>
                    <a:pt x="2191817" y="2996571"/>
                  </a:lnTo>
                  <a:quadBezTo>
                    <a:pt x="2191817" y="3217382"/>
                    <a:pt x="1987108" y="3217382"/>
                  </a:quadBezTo>
                  <a:lnTo>
                    <a:pt x="204709" y="3217382"/>
                  </a:lnTo>
                  <a:quadBezTo>
                    <a:pt x="0" y="3217382"/>
                    <a:pt x="0" y="2996571"/>
                  </a:quadBezTo>
                  <a:lnTo>
                    <a:pt x="0" y="220811"/>
                  </a:lnTo>
                  <a:quadBezTo>
                    <a:pt x="0" y="0"/>
                    <a:pt x="204709" y="0"/>
                  </a:quad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9525">
              <a:solidFill>
                <a:srgbClr val="003F91"/>
              </a:solidFill>
              <a:prstDash val="solid"/>
            </a:ln>
          </p:spPr>
          <p:txBody>
            <a:bodyPr/>
            <a:lstStyle/>
            <a:p>
              <a:endParaRPr lang="en-US" altLang="zh-CN" sz="1600" b="1" dirty="0"/>
            </a:p>
            <a:p>
              <a:endParaRPr lang="en-US" altLang="zh-CN" sz="1600" b="1" dirty="0"/>
            </a:p>
            <a:p>
              <a:r>
                <a:rPr lang="zh-CN" altLang="en-US" b="1" dirty="0"/>
                <a:t>阈值设定</a:t>
              </a:r>
            </a:p>
            <a:p>
              <a:r>
                <a:rPr lang="zh-CN" altLang="en-US" b="1" dirty="0"/>
                <a:t>目的</a:t>
              </a:r>
              <a:r>
                <a:rPr lang="zh-CN" altLang="en-US" dirty="0"/>
                <a:t>：定义何种程度的异常行为触发防御或告警。</a:t>
              </a:r>
              <a:endParaRPr lang="en-US" altLang="zh-CN" dirty="0"/>
            </a:p>
            <a:p>
              <a:r>
                <a:rPr lang="zh-CN" altLang="en-US" dirty="0"/>
                <a:t>静态阈值</a:t>
              </a:r>
              <a:endParaRPr lang="en-US" altLang="zh-CN" dirty="0"/>
            </a:p>
            <a:p>
              <a:r>
                <a:rPr lang="zh-CN" altLang="en-US" dirty="0"/>
                <a:t>动态阈值</a:t>
              </a:r>
              <a:endParaRPr lang="en-US" altLang="zh-CN" dirty="0"/>
            </a:p>
            <a:p>
              <a:r>
                <a:rPr lang="zh-CN" altLang="en-US" dirty="0"/>
                <a:t>分级阈值</a:t>
              </a:r>
            </a:p>
          </p:txBody>
        </p:sp>
        <p:sp>
          <p:nvSpPr>
            <p:cNvPr id="18" name="Shape 17">
              <a:extLst>
                <a:ext uri="{FF2B5EF4-FFF2-40B4-BE49-F238E27FC236}">
                  <a16:creationId xmlns:a16="http://schemas.microsoft.com/office/drawing/2014/main" id="{CD73B2B0-5473-6887-0626-337239351484}"/>
                </a:ext>
              </a:extLst>
            </p:cNvPr>
            <p:cNvSpPr/>
            <p:nvPr/>
          </p:nvSpPr>
          <p:spPr>
            <a:xfrm rot="5400000">
              <a:off x="4937932" y="2371864"/>
              <a:ext cx="423666" cy="220184"/>
            </a:xfrm>
            <a:custGeom>
              <a:avLst/>
              <a:gdLst/>
              <a:ahLst/>
              <a:cxnLst/>
              <a:rect l="l" t="t" r="r" b="b"/>
              <a:pathLst>
                <a:path w="423666" h="220184">
                  <a:moveTo>
                    <a:pt x="110092" y="0"/>
                  </a:moveTo>
                  <a:moveTo>
                    <a:pt x="110092" y="0"/>
                  </a:moveTo>
                  <a:lnTo>
                    <a:pt x="313574" y="0"/>
                  </a:lnTo>
                  <a:quadBezTo>
                    <a:pt x="423666" y="0"/>
                    <a:pt x="423666" y="110092"/>
                  </a:quadBezTo>
                  <a:lnTo>
                    <a:pt x="423666" y="110092"/>
                  </a:lnTo>
                  <a:quadBezTo>
                    <a:pt x="423666" y="220184"/>
                    <a:pt x="313574" y="220184"/>
                  </a:quadBezTo>
                  <a:lnTo>
                    <a:pt x="110092" y="220184"/>
                  </a:lnTo>
                  <a:quadBezTo>
                    <a:pt x="0" y="220184"/>
                    <a:pt x="0" y="110092"/>
                  </a:quadBezTo>
                  <a:lnTo>
                    <a:pt x="0" y="110092"/>
                  </a:lnTo>
                  <a:quadBezTo>
                    <a:pt x="0" y="0"/>
                    <a:pt x="110092" y="0"/>
                  </a:quadBezTo>
                  <a:close/>
                </a:path>
              </a:pathLst>
            </a:custGeom>
            <a:solidFill>
              <a:srgbClr val="4287F0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Shape 18">
              <a:extLst>
                <a:ext uri="{FF2B5EF4-FFF2-40B4-BE49-F238E27FC236}">
                  <a16:creationId xmlns:a16="http://schemas.microsoft.com/office/drawing/2014/main" id="{A1A81C8E-BF76-6DCD-8159-8CE45FD8DA3B}"/>
                </a:ext>
              </a:extLst>
            </p:cNvPr>
            <p:cNvSpPr/>
            <p:nvPr/>
          </p:nvSpPr>
          <p:spPr>
            <a:xfrm>
              <a:off x="5040780" y="2205852"/>
              <a:ext cx="1095138" cy="367710"/>
            </a:xfrm>
            <a:custGeom>
              <a:avLst/>
              <a:gdLst/>
              <a:ahLst/>
              <a:cxnLst/>
              <a:rect l="l" t="t" r="r" b="b"/>
              <a:pathLst>
                <a:path w="1095138" h="367710">
                  <a:moveTo>
                    <a:pt x="183855" y="0"/>
                  </a:moveTo>
                  <a:moveTo>
                    <a:pt x="183855" y="0"/>
                  </a:moveTo>
                  <a:lnTo>
                    <a:pt x="911282" y="0"/>
                  </a:lnTo>
                  <a:quadBezTo>
                    <a:pt x="1095138" y="0"/>
                    <a:pt x="1095138" y="183855"/>
                  </a:quadBezTo>
                  <a:lnTo>
                    <a:pt x="1095138" y="183855"/>
                  </a:lnTo>
                  <a:quadBezTo>
                    <a:pt x="1095138" y="367710"/>
                    <a:pt x="911282" y="367710"/>
                  </a:quadBezTo>
                  <a:lnTo>
                    <a:pt x="183855" y="367710"/>
                  </a:lnTo>
                  <a:quadBezTo>
                    <a:pt x="0" y="367710"/>
                    <a:pt x="0" y="183855"/>
                  </a:quadBezTo>
                  <a:lnTo>
                    <a:pt x="0" y="183855"/>
                  </a:lnTo>
                  <a:quadBezTo>
                    <a:pt x="0" y="0"/>
                    <a:pt x="183855" y="0"/>
                  </a:quadBezTo>
                  <a:close/>
                </a:path>
              </a:pathLst>
            </a:custGeom>
            <a:solidFill>
              <a:srgbClr val="5196FF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 19">
              <a:extLst>
                <a:ext uri="{FF2B5EF4-FFF2-40B4-BE49-F238E27FC236}">
                  <a16:creationId xmlns:a16="http://schemas.microsoft.com/office/drawing/2014/main" id="{D8154B7C-4C00-19BE-574F-36F44496A4E3}"/>
                </a:ext>
              </a:extLst>
            </p:cNvPr>
            <p:cNvSpPr/>
            <p:nvPr/>
          </p:nvSpPr>
          <p:spPr>
            <a:xfrm>
              <a:off x="5257179" y="2092527"/>
              <a:ext cx="878739" cy="540148"/>
            </a:xfrm>
            <a:prstGeom prst="rect">
              <a:avLst/>
            </a:prstGeom>
            <a:noFill/>
          </p:spPr>
          <p:txBody>
            <a:bodyPr wrap="square" lIns="95250" tIns="95250" rIns="95250" bIns="95250" rtlCol="0" anchor="t">
              <a:spAutoFit/>
            </a:bodyPr>
            <a:lstStyle/>
            <a:p>
              <a:pPr marL="0" indent="0">
                <a:lnSpc>
                  <a:spcPct val="113000"/>
                </a:lnSpc>
                <a:spcBef>
                  <a:spcPts val="375"/>
                </a:spcBef>
                <a:buNone/>
              </a:pPr>
              <a:r>
                <a:rPr lang="en-US" sz="216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02</a:t>
              </a:r>
              <a:endParaRPr lang="en-US" sz="1440" dirty="0"/>
            </a:p>
          </p:txBody>
        </p:sp>
      </p:grpSp>
    </p:spTree>
    <p:extLst>
      <p:ext uri="{BB962C8B-B14F-4D97-AF65-F5344CB8AC3E}">
        <p14:creationId xmlns:p14="http://schemas.microsoft.com/office/powerpoint/2010/main" val="1765203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881D1-18FC-6298-CADC-7A9B5FC00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C8E84555-E55A-7C73-5AFC-18C570B57043}"/>
              </a:ext>
            </a:extLst>
          </p:cNvPr>
          <p:cNvSpPr/>
          <p:nvPr/>
        </p:nvSpPr>
        <p:spPr>
          <a:xfrm>
            <a:off x="-1" y="4545845"/>
            <a:ext cx="12191999" cy="1408176"/>
          </a:xfrm>
          <a:custGeom>
            <a:avLst/>
            <a:gdLst/>
            <a:ahLst/>
            <a:cxnLst/>
            <a:rect l="l" t="t" r="r" b="b"/>
            <a:pathLst>
              <a:path w="9144000" h="1408176">
                <a:moveTo>
                  <a:pt x="0" y="0"/>
                </a:moveTo>
                <a:moveTo>
                  <a:pt x="0" y="0"/>
                </a:moveTo>
                <a:lnTo>
                  <a:pt x="9144000" y="0"/>
                </a:lnTo>
                <a:lnTo>
                  <a:pt x="9144000" y="1408176"/>
                </a:lnTo>
                <a:lnTo>
                  <a:pt x="0" y="1408176"/>
                </a:lnTo>
                <a:close/>
              </a:path>
            </a:pathLst>
          </a:custGeom>
          <a:solidFill>
            <a:srgbClr val="0070C0"/>
          </a:solidFill>
        </p:spPr>
        <p:txBody>
          <a:bodyPr/>
          <a:lstStyle/>
          <a:p>
            <a:endParaRPr lang="zh-CN" altLang="en-US"/>
          </a:p>
        </p:txBody>
      </p:sp>
      <p:pic>
        <p:nvPicPr>
          <p:cNvPr id="11" name="图片占位符 15" descr="数据点数字背景">
            <a:extLst>
              <a:ext uri="{FF2B5EF4-FFF2-40B4-BE49-F238E27FC236}">
                <a16:creationId xmlns:a16="http://schemas.microsoft.com/office/drawing/2014/main" id="{FA5399F4-7816-A2B4-1FA8-8B61CD48EF8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4594"/>
            <a:ext cx="12192000" cy="3771878"/>
          </a:xfrm>
        </p:spPr>
      </p:pic>
      <p:sp>
        <p:nvSpPr>
          <p:cNvPr id="2" name="Text 1">
            <a:extLst>
              <a:ext uri="{FF2B5EF4-FFF2-40B4-BE49-F238E27FC236}">
                <a16:creationId xmlns:a16="http://schemas.microsoft.com/office/drawing/2014/main" id="{97F23D4D-0460-DE53-36A7-6D7B07BE437A}"/>
              </a:ext>
            </a:extLst>
          </p:cNvPr>
          <p:cNvSpPr/>
          <p:nvPr/>
        </p:nvSpPr>
        <p:spPr>
          <a:xfrm>
            <a:off x="377601" y="4942413"/>
            <a:ext cx="741298" cy="635559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88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44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BE4C75B-0698-0C18-0466-FC6E35EAC941}"/>
              </a:ext>
            </a:extLst>
          </p:cNvPr>
          <p:cNvSpPr/>
          <p:nvPr/>
        </p:nvSpPr>
        <p:spPr>
          <a:xfrm>
            <a:off x="1118899" y="4921895"/>
            <a:ext cx="7693921" cy="656077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zh-CN" altLang="en-US" sz="288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技术路线</a:t>
            </a:r>
            <a:endParaRPr lang="en-US" sz="1440" dirty="0"/>
          </a:p>
        </p:txBody>
      </p:sp>
    </p:spTree>
    <p:extLst>
      <p:ext uri="{BB962C8B-B14F-4D97-AF65-F5344CB8AC3E}">
        <p14:creationId xmlns:p14="http://schemas.microsoft.com/office/powerpoint/2010/main" val="3531445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内容占位符 18" descr="图形用户界面&#10;&#10;AI 生成的内容可能不正确。">
            <a:extLst>
              <a:ext uri="{FF2B5EF4-FFF2-40B4-BE49-F238E27FC236}">
                <a16:creationId xmlns:a16="http://schemas.microsoft.com/office/drawing/2014/main" id="{86B51F8F-3F7B-2C04-7091-CD8284492FE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solidFill>
            <a:schemeClr val="tx1"/>
          </a:solidFill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39680A51-D744-673C-0498-AFF32ABF3236}"/>
              </a:ext>
            </a:extLst>
          </p:cNvPr>
          <p:cNvSpPr txBox="1"/>
          <p:nvPr/>
        </p:nvSpPr>
        <p:spPr>
          <a:xfrm>
            <a:off x="531779" y="408563"/>
            <a:ext cx="34371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accent1"/>
                </a:solidFill>
              </a:rPr>
              <a:t>系统架构设计</a:t>
            </a:r>
          </a:p>
        </p:txBody>
      </p:sp>
    </p:spTree>
    <p:extLst>
      <p:ext uri="{BB962C8B-B14F-4D97-AF65-F5344CB8AC3E}">
        <p14:creationId xmlns:p14="http://schemas.microsoft.com/office/powerpoint/2010/main" val="2155614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C2D29-811C-DBA4-2B95-45B8E030D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D8BB4B-5EB3-956F-2153-72A4947F0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498474"/>
            <a:ext cx="7960421" cy="1450217"/>
          </a:xfrm>
        </p:spPr>
        <p:txBody>
          <a:bodyPr rtlCol="0"/>
          <a:lstStyle/>
          <a:p>
            <a:r>
              <a:rPr lang="zh-CN" altLang="en-US" dirty="0"/>
              <a:t>受控回连仿真（</a:t>
            </a:r>
            <a:r>
              <a:rPr lang="en-US" altLang="zh-CN" dirty="0"/>
              <a:t>Go Agent</a:t>
            </a:r>
            <a:r>
              <a:rPr lang="zh-CN" altLang="en-US" dirty="0"/>
              <a:t>）</a:t>
            </a:r>
            <a:endParaRPr lang="zh-c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CF7BDD-F41C-7559-722B-D2570F08A0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0862" y="1315915"/>
            <a:ext cx="467628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1500" dirty="0">
                <a:latin typeface="Arial" panose="020B0604020202020204" pitchFamily="34" charset="0"/>
              </a:rPr>
              <a:t>加密、隐蔽、指令通信多种类型的真实仿真流量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1500" dirty="0">
                <a:latin typeface="Arial" panose="020B0604020202020204" pitchFamily="34" charset="0"/>
              </a:rPr>
              <a:t>用于训练和验证网络流量检测系统的多样化测试样本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1500" dirty="0">
                <a:latin typeface="Arial" panose="020B0604020202020204" pitchFamily="34" charset="0"/>
              </a:rPr>
              <a:t>可大规模、可重复的攻击行为仿真环境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1500" dirty="0">
                <a:latin typeface="Arial" panose="020B0604020202020204" pitchFamily="34" charset="0"/>
              </a:rPr>
              <a:t>安全隔离的测试平台，避免任何实际危害</a:t>
            </a:r>
            <a:endParaRPr lang="en-US" altLang="zh-CN" sz="1500" dirty="0">
              <a:latin typeface="Arial" panose="020B0604020202020204" pitchFamily="34" charset="0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9DC8A31-6284-0ADB-A93F-5DFD01B6EA0C}"/>
              </a:ext>
            </a:extLst>
          </p:cNvPr>
          <p:cNvGrpSpPr/>
          <p:nvPr/>
        </p:nvGrpSpPr>
        <p:grpSpPr>
          <a:xfrm>
            <a:off x="550862" y="2423910"/>
            <a:ext cx="11500930" cy="4031753"/>
            <a:chOff x="1535939" y="2802125"/>
            <a:chExt cx="7862012" cy="3106060"/>
          </a:xfrm>
        </p:grpSpPr>
        <p:sp>
          <p:nvSpPr>
            <p:cNvPr id="5" name="Shape 1">
              <a:extLst>
                <a:ext uri="{FF2B5EF4-FFF2-40B4-BE49-F238E27FC236}">
                  <a16:creationId xmlns:a16="http://schemas.microsoft.com/office/drawing/2014/main" id="{E42AF677-0A3B-4F53-6D78-07A30860D6E2}"/>
                </a:ext>
              </a:extLst>
            </p:cNvPr>
            <p:cNvSpPr/>
            <p:nvPr/>
          </p:nvSpPr>
          <p:spPr>
            <a:xfrm>
              <a:off x="1535939" y="3575446"/>
              <a:ext cx="2487168" cy="2332625"/>
            </a:xfrm>
            <a:custGeom>
              <a:avLst/>
              <a:gdLst/>
              <a:ahLst/>
              <a:cxnLst/>
              <a:rect l="l" t="t" r="r" b="b"/>
              <a:pathLst>
                <a:path w="2487168" h="2332625">
                  <a:moveTo>
                    <a:pt x="260604" y="0"/>
                  </a:moveTo>
                  <a:moveTo>
                    <a:pt x="260604" y="0"/>
                  </a:moveTo>
                  <a:lnTo>
                    <a:pt x="2226564" y="0"/>
                  </a:lnTo>
                  <a:quadBezTo>
                    <a:pt x="2487168" y="0"/>
                    <a:pt x="2487168" y="291578"/>
                  </a:quadBezTo>
                  <a:lnTo>
                    <a:pt x="2487168" y="2041047"/>
                  </a:lnTo>
                  <a:quadBezTo>
                    <a:pt x="2487168" y="2332625"/>
                    <a:pt x="2226564" y="2332625"/>
                  </a:quadBezTo>
                  <a:lnTo>
                    <a:pt x="260604" y="2332625"/>
                  </a:lnTo>
                  <a:quadBezTo>
                    <a:pt x="0" y="2332625"/>
                    <a:pt x="0" y="2041047"/>
                  </a:quadBezTo>
                  <a:lnTo>
                    <a:pt x="0" y="291578"/>
                  </a:lnTo>
                  <a:quadBezTo>
                    <a:pt x="0" y="0"/>
                    <a:pt x="260604" y="0"/>
                  </a:quadBezTo>
                  <a:close/>
                </a:path>
              </a:pathLst>
            </a:custGeom>
            <a:solidFill>
              <a:schemeClr val="tx1">
                <a:alpha val="10000"/>
              </a:schemeClr>
            </a:solidFill>
          </p:spPr>
          <p:txBody>
            <a:bodyPr/>
            <a:lstStyle/>
            <a:p>
              <a:r>
                <a:rPr lang="zh-CN" altLang="en-US" dirty="0"/>
                <a:t>加密流量回连</a:t>
              </a:r>
              <a:endParaRPr lang="en-US" altLang="zh-CN" dirty="0"/>
            </a:p>
            <a:p>
              <a:r>
                <a:rPr lang="zh-CN" altLang="en-US" sz="1600" dirty="0"/>
                <a:t>该模块用于模拟攻击者控制端与被控端之间的加密通信流量模式</a:t>
              </a:r>
              <a:endParaRPr lang="en-US" altLang="zh-CN" sz="1600" dirty="0"/>
            </a:p>
            <a:p>
              <a:r>
                <a:rPr lang="zh-CN" altLang="en-US" b="1" dirty="0"/>
                <a:t>技术路线要点：</a:t>
              </a:r>
              <a:endParaRPr lang="zh-CN" altLang="en-US" dirty="0"/>
            </a:p>
            <a:p>
              <a:r>
                <a:rPr lang="zh-CN" altLang="en-US" sz="1600" dirty="0"/>
                <a:t>使用 </a:t>
              </a:r>
              <a:r>
                <a:rPr lang="en-US" altLang="zh-CN" sz="1600" dirty="0"/>
                <a:t>Go </a:t>
              </a:r>
              <a:r>
                <a:rPr lang="zh-CN" altLang="en-US" sz="1600" dirty="0"/>
                <a:t>自带的加密库构建安全通信通道。模拟常见加密回连行为为检测系统提供多样化加密流量样本，用于分析与建模。</a:t>
              </a:r>
            </a:p>
            <a:p>
              <a:r>
                <a:rPr lang="zh-CN" altLang="en-US" b="1" dirty="0"/>
                <a:t>目的：</a:t>
              </a:r>
              <a:br>
                <a:rPr lang="zh-CN" altLang="en-US" dirty="0"/>
              </a:br>
              <a:r>
                <a:rPr lang="zh-CN" altLang="en-US" sz="1600" dirty="0"/>
                <a:t>用于让检测系统在面对加密流量时仍能识别异常通信行为。</a:t>
              </a:r>
            </a:p>
            <a:p>
              <a:endParaRPr lang="zh-CN" altLang="en-US" dirty="0"/>
            </a:p>
          </p:txBody>
        </p:sp>
        <p:sp>
          <p:nvSpPr>
            <p:cNvPr id="6" name="Shape 2">
              <a:extLst>
                <a:ext uri="{FF2B5EF4-FFF2-40B4-BE49-F238E27FC236}">
                  <a16:creationId xmlns:a16="http://schemas.microsoft.com/office/drawing/2014/main" id="{97C5179B-74B9-84DA-953E-9DBBEF587332}"/>
                </a:ext>
              </a:extLst>
            </p:cNvPr>
            <p:cNvSpPr/>
            <p:nvPr/>
          </p:nvSpPr>
          <p:spPr>
            <a:xfrm>
              <a:off x="1961851" y="3318231"/>
              <a:ext cx="530506" cy="257215"/>
            </a:xfrm>
            <a:custGeom>
              <a:avLst/>
              <a:gdLst/>
              <a:ahLst/>
              <a:cxnLst/>
              <a:rect l="l" t="t" r="r" b="b"/>
              <a:pathLst>
                <a:path w="530506" h="257215">
                  <a:moveTo>
                    <a:pt x="265253" y="0"/>
                  </a:moveTo>
                  <a:moveTo>
                    <a:pt x="265253" y="0"/>
                  </a:moveTo>
                  <a:lnTo>
                    <a:pt x="0" y="257215"/>
                  </a:lnTo>
                  <a:lnTo>
                    <a:pt x="530506" y="257215"/>
                  </a:lnTo>
                  <a:close/>
                </a:path>
              </a:pathLst>
            </a:custGeom>
            <a:solidFill>
              <a:schemeClr val="tx1">
                <a:alpha val="10000"/>
              </a:schemeClr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4FDE5010-0AA5-0CCA-BADD-E53A10F78DD3}"/>
                </a:ext>
              </a:extLst>
            </p:cNvPr>
            <p:cNvSpPr/>
            <p:nvPr/>
          </p:nvSpPr>
          <p:spPr>
            <a:xfrm>
              <a:off x="1535939" y="2802125"/>
              <a:ext cx="426013" cy="426013"/>
            </a:xfrm>
            <a:custGeom>
              <a:avLst/>
              <a:gdLst/>
              <a:ahLst/>
              <a:cxnLst/>
              <a:rect l="l" t="t" r="r" b="b"/>
              <a:pathLst>
                <a:path w="426013" h="426013">
                  <a:moveTo>
                    <a:pt x="213006" y="0"/>
                  </a:moveTo>
                  <a:moveTo>
                    <a:pt x="213006" y="0"/>
                  </a:moveTo>
                  <a:cubicBezTo>
                    <a:pt x="330568" y="0"/>
                    <a:pt x="426013" y="95445"/>
                    <a:pt x="426013" y="213006"/>
                  </a:cubicBezTo>
                  <a:cubicBezTo>
                    <a:pt x="426013" y="330568"/>
                    <a:pt x="330568" y="426013"/>
                    <a:pt x="213006" y="426013"/>
                  </a:cubicBezTo>
                  <a:cubicBezTo>
                    <a:pt x="95445" y="426013"/>
                    <a:pt x="0" y="330568"/>
                    <a:pt x="0" y="213006"/>
                  </a:cubicBezTo>
                  <a:cubicBezTo>
                    <a:pt x="0" y="95445"/>
                    <a:pt x="95445" y="0"/>
                    <a:pt x="213006" y="0"/>
                  </a:cubicBezTo>
                  <a:close/>
                </a:path>
              </a:pathLst>
            </a:custGeom>
            <a:solidFill>
              <a:srgbClr val="0084FF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Shape 4">
              <a:extLst>
                <a:ext uri="{FF2B5EF4-FFF2-40B4-BE49-F238E27FC236}">
                  <a16:creationId xmlns:a16="http://schemas.microsoft.com/office/drawing/2014/main" id="{300C275D-9326-2AFD-1B22-5357BB11D4EA}"/>
                </a:ext>
              </a:extLst>
            </p:cNvPr>
            <p:cNvSpPr/>
            <p:nvPr/>
          </p:nvSpPr>
          <p:spPr>
            <a:xfrm>
              <a:off x="2484420" y="3072690"/>
              <a:ext cx="1334304" cy="0"/>
            </a:xfrm>
            <a:custGeom>
              <a:avLst/>
              <a:gdLst/>
              <a:ahLst/>
              <a:cxnLst/>
              <a:rect l="l" t="t" r="r" b="b"/>
              <a:pathLst>
                <a:path w="1334304">
                  <a:moveTo>
                    <a:pt x="0" y="0"/>
                  </a:moveTo>
                  <a:moveTo>
                    <a:pt x="0" y="0"/>
                  </a:moveTo>
                  <a:lnTo>
                    <a:pt x="1334304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prstDash val="solid"/>
              <a:headEnd type="none"/>
              <a:tailEnd type="arrow"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0" name="Shape 6">
              <a:extLst>
                <a:ext uri="{FF2B5EF4-FFF2-40B4-BE49-F238E27FC236}">
                  <a16:creationId xmlns:a16="http://schemas.microsoft.com/office/drawing/2014/main" id="{A461D09B-30EB-6C23-B6E2-A2B7BFF3089D}"/>
                </a:ext>
              </a:extLst>
            </p:cNvPr>
            <p:cNvSpPr/>
            <p:nvPr/>
          </p:nvSpPr>
          <p:spPr>
            <a:xfrm>
              <a:off x="4234334" y="3575446"/>
              <a:ext cx="2487168" cy="2332625"/>
            </a:xfrm>
            <a:custGeom>
              <a:avLst/>
              <a:gdLst/>
              <a:ahLst/>
              <a:cxnLst/>
              <a:rect l="l" t="t" r="r" b="b"/>
              <a:pathLst>
                <a:path w="2487168" h="2332625">
                  <a:moveTo>
                    <a:pt x="260604" y="0"/>
                  </a:moveTo>
                  <a:moveTo>
                    <a:pt x="260604" y="0"/>
                  </a:moveTo>
                  <a:lnTo>
                    <a:pt x="2226564" y="0"/>
                  </a:lnTo>
                  <a:quadBezTo>
                    <a:pt x="2487168" y="0"/>
                    <a:pt x="2487168" y="291578"/>
                  </a:quadBezTo>
                  <a:lnTo>
                    <a:pt x="2487168" y="2041047"/>
                  </a:lnTo>
                  <a:quadBezTo>
                    <a:pt x="2487168" y="2332625"/>
                    <a:pt x="2226564" y="2332625"/>
                  </a:quadBezTo>
                  <a:lnTo>
                    <a:pt x="260604" y="2332625"/>
                  </a:lnTo>
                  <a:quadBezTo>
                    <a:pt x="0" y="2332625"/>
                    <a:pt x="0" y="2041047"/>
                  </a:quadBezTo>
                  <a:lnTo>
                    <a:pt x="0" y="291578"/>
                  </a:lnTo>
                  <a:quadBezTo>
                    <a:pt x="0" y="0"/>
                    <a:pt x="260604" y="0"/>
                  </a:quadBezTo>
                  <a:close/>
                </a:path>
              </a:pathLst>
            </a:custGeom>
            <a:solidFill>
              <a:schemeClr val="tx1">
                <a:alpha val="10000"/>
              </a:schemeClr>
            </a:solidFill>
          </p:spPr>
          <p:txBody>
            <a:bodyPr/>
            <a:lstStyle/>
            <a:p>
              <a:r>
                <a:rPr lang="zh-CN" altLang="en-US" b="1" dirty="0"/>
                <a:t>隐蔽通信行为仿真</a:t>
              </a:r>
              <a:endParaRPr lang="en-US" altLang="zh-CN" b="1" dirty="0"/>
            </a:p>
            <a:p>
              <a:r>
                <a:rPr lang="zh-CN" altLang="en-US" sz="1600" dirty="0"/>
                <a:t>该部分用于模拟网络攻击者典型的“隐蔽化”策略，从而生成低特征、低频率、难检测的通信行为</a:t>
              </a:r>
            </a:p>
            <a:p>
              <a:r>
                <a:rPr lang="zh-CN" altLang="en-US" b="1" dirty="0"/>
                <a:t>技术路线要点：</a:t>
              </a:r>
              <a:endParaRPr lang="zh-CN" altLang="en-US" dirty="0"/>
            </a:p>
            <a:p>
              <a:r>
                <a:rPr lang="zh-CN" altLang="en-US" sz="1600" dirty="0"/>
                <a:t>模拟基于时序的通信模式伪装为正常流量类型</a:t>
              </a:r>
              <a:endParaRPr lang="en-US" altLang="zh-CN" sz="1600" dirty="0"/>
            </a:p>
            <a:p>
              <a:r>
                <a:rPr lang="zh-CN" altLang="en-US" b="1" dirty="0"/>
                <a:t>目的：</a:t>
              </a:r>
              <a:br>
                <a:rPr lang="zh-CN" altLang="en-US" dirty="0"/>
              </a:br>
              <a:r>
                <a:rPr lang="zh-CN" altLang="en-US" sz="1600" dirty="0"/>
                <a:t>为异常检测模块提供隐蔽型威胁流量样本，帮助系统识别更智能的隐蔽通信。</a:t>
              </a:r>
            </a:p>
            <a:p>
              <a:endParaRPr lang="zh-CN" altLang="en-US" dirty="0"/>
            </a:p>
          </p:txBody>
        </p:sp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71D618A2-31BB-ACBF-8BFA-C64F5B529412}"/>
                </a:ext>
              </a:extLst>
            </p:cNvPr>
            <p:cNvSpPr/>
            <p:nvPr/>
          </p:nvSpPr>
          <p:spPr>
            <a:xfrm>
              <a:off x="6910783" y="3575560"/>
              <a:ext cx="2487168" cy="2332625"/>
            </a:xfrm>
            <a:custGeom>
              <a:avLst/>
              <a:gdLst/>
              <a:ahLst/>
              <a:cxnLst/>
              <a:rect l="l" t="t" r="r" b="b"/>
              <a:pathLst>
                <a:path w="2487168" h="2332625">
                  <a:moveTo>
                    <a:pt x="260604" y="0"/>
                  </a:moveTo>
                  <a:moveTo>
                    <a:pt x="260604" y="0"/>
                  </a:moveTo>
                  <a:lnTo>
                    <a:pt x="2226564" y="0"/>
                  </a:lnTo>
                  <a:quadBezTo>
                    <a:pt x="2487168" y="0"/>
                    <a:pt x="2487168" y="291578"/>
                  </a:quadBezTo>
                  <a:lnTo>
                    <a:pt x="2487168" y="2041047"/>
                  </a:lnTo>
                  <a:quadBezTo>
                    <a:pt x="2487168" y="2332625"/>
                    <a:pt x="2226564" y="2332625"/>
                  </a:quadBezTo>
                  <a:lnTo>
                    <a:pt x="260604" y="2332625"/>
                  </a:lnTo>
                  <a:quadBezTo>
                    <a:pt x="0" y="2332625"/>
                    <a:pt x="0" y="2041047"/>
                  </a:quadBezTo>
                  <a:lnTo>
                    <a:pt x="0" y="291578"/>
                  </a:lnTo>
                  <a:quadBezTo>
                    <a:pt x="0" y="0"/>
                    <a:pt x="260604" y="0"/>
                  </a:quadBezTo>
                  <a:close/>
                </a:path>
              </a:pathLst>
            </a:custGeom>
            <a:solidFill>
              <a:schemeClr val="tx1">
                <a:alpha val="10000"/>
              </a:schemeClr>
            </a:solidFill>
          </p:spPr>
          <p:txBody>
            <a:bodyPr/>
            <a:lstStyle/>
            <a:p>
              <a:r>
                <a:rPr lang="zh-CN" altLang="en-US" b="1" dirty="0"/>
                <a:t>命令执行功能仿真</a:t>
              </a:r>
              <a:endParaRPr lang="en-US" altLang="zh-CN" b="1" dirty="0"/>
            </a:p>
            <a:p>
              <a:r>
                <a:rPr lang="zh-CN" altLang="en-US" sz="1600" dirty="0"/>
                <a:t>此功能用于模拟典型远程控制系统</a:t>
              </a:r>
              <a:r>
                <a:rPr lang="en-US" altLang="zh-CN" sz="1600" dirty="0"/>
                <a:t>C2 </a:t>
              </a:r>
              <a:r>
                <a:rPr lang="zh-CN" altLang="en-US" sz="1600" dirty="0"/>
                <a:t>流程</a:t>
              </a:r>
              <a:endParaRPr lang="en-US" altLang="zh-CN" sz="1600" dirty="0"/>
            </a:p>
            <a:p>
              <a:r>
                <a:rPr lang="zh-CN" altLang="en-US" b="1" dirty="0"/>
                <a:t>技术路线要点：</a:t>
              </a:r>
              <a:endParaRPr lang="zh-CN" altLang="en-US" dirty="0"/>
            </a:p>
            <a:p>
              <a:r>
                <a:rPr lang="zh-CN" altLang="en-US" sz="1600" dirty="0"/>
                <a:t>实现命令任务解析模块模拟 </a:t>
              </a:r>
              <a:r>
                <a:rPr lang="en-US" altLang="zh-CN" sz="1600" dirty="0"/>
                <a:t>C2 </a:t>
              </a:r>
              <a:r>
                <a:rPr lang="zh-CN" altLang="en-US" sz="1600" dirty="0"/>
                <a:t>流程。 “指令下发</a:t>
              </a:r>
              <a:r>
                <a:rPr lang="en-US" altLang="zh-CN" sz="1600" dirty="0"/>
                <a:t>—</a:t>
              </a:r>
              <a:r>
                <a:rPr lang="zh-CN" altLang="en-US" sz="1600" dirty="0"/>
                <a:t>执行</a:t>
              </a:r>
              <a:r>
                <a:rPr lang="en-US" altLang="zh-CN" sz="1600" dirty="0"/>
                <a:t>—</a:t>
              </a:r>
              <a:r>
                <a:rPr lang="zh-CN" altLang="en-US" sz="1600" dirty="0"/>
                <a:t>回传”</a:t>
              </a:r>
            </a:p>
            <a:p>
              <a:r>
                <a:rPr lang="zh-CN" altLang="en-US" sz="1600" dirty="0"/>
                <a:t>任务执行结果以标准化格式回传，生成可用于检测建模的通信特征。</a:t>
              </a:r>
            </a:p>
            <a:p>
              <a:r>
                <a:rPr lang="zh-CN" altLang="en-US" sz="1600" dirty="0"/>
                <a:t> </a:t>
              </a:r>
              <a:r>
                <a:rPr lang="en-US" altLang="zh-CN" sz="1600" dirty="0"/>
                <a:t>goroutine </a:t>
              </a:r>
              <a:r>
                <a:rPr lang="zh-CN" altLang="en-US" sz="1600" dirty="0"/>
                <a:t>模拟多点回连场景。</a:t>
              </a:r>
            </a:p>
            <a:p>
              <a:r>
                <a:rPr lang="zh-CN" altLang="en-US" b="1" dirty="0"/>
                <a:t>目的：</a:t>
              </a:r>
              <a:br>
                <a:rPr lang="zh-CN" altLang="en-US" dirty="0"/>
              </a:br>
              <a:r>
                <a:rPr lang="zh-CN" altLang="en-US" sz="1600" dirty="0"/>
                <a:t>生成带有“指令通信特征”的流量样本，提高检测系统识别 </a:t>
              </a:r>
              <a:r>
                <a:rPr lang="en-US" altLang="zh-CN" sz="1600" dirty="0"/>
                <a:t>C2 </a:t>
              </a:r>
              <a:r>
                <a:rPr lang="zh-CN" altLang="en-US" sz="1600" dirty="0"/>
                <a:t>控制流量的能力。</a:t>
              </a:r>
            </a:p>
            <a:p>
              <a:endParaRPr lang="zh-CN" altLang="en-US" dirty="0"/>
            </a:p>
          </p:txBody>
        </p:sp>
        <p:sp>
          <p:nvSpPr>
            <p:cNvPr id="17" name="Text 13">
              <a:extLst>
                <a:ext uri="{FF2B5EF4-FFF2-40B4-BE49-F238E27FC236}">
                  <a16:creationId xmlns:a16="http://schemas.microsoft.com/office/drawing/2014/main" id="{9662629A-32FE-F66B-810D-292723E48094}"/>
                </a:ext>
              </a:extLst>
            </p:cNvPr>
            <p:cNvSpPr/>
            <p:nvPr/>
          </p:nvSpPr>
          <p:spPr>
            <a:xfrm>
              <a:off x="1535939" y="2831474"/>
              <a:ext cx="679728" cy="365760"/>
            </a:xfrm>
            <a:prstGeom prst="rect">
              <a:avLst/>
            </a:prstGeom>
            <a:noFill/>
          </p:spPr>
          <p:txBody>
            <a:bodyPr wrap="square" lIns="95250" tIns="95250" rIns="95250" bIns="95250" rtlCol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375"/>
                </a:spcBef>
                <a:buNone/>
              </a:pPr>
              <a:r>
                <a:rPr lang="en-US" sz="144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01</a:t>
              </a:r>
              <a:endParaRPr lang="en-US" sz="1440" dirty="0"/>
            </a:p>
          </p:txBody>
        </p:sp>
        <p:sp>
          <p:nvSpPr>
            <p:cNvPr id="18" name="Shape 14">
              <a:extLst>
                <a:ext uri="{FF2B5EF4-FFF2-40B4-BE49-F238E27FC236}">
                  <a16:creationId xmlns:a16="http://schemas.microsoft.com/office/drawing/2014/main" id="{15DB8345-87E3-681A-041D-946F55A37CFB}"/>
                </a:ext>
              </a:extLst>
            </p:cNvPr>
            <p:cNvSpPr/>
            <p:nvPr/>
          </p:nvSpPr>
          <p:spPr>
            <a:xfrm>
              <a:off x="4234780" y="2802125"/>
              <a:ext cx="426013" cy="426013"/>
            </a:xfrm>
            <a:custGeom>
              <a:avLst/>
              <a:gdLst/>
              <a:ahLst/>
              <a:cxnLst/>
              <a:rect l="l" t="t" r="r" b="b"/>
              <a:pathLst>
                <a:path w="426013" h="426013">
                  <a:moveTo>
                    <a:pt x="213006" y="0"/>
                  </a:moveTo>
                  <a:moveTo>
                    <a:pt x="213006" y="0"/>
                  </a:moveTo>
                  <a:cubicBezTo>
                    <a:pt x="330568" y="0"/>
                    <a:pt x="426013" y="95445"/>
                    <a:pt x="426013" y="213006"/>
                  </a:cubicBezTo>
                  <a:cubicBezTo>
                    <a:pt x="426013" y="330568"/>
                    <a:pt x="330568" y="426013"/>
                    <a:pt x="213006" y="426013"/>
                  </a:cubicBezTo>
                  <a:cubicBezTo>
                    <a:pt x="95445" y="426013"/>
                    <a:pt x="0" y="330568"/>
                    <a:pt x="0" y="213006"/>
                  </a:cubicBezTo>
                  <a:cubicBezTo>
                    <a:pt x="0" y="95445"/>
                    <a:pt x="95445" y="0"/>
                    <a:pt x="213006" y="0"/>
                  </a:cubicBezTo>
                  <a:close/>
                </a:path>
              </a:pathLst>
            </a:custGeom>
            <a:solidFill>
              <a:srgbClr val="0084FF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 15">
              <a:extLst>
                <a:ext uri="{FF2B5EF4-FFF2-40B4-BE49-F238E27FC236}">
                  <a16:creationId xmlns:a16="http://schemas.microsoft.com/office/drawing/2014/main" id="{7A83DE7D-8AF2-7AAD-0237-84AA94FCDBBA}"/>
                </a:ext>
              </a:extLst>
            </p:cNvPr>
            <p:cNvSpPr/>
            <p:nvPr/>
          </p:nvSpPr>
          <p:spPr>
            <a:xfrm>
              <a:off x="4244025" y="2831474"/>
              <a:ext cx="709960" cy="365760"/>
            </a:xfrm>
            <a:prstGeom prst="rect">
              <a:avLst/>
            </a:prstGeom>
            <a:noFill/>
          </p:spPr>
          <p:txBody>
            <a:bodyPr wrap="square" lIns="95250" tIns="95250" rIns="95250" bIns="95250" rtlCol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375"/>
                </a:spcBef>
                <a:buNone/>
              </a:pPr>
              <a:r>
                <a:rPr lang="en-US" sz="144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02</a:t>
              </a:r>
              <a:endParaRPr lang="en-US" sz="1440" dirty="0"/>
            </a:p>
          </p:txBody>
        </p:sp>
        <p:sp>
          <p:nvSpPr>
            <p:cNvPr id="20" name="Shape 16">
              <a:extLst>
                <a:ext uri="{FF2B5EF4-FFF2-40B4-BE49-F238E27FC236}">
                  <a16:creationId xmlns:a16="http://schemas.microsoft.com/office/drawing/2014/main" id="{F7FCA918-7162-D2FC-C0D4-4C685C6FB3B5}"/>
                </a:ext>
              </a:extLst>
            </p:cNvPr>
            <p:cNvSpPr/>
            <p:nvPr/>
          </p:nvSpPr>
          <p:spPr>
            <a:xfrm>
              <a:off x="6910764" y="2802125"/>
              <a:ext cx="426013" cy="426013"/>
            </a:xfrm>
            <a:custGeom>
              <a:avLst/>
              <a:gdLst/>
              <a:ahLst/>
              <a:cxnLst/>
              <a:rect l="l" t="t" r="r" b="b"/>
              <a:pathLst>
                <a:path w="426013" h="426013">
                  <a:moveTo>
                    <a:pt x="213006" y="0"/>
                  </a:moveTo>
                  <a:moveTo>
                    <a:pt x="213006" y="0"/>
                  </a:moveTo>
                  <a:cubicBezTo>
                    <a:pt x="330568" y="0"/>
                    <a:pt x="426013" y="95445"/>
                    <a:pt x="426013" y="213006"/>
                  </a:cubicBezTo>
                  <a:cubicBezTo>
                    <a:pt x="426013" y="330568"/>
                    <a:pt x="330568" y="426013"/>
                    <a:pt x="213006" y="426013"/>
                  </a:cubicBezTo>
                  <a:cubicBezTo>
                    <a:pt x="95445" y="426013"/>
                    <a:pt x="0" y="330568"/>
                    <a:pt x="0" y="213006"/>
                  </a:cubicBezTo>
                  <a:cubicBezTo>
                    <a:pt x="0" y="95445"/>
                    <a:pt x="95445" y="0"/>
                    <a:pt x="213006" y="0"/>
                  </a:cubicBezTo>
                  <a:close/>
                </a:path>
              </a:pathLst>
            </a:custGeom>
            <a:solidFill>
              <a:srgbClr val="0084FF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17">
              <a:extLst>
                <a:ext uri="{FF2B5EF4-FFF2-40B4-BE49-F238E27FC236}">
                  <a16:creationId xmlns:a16="http://schemas.microsoft.com/office/drawing/2014/main" id="{75AB812C-27E7-B68F-1C4E-907BCA1CB407}"/>
                </a:ext>
              </a:extLst>
            </p:cNvPr>
            <p:cNvSpPr/>
            <p:nvPr/>
          </p:nvSpPr>
          <p:spPr>
            <a:xfrm>
              <a:off x="6911249" y="2831474"/>
              <a:ext cx="723664" cy="365760"/>
            </a:xfrm>
            <a:prstGeom prst="rect">
              <a:avLst/>
            </a:prstGeom>
            <a:noFill/>
          </p:spPr>
          <p:txBody>
            <a:bodyPr wrap="square" lIns="95250" tIns="95250" rIns="95250" bIns="95250" rtlCol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375"/>
                </a:spcBef>
                <a:buNone/>
              </a:pPr>
              <a:r>
                <a:rPr lang="en-US" sz="144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03</a:t>
              </a:r>
              <a:endParaRPr lang="en-US" sz="1440" dirty="0"/>
            </a:p>
          </p:txBody>
        </p:sp>
        <p:sp>
          <p:nvSpPr>
            <p:cNvPr id="22" name="Shape 18">
              <a:extLst>
                <a:ext uri="{FF2B5EF4-FFF2-40B4-BE49-F238E27FC236}">
                  <a16:creationId xmlns:a16="http://schemas.microsoft.com/office/drawing/2014/main" id="{D0B58E44-8062-FC52-E097-42E60DB3DED8}"/>
                </a:ext>
              </a:extLst>
            </p:cNvPr>
            <p:cNvSpPr/>
            <p:nvPr/>
          </p:nvSpPr>
          <p:spPr>
            <a:xfrm>
              <a:off x="5123038" y="3072690"/>
              <a:ext cx="1334304" cy="0"/>
            </a:xfrm>
            <a:custGeom>
              <a:avLst/>
              <a:gdLst/>
              <a:ahLst/>
              <a:cxnLst/>
              <a:rect l="l" t="t" r="r" b="b"/>
              <a:pathLst>
                <a:path w="1334304">
                  <a:moveTo>
                    <a:pt x="0" y="0"/>
                  </a:moveTo>
                  <a:moveTo>
                    <a:pt x="0" y="0"/>
                  </a:moveTo>
                  <a:lnTo>
                    <a:pt x="1334304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prstDash val="solid"/>
              <a:headEnd type="none"/>
              <a:tailEnd type="arrow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Shape 20">
              <a:extLst>
                <a:ext uri="{FF2B5EF4-FFF2-40B4-BE49-F238E27FC236}">
                  <a16:creationId xmlns:a16="http://schemas.microsoft.com/office/drawing/2014/main" id="{211B58D8-1AEB-8895-46C1-355ED9AF4299}"/>
                </a:ext>
              </a:extLst>
            </p:cNvPr>
            <p:cNvSpPr/>
            <p:nvPr/>
          </p:nvSpPr>
          <p:spPr>
            <a:xfrm>
              <a:off x="4660692" y="3318231"/>
              <a:ext cx="530506" cy="257215"/>
            </a:xfrm>
            <a:custGeom>
              <a:avLst/>
              <a:gdLst/>
              <a:ahLst/>
              <a:cxnLst/>
              <a:rect l="l" t="t" r="r" b="b"/>
              <a:pathLst>
                <a:path w="530506" h="257215">
                  <a:moveTo>
                    <a:pt x="265253" y="0"/>
                  </a:moveTo>
                  <a:moveTo>
                    <a:pt x="265253" y="0"/>
                  </a:moveTo>
                  <a:lnTo>
                    <a:pt x="0" y="257215"/>
                  </a:lnTo>
                  <a:lnTo>
                    <a:pt x="530506" y="257215"/>
                  </a:lnTo>
                  <a:close/>
                </a:path>
              </a:pathLst>
            </a:custGeom>
            <a:solidFill>
              <a:schemeClr val="tx1">
                <a:alpha val="10000"/>
              </a:schemeClr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Shape 21">
              <a:extLst>
                <a:ext uri="{FF2B5EF4-FFF2-40B4-BE49-F238E27FC236}">
                  <a16:creationId xmlns:a16="http://schemas.microsoft.com/office/drawing/2014/main" id="{769EC338-01F0-B9C0-F6A7-91B4F213DFCB}"/>
                </a:ext>
              </a:extLst>
            </p:cNvPr>
            <p:cNvSpPr/>
            <p:nvPr/>
          </p:nvSpPr>
          <p:spPr>
            <a:xfrm>
              <a:off x="7336676" y="3318231"/>
              <a:ext cx="530506" cy="257215"/>
            </a:xfrm>
            <a:custGeom>
              <a:avLst/>
              <a:gdLst/>
              <a:ahLst/>
              <a:cxnLst/>
              <a:rect l="l" t="t" r="r" b="b"/>
              <a:pathLst>
                <a:path w="530506" h="257215">
                  <a:moveTo>
                    <a:pt x="265253" y="0"/>
                  </a:moveTo>
                  <a:moveTo>
                    <a:pt x="265253" y="0"/>
                  </a:moveTo>
                  <a:lnTo>
                    <a:pt x="0" y="257215"/>
                  </a:lnTo>
                  <a:lnTo>
                    <a:pt x="530506" y="257215"/>
                  </a:lnTo>
                  <a:close/>
                </a:path>
              </a:pathLst>
            </a:custGeom>
            <a:solidFill>
              <a:schemeClr val="tx1">
                <a:alpha val="10000"/>
              </a:schemeClr>
            </a:solidFill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24156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35A93-E915-7FEE-542D-733A04E43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23F577-022E-7502-A8BD-E92DF6F79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498475"/>
            <a:ext cx="7960421" cy="623190"/>
          </a:xfrm>
        </p:spPr>
        <p:txBody>
          <a:bodyPr rtlCol="0"/>
          <a:lstStyle/>
          <a:p>
            <a:r>
              <a:rPr lang="zh-CN" altLang="en-US" dirty="0"/>
              <a:t>网络流量抓取与检测系统（</a:t>
            </a:r>
            <a:r>
              <a:rPr lang="en-US" altLang="zh-CN" dirty="0"/>
              <a:t>Python</a:t>
            </a:r>
            <a:r>
              <a:rPr lang="zh-CN" altLang="en-US" dirty="0"/>
              <a:t>）</a:t>
            </a:r>
            <a:endParaRPr lang="zh-cn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7AF161-D056-0118-9A44-618D21F91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342" y="1121665"/>
            <a:ext cx="10458513" cy="981451"/>
          </a:xfrm>
        </p:spPr>
        <p:txBody>
          <a:bodyPr rtlCol="0">
            <a:normAutofit fontScale="77500" lnSpcReduction="20000"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dirty="0">
                <a:latin typeface="Arial" panose="020B0604020202020204" pitchFamily="34" charset="0"/>
              </a:rPr>
              <a:t>流量采集层：实时抓包、</a:t>
            </a:r>
            <a:r>
              <a:rPr lang="en-US" altLang="zh-CN" dirty="0">
                <a:latin typeface="Arial" panose="020B0604020202020204" pitchFamily="34" charset="0"/>
              </a:rPr>
              <a:t>PCAP</a:t>
            </a:r>
            <a:r>
              <a:rPr lang="zh-CN" altLang="en-US" dirty="0">
                <a:latin typeface="Arial" panose="020B0604020202020204" pitchFamily="34" charset="0"/>
              </a:rPr>
              <a:t>录制 </a:t>
            </a:r>
            <a:endParaRPr lang="en-US" altLang="zh-CN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dirty="0">
                <a:latin typeface="Arial" panose="020B0604020202020204" pitchFamily="34" charset="0"/>
              </a:rPr>
              <a:t>协议分析层：</a:t>
            </a:r>
            <a:r>
              <a:rPr lang="en-US" altLang="zh-CN" dirty="0">
                <a:latin typeface="Arial" panose="020B0604020202020204" pitchFamily="34" charset="0"/>
              </a:rPr>
              <a:t>TCP/UDP</a:t>
            </a:r>
            <a:r>
              <a:rPr lang="zh-CN" altLang="en-US" dirty="0">
                <a:latin typeface="Arial" panose="020B0604020202020204" pitchFamily="34" charset="0"/>
              </a:rPr>
              <a:t>会话重建、</a:t>
            </a:r>
            <a:r>
              <a:rPr lang="en-US" altLang="zh-CN" dirty="0">
                <a:latin typeface="Arial" panose="020B0604020202020204" pitchFamily="34" charset="0"/>
              </a:rPr>
              <a:t>HTTP/DNS/TLS</a:t>
            </a:r>
            <a:r>
              <a:rPr lang="zh-CN" altLang="en-US" dirty="0">
                <a:latin typeface="Arial" panose="020B0604020202020204" pitchFamily="34" charset="0"/>
              </a:rPr>
              <a:t>特征解析 </a:t>
            </a:r>
            <a:endParaRPr lang="en-US" altLang="zh-CN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dirty="0">
                <a:latin typeface="Arial" panose="020B0604020202020204" pitchFamily="34" charset="0"/>
              </a:rPr>
              <a:t>异常检测层：行为规则匹配库流量统计异常检测机器学习模型（可选） </a:t>
            </a:r>
            <a:endParaRPr lang="en-US" altLang="zh-CN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dirty="0">
                <a:latin typeface="Arial" panose="020B0604020202020204" pitchFamily="34" charset="0"/>
              </a:rPr>
              <a:t>防御响应层：告警通知、</a:t>
            </a:r>
            <a:r>
              <a:rPr lang="en-US" altLang="zh-CN" dirty="0">
                <a:latin typeface="Arial" panose="020B0604020202020204" pitchFamily="34" charset="0"/>
              </a:rPr>
              <a:t>IP</a:t>
            </a:r>
            <a:r>
              <a:rPr lang="zh-CN" altLang="en-US" dirty="0">
                <a:latin typeface="Arial" panose="020B0604020202020204" pitchFamily="34" charset="0"/>
              </a:rPr>
              <a:t>阻断</a:t>
            </a:r>
            <a:r>
              <a:rPr lang="en-US" altLang="zh-CN" dirty="0">
                <a:latin typeface="Arial" panose="020B0604020202020204" pitchFamily="34" charset="0"/>
              </a:rPr>
              <a:t>/</a:t>
            </a:r>
            <a:r>
              <a:rPr lang="zh-CN" altLang="en-US" dirty="0">
                <a:latin typeface="Arial" panose="020B0604020202020204" pitchFamily="34" charset="0"/>
              </a:rPr>
              <a:t>丢包、时间记录与溯源 </a:t>
            </a:r>
            <a:endParaRPr lang="en-US" altLang="zh-CN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dirty="0">
                <a:latin typeface="Arial" panose="020B0604020202020204" pitchFamily="34" charset="0"/>
              </a:rPr>
              <a:t>存储与日志层：流量元数据存储、异常事件数据库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78" name="Shape 20">
            <a:extLst>
              <a:ext uri="{FF2B5EF4-FFF2-40B4-BE49-F238E27FC236}">
                <a16:creationId xmlns:a16="http://schemas.microsoft.com/office/drawing/2014/main" id="{82696D4C-6DBC-2EA6-634A-AE34ECC2C880}"/>
              </a:ext>
            </a:extLst>
          </p:cNvPr>
          <p:cNvSpPr/>
          <p:nvPr/>
        </p:nvSpPr>
        <p:spPr>
          <a:xfrm>
            <a:off x="7732728" y="3093830"/>
            <a:ext cx="449445" cy="333872"/>
          </a:xfrm>
          <a:custGeom>
            <a:avLst/>
            <a:gdLst/>
            <a:ahLst/>
            <a:cxnLst/>
            <a:rect l="l" t="t" r="r" b="b"/>
            <a:pathLst>
              <a:path w="530506" h="257215">
                <a:moveTo>
                  <a:pt x="265253" y="0"/>
                </a:moveTo>
                <a:moveTo>
                  <a:pt x="265253" y="0"/>
                </a:moveTo>
                <a:lnTo>
                  <a:pt x="0" y="257215"/>
                </a:lnTo>
                <a:lnTo>
                  <a:pt x="530506" y="257215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</p:spPr>
        <p:txBody>
          <a:bodyPr/>
          <a:lstStyle/>
          <a:p>
            <a:endParaRPr lang="zh-CN" altLang="en-US"/>
          </a:p>
        </p:txBody>
      </p: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26041D8F-41F2-40A4-0268-ABDD58C22E48}"/>
              </a:ext>
            </a:extLst>
          </p:cNvPr>
          <p:cNvGrpSpPr/>
          <p:nvPr/>
        </p:nvGrpSpPr>
        <p:grpSpPr>
          <a:xfrm>
            <a:off x="219456" y="1998244"/>
            <a:ext cx="11391201" cy="4646395"/>
            <a:chOff x="550862" y="2423910"/>
            <a:chExt cx="11194868" cy="4031753"/>
          </a:xfrm>
        </p:grpSpPr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41571B21-4503-C04F-5B8F-67E5380C0687}"/>
                </a:ext>
              </a:extLst>
            </p:cNvPr>
            <p:cNvGrpSpPr/>
            <p:nvPr/>
          </p:nvGrpSpPr>
          <p:grpSpPr>
            <a:xfrm>
              <a:off x="550862" y="2423910"/>
              <a:ext cx="6660706" cy="4031753"/>
              <a:chOff x="550862" y="2423910"/>
              <a:chExt cx="7288594" cy="4031753"/>
            </a:xfrm>
          </p:grpSpPr>
          <p:grpSp>
            <p:nvGrpSpPr>
              <p:cNvPr id="47" name="组合 46">
                <a:extLst>
                  <a:ext uri="{FF2B5EF4-FFF2-40B4-BE49-F238E27FC236}">
                    <a16:creationId xmlns:a16="http://schemas.microsoft.com/office/drawing/2014/main" id="{D5A6D540-1BF9-5486-89A5-3AD0060F8E63}"/>
                  </a:ext>
                </a:extLst>
              </p:cNvPr>
              <p:cNvGrpSpPr/>
              <p:nvPr/>
            </p:nvGrpSpPr>
            <p:grpSpPr>
              <a:xfrm>
                <a:off x="550862" y="2423910"/>
                <a:ext cx="7288594" cy="4031753"/>
                <a:chOff x="1535939" y="2802125"/>
                <a:chExt cx="7862012" cy="3106060"/>
              </a:xfrm>
            </p:grpSpPr>
            <p:sp>
              <p:nvSpPr>
                <p:cNvPr id="48" name="Shape 1">
                  <a:extLst>
                    <a:ext uri="{FF2B5EF4-FFF2-40B4-BE49-F238E27FC236}">
                      <a16:creationId xmlns:a16="http://schemas.microsoft.com/office/drawing/2014/main" id="{F5C612A8-B4B6-FB49-573A-F81129FAEC70}"/>
                    </a:ext>
                  </a:extLst>
                </p:cNvPr>
                <p:cNvSpPr/>
                <p:nvPr/>
              </p:nvSpPr>
              <p:spPr>
                <a:xfrm>
                  <a:off x="1535939" y="3575446"/>
                  <a:ext cx="2487168" cy="233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7168" h="2332625">
                      <a:moveTo>
                        <a:pt x="260604" y="0"/>
                      </a:moveTo>
                      <a:moveTo>
                        <a:pt x="260604" y="0"/>
                      </a:moveTo>
                      <a:lnTo>
                        <a:pt x="2226564" y="0"/>
                      </a:lnTo>
                      <a:quadBezTo>
                        <a:pt x="2487168" y="0"/>
                        <a:pt x="2487168" y="291578"/>
                      </a:quadBezTo>
                      <a:lnTo>
                        <a:pt x="2487168" y="2041047"/>
                      </a:lnTo>
                      <a:quadBezTo>
                        <a:pt x="2487168" y="2332625"/>
                        <a:pt x="2226564" y="2332625"/>
                      </a:quadBezTo>
                      <a:lnTo>
                        <a:pt x="260604" y="2332625"/>
                      </a:lnTo>
                      <a:quadBezTo>
                        <a:pt x="0" y="2332625"/>
                        <a:pt x="0" y="2041047"/>
                      </a:quadBezTo>
                      <a:lnTo>
                        <a:pt x="0" y="291578"/>
                      </a:lnTo>
                      <a:quadBezTo>
                        <a:pt x="0" y="0"/>
                        <a:pt x="260604" y="0"/>
                      </a:quadBezTo>
                      <a:close/>
                    </a:path>
                  </a:pathLst>
                </a:custGeom>
                <a:solidFill>
                  <a:schemeClr val="tx1">
                    <a:alpha val="10000"/>
                  </a:schemeClr>
                </a:solidFill>
              </p:spPr>
              <p:txBody>
                <a:bodyPr/>
                <a:lstStyle/>
                <a:p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功能与技术实现：</a:t>
                  </a:r>
                </a:p>
                <a:p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实时抓包使用 </a:t>
                  </a:r>
                  <a:r>
                    <a:rPr lang="en-US" altLang="zh-CN" sz="1400" dirty="0" err="1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Scapy</a:t>
                  </a:r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、</a:t>
                  </a:r>
                  <a:r>
                    <a:rPr lang="en-US" altLang="zh-CN" sz="1400" dirty="0" err="1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PyShark</a:t>
                  </a:r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 等库对网络接口进行实时抓包，获取 </a:t>
                  </a:r>
                  <a:r>
                    <a:rPr lang="en-US" altLang="zh-CN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TCP/UDP</a:t>
                  </a:r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、</a:t>
                  </a:r>
                  <a:r>
                    <a:rPr lang="en-US" altLang="zh-CN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HTTP</a:t>
                  </a:r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、</a:t>
                  </a:r>
                  <a:r>
                    <a:rPr lang="en-US" altLang="zh-CN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DNS</a:t>
                  </a:r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、</a:t>
                  </a:r>
                  <a:r>
                    <a:rPr lang="en-US" altLang="zh-CN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TLS </a:t>
                  </a:r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等流量。</a:t>
                  </a:r>
                </a:p>
                <a:p>
                  <a:r>
                    <a:rPr lang="en-US" altLang="zh-CN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PCAP </a:t>
                  </a:r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录制：将抓取的流量保存为 </a:t>
                  </a:r>
                  <a:r>
                    <a:rPr lang="en-US" altLang="zh-CN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PCAP </a:t>
                  </a:r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文件，用于离线分析和回溯验证。</a:t>
                  </a:r>
                </a:p>
                <a:p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目标：</a:t>
                  </a:r>
                  <a:b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</a:br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保证抓取数据的完整性和实时性，为协议解析和异常检测提供可靠基础数据。</a:t>
                  </a:r>
                </a:p>
                <a:p>
                  <a:endParaRPr lang="zh-CN" altLang="en-US" dirty="0"/>
                </a:p>
              </p:txBody>
            </p:sp>
            <p:sp>
              <p:nvSpPr>
                <p:cNvPr id="49" name="Shape 2">
                  <a:extLst>
                    <a:ext uri="{FF2B5EF4-FFF2-40B4-BE49-F238E27FC236}">
                      <a16:creationId xmlns:a16="http://schemas.microsoft.com/office/drawing/2014/main" id="{85735B67-EC1B-05EA-DCBC-F68FAF29638B}"/>
                    </a:ext>
                  </a:extLst>
                </p:cNvPr>
                <p:cNvSpPr/>
                <p:nvPr/>
              </p:nvSpPr>
              <p:spPr>
                <a:xfrm>
                  <a:off x="1961851" y="3318231"/>
                  <a:ext cx="530506" cy="2572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0506" h="257215">
                      <a:moveTo>
                        <a:pt x="265253" y="0"/>
                      </a:moveTo>
                      <a:moveTo>
                        <a:pt x="265253" y="0"/>
                      </a:moveTo>
                      <a:lnTo>
                        <a:pt x="0" y="257215"/>
                      </a:lnTo>
                      <a:lnTo>
                        <a:pt x="530506" y="257215"/>
                      </a:lnTo>
                      <a:close/>
                    </a:path>
                  </a:pathLst>
                </a:custGeom>
                <a:solidFill>
                  <a:schemeClr val="tx1">
                    <a:alpha val="10000"/>
                  </a:schemeClr>
                </a:solidFill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" name="Shape 3">
                  <a:extLst>
                    <a:ext uri="{FF2B5EF4-FFF2-40B4-BE49-F238E27FC236}">
                      <a16:creationId xmlns:a16="http://schemas.microsoft.com/office/drawing/2014/main" id="{66BAED66-2577-114B-6F3E-2EC83A4FBF34}"/>
                    </a:ext>
                  </a:extLst>
                </p:cNvPr>
                <p:cNvSpPr/>
                <p:nvPr/>
              </p:nvSpPr>
              <p:spPr>
                <a:xfrm>
                  <a:off x="1535939" y="2802125"/>
                  <a:ext cx="426013" cy="426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6013" h="426013">
                      <a:moveTo>
                        <a:pt x="213006" y="0"/>
                      </a:moveTo>
                      <a:moveTo>
                        <a:pt x="213006" y="0"/>
                      </a:moveTo>
                      <a:cubicBezTo>
                        <a:pt x="330568" y="0"/>
                        <a:pt x="426013" y="95445"/>
                        <a:pt x="426013" y="213006"/>
                      </a:cubicBezTo>
                      <a:cubicBezTo>
                        <a:pt x="426013" y="330568"/>
                        <a:pt x="330568" y="426013"/>
                        <a:pt x="213006" y="426013"/>
                      </a:cubicBezTo>
                      <a:cubicBezTo>
                        <a:pt x="95445" y="426013"/>
                        <a:pt x="0" y="330568"/>
                        <a:pt x="0" y="213006"/>
                      </a:cubicBezTo>
                      <a:cubicBezTo>
                        <a:pt x="0" y="95445"/>
                        <a:pt x="95445" y="0"/>
                        <a:pt x="213006" y="0"/>
                      </a:cubicBezTo>
                      <a:close/>
                    </a:path>
                  </a:pathLst>
                </a:custGeom>
                <a:solidFill>
                  <a:srgbClr val="0084FF"/>
                </a:solidFill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" name="Shape 4">
                  <a:extLst>
                    <a:ext uri="{FF2B5EF4-FFF2-40B4-BE49-F238E27FC236}">
                      <a16:creationId xmlns:a16="http://schemas.microsoft.com/office/drawing/2014/main" id="{FDC5A087-56E4-EB05-2A0B-C7EC6EBFF06D}"/>
                    </a:ext>
                  </a:extLst>
                </p:cNvPr>
                <p:cNvSpPr/>
                <p:nvPr/>
              </p:nvSpPr>
              <p:spPr>
                <a:xfrm>
                  <a:off x="2484420" y="3072690"/>
                  <a:ext cx="1334304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4304">
                      <a:moveTo>
                        <a:pt x="0" y="0"/>
                      </a:moveTo>
                      <a:moveTo>
                        <a:pt x="0" y="0"/>
                      </a:moveTo>
                      <a:lnTo>
                        <a:pt x="1334304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  <a:prstDash val="solid"/>
                  <a:headEnd type="none"/>
                  <a:tailEnd type="arrow"/>
                </a:ln>
              </p:spPr>
              <p:txBody>
                <a:bodyPr/>
                <a:lstStyle/>
                <a:p>
                  <a:r>
                    <a:rPr lang="zh-CN" altLang="en-US" dirty="0"/>
                    <a:t>流量采集</a:t>
                  </a:r>
                </a:p>
              </p:txBody>
            </p:sp>
            <p:sp>
              <p:nvSpPr>
                <p:cNvPr id="52" name="Shape 6">
                  <a:extLst>
                    <a:ext uri="{FF2B5EF4-FFF2-40B4-BE49-F238E27FC236}">
                      <a16:creationId xmlns:a16="http://schemas.microsoft.com/office/drawing/2014/main" id="{27084386-E82E-34FA-863F-0BCDDA22F990}"/>
                    </a:ext>
                  </a:extLst>
                </p:cNvPr>
                <p:cNvSpPr/>
                <p:nvPr/>
              </p:nvSpPr>
              <p:spPr>
                <a:xfrm>
                  <a:off x="4234334" y="3575446"/>
                  <a:ext cx="2487168" cy="233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7168" h="2332625">
                      <a:moveTo>
                        <a:pt x="260604" y="0"/>
                      </a:moveTo>
                      <a:moveTo>
                        <a:pt x="260604" y="0"/>
                      </a:moveTo>
                      <a:lnTo>
                        <a:pt x="2226564" y="0"/>
                      </a:lnTo>
                      <a:quadBezTo>
                        <a:pt x="2487168" y="0"/>
                        <a:pt x="2487168" y="291578"/>
                      </a:quadBezTo>
                      <a:lnTo>
                        <a:pt x="2487168" y="2041047"/>
                      </a:lnTo>
                      <a:quadBezTo>
                        <a:pt x="2487168" y="2332625"/>
                        <a:pt x="2226564" y="2332625"/>
                      </a:quadBezTo>
                      <a:lnTo>
                        <a:pt x="260604" y="2332625"/>
                      </a:lnTo>
                      <a:quadBezTo>
                        <a:pt x="0" y="2332625"/>
                        <a:pt x="0" y="2041047"/>
                      </a:quadBezTo>
                      <a:lnTo>
                        <a:pt x="0" y="291578"/>
                      </a:lnTo>
                      <a:quadBezTo>
                        <a:pt x="0" y="0"/>
                        <a:pt x="260604" y="0"/>
                      </a:quadBezTo>
                      <a:close/>
                    </a:path>
                  </a:pathLst>
                </a:custGeom>
                <a:solidFill>
                  <a:schemeClr val="tx1">
                    <a:alpha val="10000"/>
                  </a:schemeClr>
                </a:solidFill>
              </p:spPr>
              <p:txBody>
                <a:bodyPr/>
                <a:lstStyle/>
                <a:p>
                  <a:r>
                    <a:rPr lang="en-US" altLang="zh-CN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TCP/UDP </a:t>
                  </a:r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会话重建：将抓取的分片数据包按会话进行重组，形成完整通信流。</a:t>
                  </a:r>
                </a:p>
                <a:p>
                  <a:r>
                    <a:rPr lang="en-US" altLang="zh-CN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HTTP/DNS/TLS </a:t>
                  </a:r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特征解析：提取 </a:t>
                  </a:r>
                  <a:r>
                    <a:rPr lang="en-US" altLang="zh-CN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URL</a:t>
                  </a:r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、域名、证书信息、请求头、响应码等特征，用于行为分析。</a:t>
                  </a:r>
                </a:p>
                <a:p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目标：</a:t>
                  </a:r>
                  <a:b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</a:br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生成可供检测算法直接使用的标准化、结构化流量数据</a:t>
                  </a:r>
                </a:p>
                <a:p>
                  <a:endParaRPr lang="zh-CN" altLang="en-US" dirty="0"/>
                </a:p>
              </p:txBody>
            </p:sp>
            <p:sp>
              <p:nvSpPr>
                <p:cNvPr id="53" name="Shape 7">
                  <a:extLst>
                    <a:ext uri="{FF2B5EF4-FFF2-40B4-BE49-F238E27FC236}">
                      <a16:creationId xmlns:a16="http://schemas.microsoft.com/office/drawing/2014/main" id="{CA4262A7-FD4E-B984-43E2-11BDEDFC1670}"/>
                    </a:ext>
                  </a:extLst>
                </p:cNvPr>
                <p:cNvSpPr/>
                <p:nvPr/>
              </p:nvSpPr>
              <p:spPr>
                <a:xfrm>
                  <a:off x="6910783" y="3575560"/>
                  <a:ext cx="2487168" cy="233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7168" h="2332625">
                      <a:moveTo>
                        <a:pt x="260604" y="0"/>
                      </a:moveTo>
                      <a:moveTo>
                        <a:pt x="260604" y="0"/>
                      </a:moveTo>
                      <a:lnTo>
                        <a:pt x="2226564" y="0"/>
                      </a:lnTo>
                      <a:quadBezTo>
                        <a:pt x="2487168" y="0"/>
                        <a:pt x="2487168" y="291578"/>
                      </a:quadBezTo>
                      <a:lnTo>
                        <a:pt x="2487168" y="2041047"/>
                      </a:lnTo>
                      <a:quadBezTo>
                        <a:pt x="2487168" y="2332625"/>
                        <a:pt x="2226564" y="2332625"/>
                      </a:quadBezTo>
                      <a:lnTo>
                        <a:pt x="260604" y="2332625"/>
                      </a:lnTo>
                      <a:quadBezTo>
                        <a:pt x="0" y="2332625"/>
                        <a:pt x="0" y="2041047"/>
                      </a:quadBezTo>
                      <a:lnTo>
                        <a:pt x="0" y="291578"/>
                      </a:lnTo>
                      <a:quadBezTo>
                        <a:pt x="0" y="0"/>
                        <a:pt x="260604" y="0"/>
                      </a:quadBezTo>
                      <a:close/>
                    </a:path>
                  </a:pathLst>
                </a:custGeom>
                <a:solidFill>
                  <a:schemeClr val="tx1">
                    <a:alpha val="10000"/>
                  </a:schemeClr>
                </a:solidFill>
              </p:spPr>
              <p:txBody>
                <a:bodyPr/>
                <a:lstStyle/>
                <a:p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功能与技术实现：</a:t>
                  </a:r>
                </a:p>
                <a:p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行为规则匹配库：基于预定义攻击行为规则对流量进行匹配。</a:t>
                  </a:r>
                </a:p>
                <a:p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流量统计异常检测：利用流量特征统计（</a:t>
                  </a:r>
                </a:p>
                <a:p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机器学习模型（可选）：基于训练数据构建分类或聚类模型，提高对未知异常行为的识别能力。</a:t>
                  </a:r>
                </a:p>
                <a:p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目标：</a:t>
                  </a:r>
                  <a:b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</a:br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实现对已知攻击模式和潜在未知威胁的高效检测。</a:t>
                  </a:r>
                </a:p>
                <a:p>
                  <a:endParaRPr lang="zh-CN" altLang="en-US" dirty="0"/>
                </a:p>
              </p:txBody>
            </p:sp>
            <p:sp>
              <p:nvSpPr>
                <p:cNvPr id="54" name="Text 13">
                  <a:extLst>
                    <a:ext uri="{FF2B5EF4-FFF2-40B4-BE49-F238E27FC236}">
                      <a16:creationId xmlns:a16="http://schemas.microsoft.com/office/drawing/2014/main" id="{07A23055-DA26-0BA6-9643-B6A335D14BCB}"/>
                    </a:ext>
                  </a:extLst>
                </p:cNvPr>
                <p:cNvSpPr/>
                <p:nvPr/>
              </p:nvSpPr>
              <p:spPr>
                <a:xfrm>
                  <a:off x="1535939" y="2831474"/>
                  <a:ext cx="679728" cy="365760"/>
                </a:xfrm>
                <a:prstGeom prst="rect">
                  <a:avLst/>
                </a:prstGeom>
                <a:noFill/>
              </p:spPr>
              <p:txBody>
                <a:bodyPr wrap="square" lIns="95250" tIns="95250" rIns="95250" bIns="95250" rtlCol="0" anchor="t">
                  <a:spAutoFit/>
                </a:bodyPr>
                <a:lstStyle/>
                <a:p>
                  <a:pPr marL="0" indent="0">
                    <a:lnSpc>
                      <a:spcPct val="100000"/>
                    </a:lnSpc>
                    <a:spcBef>
                      <a:spcPts val="375"/>
                    </a:spcBef>
                    <a:buNone/>
                  </a:pPr>
                  <a:r>
                    <a:rPr lang="en-US" sz="1440" b="1" dirty="0">
                      <a:solidFill>
                        <a:srgbClr val="FFFF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0"/>
                    </a:rPr>
                    <a:t>01</a:t>
                  </a:r>
                  <a:endParaRPr lang="en-US" sz="1440" dirty="0"/>
                </a:p>
              </p:txBody>
            </p:sp>
            <p:sp>
              <p:nvSpPr>
                <p:cNvPr id="55" name="Shape 14">
                  <a:extLst>
                    <a:ext uri="{FF2B5EF4-FFF2-40B4-BE49-F238E27FC236}">
                      <a16:creationId xmlns:a16="http://schemas.microsoft.com/office/drawing/2014/main" id="{DEB12159-E4E3-D4D5-96A7-21FC08C241DE}"/>
                    </a:ext>
                  </a:extLst>
                </p:cNvPr>
                <p:cNvSpPr/>
                <p:nvPr/>
              </p:nvSpPr>
              <p:spPr>
                <a:xfrm>
                  <a:off x="4234780" y="2802125"/>
                  <a:ext cx="426013" cy="426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6013" h="426013">
                      <a:moveTo>
                        <a:pt x="213006" y="0"/>
                      </a:moveTo>
                      <a:moveTo>
                        <a:pt x="213006" y="0"/>
                      </a:moveTo>
                      <a:cubicBezTo>
                        <a:pt x="330568" y="0"/>
                        <a:pt x="426013" y="95445"/>
                        <a:pt x="426013" y="213006"/>
                      </a:cubicBezTo>
                      <a:cubicBezTo>
                        <a:pt x="426013" y="330568"/>
                        <a:pt x="330568" y="426013"/>
                        <a:pt x="213006" y="426013"/>
                      </a:cubicBezTo>
                      <a:cubicBezTo>
                        <a:pt x="95445" y="426013"/>
                        <a:pt x="0" y="330568"/>
                        <a:pt x="0" y="213006"/>
                      </a:cubicBezTo>
                      <a:cubicBezTo>
                        <a:pt x="0" y="95445"/>
                        <a:pt x="95445" y="0"/>
                        <a:pt x="213006" y="0"/>
                      </a:cubicBezTo>
                      <a:close/>
                    </a:path>
                  </a:pathLst>
                </a:custGeom>
                <a:solidFill>
                  <a:srgbClr val="0084FF"/>
                </a:solidFill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" name="Text 15">
                  <a:extLst>
                    <a:ext uri="{FF2B5EF4-FFF2-40B4-BE49-F238E27FC236}">
                      <a16:creationId xmlns:a16="http://schemas.microsoft.com/office/drawing/2014/main" id="{5104EC89-C813-4EC4-7E3E-03270C9454BA}"/>
                    </a:ext>
                  </a:extLst>
                </p:cNvPr>
                <p:cNvSpPr/>
                <p:nvPr/>
              </p:nvSpPr>
              <p:spPr>
                <a:xfrm>
                  <a:off x="4244025" y="2831474"/>
                  <a:ext cx="709960" cy="365760"/>
                </a:xfrm>
                <a:prstGeom prst="rect">
                  <a:avLst/>
                </a:prstGeom>
                <a:noFill/>
              </p:spPr>
              <p:txBody>
                <a:bodyPr wrap="square" lIns="95250" tIns="95250" rIns="95250" bIns="95250" rtlCol="0" anchor="t">
                  <a:spAutoFit/>
                </a:bodyPr>
                <a:lstStyle/>
                <a:p>
                  <a:pPr marL="0" indent="0">
                    <a:lnSpc>
                      <a:spcPct val="100000"/>
                    </a:lnSpc>
                    <a:spcBef>
                      <a:spcPts val="375"/>
                    </a:spcBef>
                    <a:buNone/>
                  </a:pPr>
                  <a:r>
                    <a:rPr lang="en-US" sz="1440" b="1" dirty="0">
                      <a:solidFill>
                        <a:srgbClr val="FFFF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0"/>
                    </a:rPr>
                    <a:t>02</a:t>
                  </a:r>
                  <a:endParaRPr lang="en-US" sz="1440" dirty="0"/>
                </a:p>
              </p:txBody>
            </p:sp>
            <p:sp>
              <p:nvSpPr>
                <p:cNvPr id="57" name="Shape 16">
                  <a:extLst>
                    <a:ext uri="{FF2B5EF4-FFF2-40B4-BE49-F238E27FC236}">
                      <a16:creationId xmlns:a16="http://schemas.microsoft.com/office/drawing/2014/main" id="{2E47D0D9-9D10-3C7A-4E9F-DB37C22070EE}"/>
                    </a:ext>
                  </a:extLst>
                </p:cNvPr>
                <p:cNvSpPr/>
                <p:nvPr/>
              </p:nvSpPr>
              <p:spPr>
                <a:xfrm>
                  <a:off x="6910764" y="2802125"/>
                  <a:ext cx="426013" cy="426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6013" h="426013">
                      <a:moveTo>
                        <a:pt x="213006" y="0"/>
                      </a:moveTo>
                      <a:moveTo>
                        <a:pt x="213006" y="0"/>
                      </a:moveTo>
                      <a:cubicBezTo>
                        <a:pt x="330568" y="0"/>
                        <a:pt x="426013" y="95445"/>
                        <a:pt x="426013" y="213006"/>
                      </a:cubicBezTo>
                      <a:cubicBezTo>
                        <a:pt x="426013" y="330568"/>
                        <a:pt x="330568" y="426013"/>
                        <a:pt x="213006" y="426013"/>
                      </a:cubicBezTo>
                      <a:cubicBezTo>
                        <a:pt x="95445" y="426013"/>
                        <a:pt x="0" y="330568"/>
                        <a:pt x="0" y="213006"/>
                      </a:cubicBezTo>
                      <a:cubicBezTo>
                        <a:pt x="0" y="95445"/>
                        <a:pt x="95445" y="0"/>
                        <a:pt x="213006" y="0"/>
                      </a:cubicBezTo>
                      <a:close/>
                    </a:path>
                  </a:pathLst>
                </a:custGeom>
                <a:solidFill>
                  <a:srgbClr val="0084FF"/>
                </a:solidFill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" name="Text 17">
                  <a:extLst>
                    <a:ext uri="{FF2B5EF4-FFF2-40B4-BE49-F238E27FC236}">
                      <a16:creationId xmlns:a16="http://schemas.microsoft.com/office/drawing/2014/main" id="{04FC3F87-63CF-0072-976A-AFDE3E8AC85F}"/>
                    </a:ext>
                  </a:extLst>
                </p:cNvPr>
                <p:cNvSpPr/>
                <p:nvPr/>
              </p:nvSpPr>
              <p:spPr>
                <a:xfrm>
                  <a:off x="6911249" y="2831474"/>
                  <a:ext cx="723664" cy="365760"/>
                </a:xfrm>
                <a:prstGeom prst="rect">
                  <a:avLst/>
                </a:prstGeom>
                <a:noFill/>
              </p:spPr>
              <p:txBody>
                <a:bodyPr wrap="square" lIns="95250" tIns="95250" rIns="95250" bIns="95250" rtlCol="0" anchor="t">
                  <a:spAutoFit/>
                </a:bodyPr>
                <a:lstStyle/>
                <a:p>
                  <a:pPr marL="0" indent="0">
                    <a:lnSpc>
                      <a:spcPct val="100000"/>
                    </a:lnSpc>
                    <a:spcBef>
                      <a:spcPts val="375"/>
                    </a:spcBef>
                    <a:buNone/>
                  </a:pPr>
                  <a:r>
                    <a:rPr lang="en-US" sz="1440" b="1" dirty="0">
                      <a:solidFill>
                        <a:srgbClr val="FFFF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0"/>
                    </a:rPr>
                    <a:t>03</a:t>
                  </a:r>
                  <a:endParaRPr lang="en-US" sz="1440" dirty="0"/>
                </a:p>
              </p:txBody>
            </p:sp>
            <p:sp>
              <p:nvSpPr>
                <p:cNvPr id="59" name="Shape 18">
                  <a:extLst>
                    <a:ext uri="{FF2B5EF4-FFF2-40B4-BE49-F238E27FC236}">
                      <a16:creationId xmlns:a16="http://schemas.microsoft.com/office/drawing/2014/main" id="{3ACD193D-3138-85BC-37F5-9B439FFCC1D7}"/>
                    </a:ext>
                  </a:extLst>
                </p:cNvPr>
                <p:cNvSpPr/>
                <p:nvPr/>
              </p:nvSpPr>
              <p:spPr>
                <a:xfrm>
                  <a:off x="5123038" y="3072690"/>
                  <a:ext cx="1334304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4304">
                      <a:moveTo>
                        <a:pt x="0" y="0"/>
                      </a:moveTo>
                      <a:moveTo>
                        <a:pt x="0" y="0"/>
                      </a:moveTo>
                      <a:lnTo>
                        <a:pt x="1334304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  <a:prstDash val="solid"/>
                  <a:headEnd type="none"/>
                  <a:tailEnd type="arrow"/>
                </a:ln>
              </p:spPr>
              <p:txBody>
                <a:bodyPr/>
                <a:lstStyle/>
                <a:p>
                  <a:r>
                    <a:rPr lang="zh-CN" altLang="en-US" dirty="0"/>
                    <a:t>协议分析</a:t>
                  </a:r>
                </a:p>
              </p:txBody>
            </p:sp>
            <p:sp>
              <p:nvSpPr>
                <p:cNvPr id="60" name="Shape 20">
                  <a:extLst>
                    <a:ext uri="{FF2B5EF4-FFF2-40B4-BE49-F238E27FC236}">
                      <a16:creationId xmlns:a16="http://schemas.microsoft.com/office/drawing/2014/main" id="{FD61CA5A-4CBC-825C-C718-62C73C86FBE5}"/>
                    </a:ext>
                  </a:extLst>
                </p:cNvPr>
                <p:cNvSpPr/>
                <p:nvPr/>
              </p:nvSpPr>
              <p:spPr>
                <a:xfrm>
                  <a:off x="4660692" y="3318231"/>
                  <a:ext cx="530506" cy="2572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0506" h="257215">
                      <a:moveTo>
                        <a:pt x="265253" y="0"/>
                      </a:moveTo>
                      <a:moveTo>
                        <a:pt x="265253" y="0"/>
                      </a:moveTo>
                      <a:lnTo>
                        <a:pt x="0" y="257215"/>
                      </a:lnTo>
                      <a:lnTo>
                        <a:pt x="530506" y="257215"/>
                      </a:lnTo>
                      <a:close/>
                    </a:path>
                  </a:pathLst>
                </a:custGeom>
                <a:solidFill>
                  <a:schemeClr val="tx1">
                    <a:alpha val="10000"/>
                  </a:schemeClr>
                </a:solidFill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" name="Shape 21">
                  <a:extLst>
                    <a:ext uri="{FF2B5EF4-FFF2-40B4-BE49-F238E27FC236}">
                      <a16:creationId xmlns:a16="http://schemas.microsoft.com/office/drawing/2014/main" id="{C6CD2CBC-BDB5-B23D-48C1-330DB10D27DB}"/>
                    </a:ext>
                  </a:extLst>
                </p:cNvPr>
                <p:cNvSpPr/>
                <p:nvPr/>
              </p:nvSpPr>
              <p:spPr>
                <a:xfrm>
                  <a:off x="7336676" y="3318231"/>
                  <a:ext cx="530506" cy="2572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0506" h="257215">
                      <a:moveTo>
                        <a:pt x="265253" y="0"/>
                      </a:moveTo>
                      <a:moveTo>
                        <a:pt x="265253" y="0"/>
                      </a:moveTo>
                      <a:lnTo>
                        <a:pt x="0" y="257215"/>
                      </a:lnTo>
                      <a:lnTo>
                        <a:pt x="530506" y="257215"/>
                      </a:lnTo>
                      <a:close/>
                    </a:path>
                  </a:pathLst>
                </a:custGeom>
                <a:solidFill>
                  <a:schemeClr val="tx1">
                    <a:alpha val="10000"/>
                  </a:schemeClr>
                </a:solidFill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62" name="Shape 18">
                <a:extLst>
                  <a:ext uri="{FF2B5EF4-FFF2-40B4-BE49-F238E27FC236}">
                    <a16:creationId xmlns:a16="http://schemas.microsoft.com/office/drawing/2014/main" id="{AE00EF64-4C25-E87F-BECE-DD6D172D0AC0}"/>
                  </a:ext>
                </a:extLst>
              </p:cNvPr>
              <p:cNvSpPr/>
              <p:nvPr/>
            </p:nvSpPr>
            <p:spPr>
              <a:xfrm>
                <a:off x="6278159" y="2775111"/>
                <a:ext cx="1236986" cy="0"/>
              </a:xfrm>
              <a:custGeom>
                <a:avLst/>
                <a:gdLst/>
                <a:ahLst/>
                <a:cxnLst/>
                <a:rect l="l" t="t" r="r" b="b"/>
                <a:pathLst>
                  <a:path w="1334304">
                    <a:moveTo>
                      <a:pt x="0" y="0"/>
                    </a:moveTo>
                    <a:moveTo>
                      <a:pt x="0" y="0"/>
                    </a:moveTo>
                    <a:lnTo>
                      <a:pt x="1334304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  <a:prstDash val="solid"/>
                <a:headEnd type="none"/>
                <a:tailEnd type="arrow"/>
              </a:ln>
            </p:spPr>
            <p:txBody>
              <a:bodyPr/>
              <a:lstStyle/>
              <a:p>
                <a:r>
                  <a:rPr lang="zh-CN" altLang="en-US" dirty="0"/>
                  <a:t>异常检测</a:t>
                </a:r>
              </a:p>
            </p:txBody>
          </p:sp>
        </p:grpSp>
        <p:sp>
          <p:nvSpPr>
            <p:cNvPr id="74" name="Shape 6">
              <a:extLst>
                <a:ext uri="{FF2B5EF4-FFF2-40B4-BE49-F238E27FC236}">
                  <a16:creationId xmlns:a16="http://schemas.microsoft.com/office/drawing/2014/main" id="{00B6905C-5988-B58D-12D7-C024C92C77E0}"/>
                </a:ext>
              </a:extLst>
            </p:cNvPr>
            <p:cNvSpPr/>
            <p:nvPr/>
          </p:nvSpPr>
          <p:spPr>
            <a:xfrm>
              <a:off x="7371517" y="3427702"/>
              <a:ext cx="2107132" cy="3027813"/>
            </a:xfrm>
            <a:custGeom>
              <a:avLst/>
              <a:gdLst/>
              <a:ahLst/>
              <a:cxnLst/>
              <a:rect l="l" t="t" r="r" b="b"/>
              <a:pathLst>
                <a:path w="2487168" h="2332625">
                  <a:moveTo>
                    <a:pt x="260604" y="0"/>
                  </a:moveTo>
                  <a:moveTo>
                    <a:pt x="260604" y="0"/>
                  </a:moveTo>
                  <a:lnTo>
                    <a:pt x="2226564" y="0"/>
                  </a:lnTo>
                  <a:quadBezTo>
                    <a:pt x="2487168" y="0"/>
                    <a:pt x="2487168" y="291578"/>
                  </a:quadBezTo>
                  <a:lnTo>
                    <a:pt x="2487168" y="2041047"/>
                  </a:lnTo>
                  <a:quadBezTo>
                    <a:pt x="2487168" y="2332625"/>
                    <a:pt x="2226564" y="2332625"/>
                  </a:quadBezTo>
                  <a:lnTo>
                    <a:pt x="260604" y="2332625"/>
                  </a:lnTo>
                  <a:quadBezTo>
                    <a:pt x="0" y="2332625"/>
                    <a:pt x="0" y="2041047"/>
                  </a:quadBezTo>
                  <a:lnTo>
                    <a:pt x="0" y="291578"/>
                  </a:lnTo>
                  <a:quadBezTo>
                    <a:pt x="0" y="0"/>
                    <a:pt x="260604" y="0"/>
                  </a:quadBezTo>
                  <a:close/>
                </a:path>
              </a:pathLst>
            </a:custGeom>
            <a:solidFill>
              <a:schemeClr val="tx1">
                <a:alpha val="10000"/>
              </a:schemeClr>
            </a:solidFill>
          </p:spPr>
          <p:txBody>
            <a:bodyPr/>
            <a:lstStyle/>
            <a:p>
              <a:r>
                <a:rPr lang="zh-CN" altLang="en-US" sz="1400" dirty="0">
                  <a:latin typeface="Arial" panose="020B0604020202020204" pitchFamily="34" charset="0"/>
                  <a:ea typeface="Microsoft YaHei UI" panose="020B0503020204020204" pitchFamily="34" charset="-122"/>
                </a:rPr>
                <a:t>告警通知：通过邮件、系统日志或 </a:t>
              </a:r>
              <a:r>
                <a:rPr lang="en-US" altLang="zh-CN" sz="1400" dirty="0">
                  <a:latin typeface="Arial" panose="020B0604020202020204" pitchFamily="34" charset="0"/>
                  <a:ea typeface="Microsoft YaHei UI" panose="020B0503020204020204" pitchFamily="34" charset="-122"/>
                </a:rPr>
                <a:t>Web </a:t>
              </a:r>
              <a:r>
                <a:rPr lang="zh-CN" altLang="en-US" sz="1400" dirty="0">
                  <a:latin typeface="Arial" panose="020B0604020202020204" pitchFamily="34" charset="0"/>
                  <a:ea typeface="Microsoft YaHei UI" panose="020B0503020204020204" pitchFamily="34" charset="-122"/>
                </a:rPr>
                <a:t>界面推送异常告警。</a:t>
              </a:r>
            </a:p>
            <a:p>
              <a:r>
                <a:rPr lang="en-US" altLang="zh-CN" sz="1400" dirty="0">
                  <a:latin typeface="Arial" panose="020B0604020202020204" pitchFamily="34" charset="0"/>
                  <a:ea typeface="Microsoft YaHei UI" panose="020B0503020204020204" pitchFamily="34" charset="-122"/>
                </a:rPr>
                <a:t>IP </a:t>
              </a:r>
              <a:r>
                <a:rPr lang="zh-CN" altLang="en-US" sz="1400" dirty="0">
                  <a:latin typeface="Arial" panose="020B0604020202020204" pitchFamily="34" charset="0"/>
                  <a:ea typeface="Microsoft YaHei UI" panose="020B0503020204020204" pitchFamily="34" charset="-122"/>
                </a:rPr>
                <a:t>阻断 </a:t>
              </a:r>
              <a:r>
                <a:rPr lang="en-US" altLang="zh-CN" sz="1400" dirty="0">
                  <a:latin typeface="Arial" panose="020B0604020202020204" pitchFamily="34" charset="0"/>
                  <a:ea typeface="Microsoft YaHei UI" panose="020B0503020204020204" pitchFamily="34" charset="-122"/>
                </a:rPr>
                <a:t>/ </a:t>
              </a:r>
              <a:r>
                <a:rPr lang="zh-CN" altLang="en-US" sz="1400" dirty="0">
                  <a:latin typeface="Arial" panose="020B0604020202020204" pitchFamily="34" charset="0"/>
                  <a:ea typeface="Microsoft YaHei UI" panose="020B0503020204020204" pitchFamily="34" charset="-122"/>
                </a:rPr>
                <a:t>丢包：根据策略临时或永久阻断异常源 </a:t>
              </a:r>
              <a:r>
                <a:rPr lang="en-US" altLang="zh-CN" sz="1400" dirty="0">
                  <a:latin typeface="Arial" panose="020B0604020202020204" pitchFamily="34" charset="0"/>
                  <a:ea typeface="Microsoft YaHei UI" panose="020B0503020204020204" pitchFamily="34" charset="-122"/>
                </a:rPr>
                <a:t>IP</a:t>
              </a:r>
              <a:r>
                <a:rPr lang="zh-CN" altLang="en-US" sz="1400" dirty="0">
                  <a:latin typeface="Arial" panose="020B0604020202020204" pitchFamily="34" charset="0"/>
                  <a:ea typeface="Microsoft YaHei UI" panose="020B0503020204020204" pitchFamily="34" charset="-122"/>
                </a:rPr>
                <a:t>，或在沙箱环境模拟丢包处理。</a:t>
              </a:r>
            </a:p>
            <a:p>
              <a:r>
                <a:rPr lang="zh-CN" altLang="en-US" sz="1400" dirty="0">
                  <a:latin typeface="Arial" panose="020B0604020202020204" pitchFamily="34" charset="0"/>
                  <a:ea typeface="Microsoft YaHei UI" panose="020B0503020204020204" pitchFamily="34" charset="-122"/>
                </a:rPr>
                <a:t>时间记录与溯源）：记录异常事件发生时间、源地址、流量特征，便于后续溯源分析。</a:t>
              </a:r>
            </a:p>
            <a:p>
              <a:r>
                <a:rPr lang="zh-CN" altLang="en-US" sz="1400" dirty="0">
                  <a:latin typeface="Arial" panose="020B0604020202020204" pitchFamily="34" charset="0"/>
                  <a:ea typeface="Microsoft YaHei UI" panose="020B0503020204020204" pitchFamily="34" charset="-122"/>
                </a:rPr>
                <a:t>目标：</a:t>
              </a:r>
              <a:br>
                <a:rPr lang="zh-CN" altLang="en-US" sz="1400" dirty="0">
                  <a:latin typeface="Arial" panose="020B0604020202020204" pitchFamily="34" charset="0"/>
                  <a:ea typeface="Microsoft YaHei UI" panose="020B0503020204020204" pitchFamily="34" charset="-122"/>
                </a:rPr>
              </a:br>
              <a:r>
                <a:rPr lang="zh-CN" altLang="en-US" sz="1400" dirty="0">
                  <a:latin typeface="Arial" panose="020B0604020202020204" pitchFamily="34" charset="0"/>
                  <a:ea typeface="Microsoft YaHei UI" panose="020B0503020204020204" pitchFamily="34" charset="-122"/>
                </a:rPr>
                <a:t>将异常检测结果转化为可操作的防御措施，实现主动防御能力</a:t>
              </a:r>
            </a:p>
            <a:p>
              <a:endParaRPr lang="zh-CN" altLang="en-US" dirty="0"/>
            </a:p>
          </p:txBody>
        </p:sp>
        <p:sp>
          <p:nvSpPr>
            <p:cNvPr id="75" name="Shape 14">
              <a:extLst>
                <a:ext uri="{FF2B5EF4-FFF2-40B4-BE49-F238E27FC236}">
                  <a16:creationId xmlns:a16="http://schemas.microsoft.com/office/drawing/2014/main" id="{C439387B-B8B7-7AEA-82DC-470400C4D019}"/>
                </a:ext>
              </a:extLst>
            </p:cNvPr>
            <p:cNvSpPr/>
            <p:nvPr/>
          </p:nvSpPr>
          <p:spPr>
            <a:xfrm>
              <a:off x="7371895" y="2423910"/>
              <a:ext cx="360919" cy="552977"/>
            </a:xfrm>
            <a:custGeom>
              <a:avLst/>
              <a:gdLst/>
              <a:ahLst/>
              <a:cxnLst/>
              <a:rect l="l" t="t" r="r" b="b"/>
              <a:pathLst>
                <a:path w="426013" h="426013">
                  <a:moveTo>
                    <a:pt x="213006" y="0"/>
                  </a:moveTo>
                  <a:moveTo>
                    <a:pt x="213006" y="0"/>
                  </a:moveTo>
                  <a:cubicBezTo>
                    <a:pt x="330568" y="0"/>
                    <a:pt x="426013" y="95445"/>
                    <a:pt x="426013" y="213006"/>
                  </a:cubicBezTo>
                  <a:cubicBezTo>
                    <a:pt x="426013" y="330568"/>
                    <a:pt x="330568" y="426013"/>
                    <a:pt x="213006" y="426013"/>
                  </a:cubicBezTo>
                  <a:cubicBezTo>
                    <a:pt x="95445" y="426013"/>
                    <a:pt x="0" y="330568"/>
                    <a:pt x="0" y="213006"/>
                  </a:cubicBezTo>
                  <a:cubicBezTo>
                    <a:pt x="0" y="95445"/>
                    <a:pt x="95445" y="0"/>
                    <a:pt x="213006" y="0"/>
                  </a:cubicBezTo>
                  <a:close/>
                </a:path>
              </a:pathLst>
            </a:custGeom>
            <a:solidFill>
              <a:srgbClr val="0084FF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Text 15">
              <a:extLst>
                <a:ext uri="{FF2B5EF4-FFF2-40B4-BE49-F238E27FC236}">
                  <a16:creationId xmlns:a16="http://schemas.microsoft.com/office/drawing/2014/main" id="{BA2FDDE9-62B6-E8DC-5F46-9E3D9A992713}"/>
                </a:ext>
              </a:extLst>
            </p:cNvPr>
            <p:cNvSpPr/>
            <p:nvPr/>
          </p:nvSpPr>
          <p:spPr>
            <a:xfrm>
              <a:off x="7379728" y="2462006"/>
              <a:ext cx="601479" cy="413959"/>
            </a:xfrm>
            <a:prstGeom prst="rect">
              <a:avLst/>
            </a:prstGeom>
            <a:noFill/>
          </p:spPr>
          <p:txBody>
            <a:bodyPr wrap="square" lIns="95250" tIns="95250" rIns="95250" bIns="95250" rtlCol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375"/>
                </a:spcBef>
                <a:buNone/>
              </a:pPr>
              <a:r>
                <a:rPr lang="en-US" sz="144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04</a:t>
              </a:r>
              <a:endParaRPr lang="en-US" sz="1440" dirty="0"/>
            </a:p>
          </p:txBody>
        </p:sp>
        <p:sp>
          <p:nvSpPr>
            <p:cNvPr id="77" name="Shape 18">
              <a:extLst>
                <a:ext uri="{FF2B5EF4-FFF2-40B4-BE49-F238E27FC236}">
                  <a16:creationId xmlns:a16="http://schemas.microsoft.com/office/drawing/2014/main" id="{C5209915-43FE-F884-EAB6-0DF92E2F9271}"/>
                </a:ext>
              </a:extLst>
            </p:cNvPr>
            <p:cNvSpPr/>
            <p:nvPr/>
          </p:nvSpPr>
          <p:spPr>
            <a:xfrm>
              <a:off x="8124429" y="2775111"/>
              <a:ext cx="1130424" cy="0"/>
            </a:xfrm>
            <a:custGeom>
              <a:avLst/>
              <a:gdLst/>
              <a:ahLst/>
              <a:cxnLst/>
              <a:rect l="l" t="t" r="r" b="b"/>
              <a:pathLst>
                <a:path w="1334304">
                  <a:moveTo>
                    <a:pt x="0" y="0"/>
                  </a:moveTo>
                  <a:moveTo>
                    <a:pt x="0" y="0"/>
                  </a:moveTo>
                  <a:lnTo>
                    <a:pt x="1334304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prstDash val="solid"/>
              <a:headEnd type="none"/>
              <a:tailEnd type="arrow"/>
            </a:ln>
          </p:spPr>
          <p:txBody>
            <a:bodyPr/>
            <a:lstStyle/>
            <a:p>
              <a:r>
                <a:rPr lang="zh-CN" altLang="en-US" dirty="0"/>
                <a:t>防御响应</a:t>
              </a:r>
            </a:p>
          </p:txBody>
        </p:sp>
        <p:sp>
          <p:nvSpPr>
            <p:cNvPr id="79" name="Shape 6">
              <a:extLst>
                <a:ext uri="{FF2B5EF4-FFF2-40B4-BE49-F238E27FC236}">
                  <a16:creationId xmlns:a16="http://schemas.microsoft.com/office/drawing/2014/main" id="{475DF57C-658D-485A-F25C-11A7781C862C}"/>
                </a:ext>
              </a:extLst>
            </p:cNvPr>
            <p:cNvSpPr/>
            <p:nvPr/>
          </p:nvSpPr>
          <p:spPr>
            <a:xfrm>
              <a:off x="9638598" y="3427702"/>
              <a:ext cx="2107132" cy="3027813"/>
            </a:xfrm>
            <a:custGeom>
              <a:avLst/>
              <a:gdLst/>
              <a:ahLst/>
              <a:cxnLst/>
              <a:rect l="l" t="t" r="r" b="b"/>
              <a:pathLst>
                <a:path w="2487168" h="2332625">
                  <a:moveTo>
                    <a:pt x="260604" y="0"/>
                  </a:moveTo>
                  <a:moveTo>
                    <a:pt x="260604" y="0"/>
                  </a:moveTo>
                  <a:lnTo>
                    <a:pt x="2226564" y="0"/>
                  </a:lnTo>
                  <a:quadBezTo>
                    <a:pt x="2487168" y="0"/>
                    <a:pt x="2487168" y="291578"/>
                  </a:quadBezTo>
                  <a:lnTo>
                    <a:pt x="2487168" y="2041047"/>
                  </a:lnTo>
                  <a:quadBezTo>
                    <a:pt x="2487168" y="2332625"/>
                    <a:pt x="2226564" y="2332625"/>
                  </a:quadBezTo>
                  <a:lnTo>
                    <a:pt x="260604" y="2332625"/>
                  </a:lnTo>
                  <a:quadBezTo>
                    <a:pt x="0" y="2332625"/>
                    <a:pt x="0" y="2041047"/>
                  </a:quadBezTo>
                  <a:lnTo>
                    <a:pt x="0" y="291578"/>
                  </a:lnTo>
                  <a:quadBezTo>
                    <a:pt x="0" y="0"/>
                    <a:pt x="260604" y="0"/>
                  </a:quadBezTo>
                  <a:close/>
                </a:path>
              </a:pathLst>
            </a:custGeom>
            <a:solidFill>
              <a:schemeClr val="tx1">
                <a:alpha val="10000"/>
              </a:schemeClr>
            </a:solidFill>
          </p:spPr>
          <p:txBody>
            <a:bodyPr/>
            <a:lstStyle/>
            <a:p>
              <a:r>
                <a:rPr lang="zh-CN" altLang="en-US" sz="1400" dirty="0">
                  <a:latin typeface="Arial" panose="020B0604020202020204" pitchFamily="34" charset="0"/>
                  <a:ea typeface="Microsoft YaHei UI" panose="020B0503020204020204" pitchFamily="34" charset="-122"/>
                </a:rPr>
                <a:t>流量元数据存储：存储解析后的会话特征、包统计信息、通信行为指标。</a:t>
              </a:r>
            </a:p>
            <a:p>
              <a:r>
                <a:rPr lang="zh-CN" altLang="en-US" sz="1400" dirty="0">
                  <a:latin typeface="Arial" panose="020B0604020202020204" pitchFamily="34" charset="0"/>
                  <a:ea typeface="Microsoft YaHei UI" panose="020B0503020204020204" pitchFamily="34" charset="-122"/>
                </a:rPr>
                <a:t>异常事件数据库：记录所有异常检测结果、响应动作及关联元信息，支持查询、统计与可视化。</a:t>
              </a:r>
            </a:p>
            <a:p>
              <a:r>
                <a:rPr lang="zh-CN" altLang="en-US" sz="1400" dirty="0">
                  <a:latin typeface="Arial" panose="020B0604020202020204" pitchFamily="34" charset="0"/>
                  <a:ea typeface="Microsoft YaHei UI" panose="020B0503020204020204" pitchFamily="34" charset="-122"/>
                </a:rPr>
                <a:t>目标：</a:t>
              </a:r>
              <a:br>
                <a:rPr lang="zh-CN" altLang="en-US" sz="1400" dirty="0">
                  <a:latin typeface="Arial" panose="020B0604020202020204" pitchFamily="34" charset="0"/>
                  <a:ea typeface="Microsoft YaHei UI" panose="020B0503020204020204" pitchFamily="34" charset="-122"/>
                </a:rPr>
              </a:br>
              <a:r>
                <a:rPr lang="zh-CN" altLang="en-US" sz="1400" dirty="0">
                  <a:latin typeface="Arial" panose="020B0604020202020204" pitchFamily="34" charset="0"/>
                  <a:ea typeface="Microsoft YaHei UI" panose="020B0503020204020204" pitchFamily="34" charset="-122"/>
                </a:rPr>
                <a:t>保证系统操作和检测结果可追溯、可审计，同时为管理平台提供数据支持</a:t>
              </a:r>
            </a:p>
            <a:p>
              <a:endParaRPr lang="zh-CN" altLang="en-US" dirty="0"/>
            </a:p>
          </p:txBody>
        </p:sp>
        <p:sp>
          <p:nvSpPr>
            <p:cNvPr id="80" name="Shape 14">
              <a:extLst>
                <a:ext uri="{FF2B5EF4-FFF2-40B4-BE49-F238E27FC236}">
                  <a16:creationId xmlns:a16="http://schemas.microsoft.com/office/drawing/2014/main" id="{BBEE4954-8B82-7B11-7D92-D030D6321D22}"/>
                </a:ext>
              </a:extLst>
            </p:cNvPr>
            <p:cNvSpPr/>
            <p:nvPr/>
          </p:nvSpPr>
          <p:spPr>
            <a:xfrm>
              <a:off x="9638976" y="2423910"/>
              <a:ext cx="360919" cy="552977"/>
            </a:xfrm>
            <a:custGeom>
              <a:avLst/>
              <a:gdLst/>
              <a:ahLst/>
              <a:cxnLst/>
              <a:rect l="l" t="t" r="r" b="b"/>
              <a:pathLst>
                <a:path w="426013" h="426013">
                  <a:moveTo>
                    <a:pt x="213006" y="0"/>
                  </a:moveTo>
                  <a:moveTo>
                    <a:pt x="213006" y="0"/>
                  </a:moveTo>
                  <a:cubicBezTo>
                    <a:pt x="330568" y="0"/>
                    <a:pt x="426013" y="95445"/>
                    <a:pt x="426013" y="213006"/>
                  </a:cubicBezTo>
                  <a:cubicBezTo>
                    <a:pt x="426013" y="330568"/>
                    <a:pt x="330568" y="426013"/>
                    <a:pt x="213006" y="426013"/>
                  </a:cubicBezTo>
                  <a:cubicBezTo>
                    <a:pt x="95445" y="426013"/>
                    <a:pt x="0" y="330568"/>
                    <a:pt x="0" y="213006"/>
                  </a:cubicBezTo>
                  <a:cubicBezTo>
                    <a:pt x="0" y="95445"/>
                    <a:pt x="95445" y="0"/>
                    <a:pt x="213006" y="0"/>
                  </a:cubicBezTo>
                  <a:close/>
                </a:path>
              </a:pathLst>
            </a:custGeom>
            <a:solidFill>
              <a:srgbClr val="0084FF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Text 15">
              <a:extLst>
                <a:ext uri="{FF2B5EF4-FFF2-40B4-BE49-F238E27FC236}">
                  <a16:creationId xmlns:a16="http://schemas.microsoft.com/office/drawing/2014/main" id="{81B809EE-73C7-534D-1A31-2F54183A9A5A}"/>
                </a:ext>
              </a:extLst>
            </p:cNvPr>
            <p:cNvSpPr/>
            <p:nvPr/>
          </p:nvSpPr>
          <p:spPr>
            <a:xfrm>
              <a:off x="9646809" y="2462006"/>
              <a:ext cx="601479" cy="413959"/>
            </a:xfrm>
            <a:prstGeom prst="rect">
              <a:avLst/>
            </a:prstGeom>
            <a:noFill/>
          </p:spPr>
          <p:txBody>
            <a:bodyPr wrap="square" lIns="95250" tIns="95250" rIns="95250" bIns="95250" rtlCol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375"/>
                </a:spcBef>
                <a:buNone/>
              </a:pPr>
              <a:r>
                <a:rPr lang="en-US" sz="144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05</a:t>
              </a:r>
              <a:endParaRPr lang="en-US" sz="1440" dirty="0"/>
            </a:p>
          </p:txBody>
        </p:sp>
        <p:sp>
          <p:nvSpPr>
            <p:cNvPr id="82" name="Shape 18">
              <a:extLst>
                <a:ext uri="{FF2B5EF4-FFF2-40B4-BE49-F238E27FC236}">
                  <a16:creationId xmlns:a16="http://schemas.microsoft.com/office/drawing/2014/main" id="{D25AF133-4F7C-B8C2-0E01-13D4AA4EC5DD}"/>
                </a:ext>
              </a:extLst>
            </p:cNvPr>
            <p:cNvSpPr/>
            <p:nvPr/>
          </p:nvSpPr>
          <p:spPr>
            <a:xfrm>
              <a:off x="10391510" y="2775111"/>
              <a:ext cx="1130424" cy="0"/>
            </a:xfrm>
            <a:custGeom>
              <a:avLst/>
              <a:gdLst/>
              <a:ahLst/>
              <a:cxnLst/>
              <a:rect l="l" t="t" r="r" b="b"/>
              <a:pathLst>
                <a:path w="1334304">
                  <a:moveTo>
                    <a:pt x="0" y="0"/>
                  </a:moveTo>
                  <a:moveTo>
                    <a:pt x="0" y="0"/>
                  </a:moveTo>
                  <a:lnTo>
                    <a:pt x="1334304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prstDash val="solid"/>
              <a:headEnd type="none"/>
              <a:tailEnd type="arrow"/>
            </a:ln>
          </p:spPr>
          <p:txBody>
            <a:bodyPr/>
            <a:lstStyle/>
            <a:p>
              <a:r>
                <a:rPr lang="zh-CN" altLang="en-US" dirty="0"/>
                <a:t>存储日志</a:t>
              </a:r>
            </a:p>
          </p:txBody>
        </p:sp>
      </p:grpSp>
      <p:sp>
        <p:nvSpPr>
          <p:cNvPr id="83" name="Shape 20">
            <a:extLst>
              <a:ext uri="{FF2B5EF4-FFF2-40B4-BE49-F238E27FC236}">
                <a16:creationId xmlns:a16="http://schemas.microsoft.com/office/drawing/2014/main" id="{4E78AFB9-6729-93C6-58DE-E3966BC9AD9F}"/>
              </a:ext>
            </a:extLst>
          </p:cNvPr>
          <p:cNvSpPr/>
          <p:nvPr/>
        </p:nvSpPr>
        <p:spPr>
          <a:xfrm>
            <a:off x="9999809" y="3093830"/>
            <a:ext cx="449445" cy="333872"/>
          </a:xfrm>
          <a:custGeom>
            <a:avLst/>
            <a:gdLst/>
            <a:ahLst/>
            <a:cxnLst/>
            <a:rect l="l" t="t" r="r" b="b"/>
            <a:pathLst>
              <a:path w="530506" h="257215">
                <a:moveTo>
                  <a:pt x="265253" y="0"/>
                </a:moveTo>
                <a:moveTo>
                  <a:pt x="265253" y="0"/>
                </a:moveTo>
                <a:lnTo>
                  <a:pt x="0" y="257215"/>
                </a:lnTo>
                <a:lnTo>
                  <a:pt x="530506" y="257215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899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6E83B-52BA-4F9D-0ACD-845C8ADE4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656B68-524C-4C4B-8945-37F571B0C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49199"/>
            <a:ext cx="7960421" cy="477067"/>
          </a:xfrm>
        </p:spPr>
        <p:txBody>
          <a:bodyPr rtlCol="0">
            <a:normAutofit fontScale="90000"/>
          </a:bodyPr>
          <a:lstStyle/>
          <a:p>
            <a:r>
              <a:rPr lang="en-US" altLang="zh-CN" dirty="0"/>
              <a:t>Web </a:t>
            </a:r>
            <a:r>
              <a:rPr lang="zh-CN" altLang="en-US" dirty="0"/>
              <a:t>管理平台（</a:t>
            </a:r>
            <a:r>
              <a:rPr lang="en-US" altLang="zh-CN" dirty="0" err="1"/>
              <a:t>FastAPI</a:t>
            </a:r>
            <a:r>
              <a:rPr lang="zh-CN" altLang="en-US" dirty="0"/>
              <a:t>）</a:t>
            </a:r>
            <a:endParaRPr lang="zh-cn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F7B778-A03D-2850-CBB6-C96752DC9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2" y="852615"/>
            <a:ext cx="5435409" cy="1207089"/>
          </a:xfrm>
        </p:spPr>
        <p:txBody>
          <a:bodyPr rtlCol="0">
            <a:normAutofit lnSpcReduction="10000"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1500" dirty="0">
                <a:latin typeface="Arial" panose="020B0604020202020204" pitchFamily="34" charset="0"/>
              </a:rPr>
              <a:t>有实时监控</a:t>
            </a:r>
            <a:endParaRPr lang="en-US" altLang="zh-CN" sz="15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1500" dirty="0">
                <a:latin typeface="Arial" panose="020B0604020202020204" pitchFamily="34" charset="0"/>
              </a:rPr>
              <a:t>异常告警</a:t>
            </a:r>
            <a:endParaRPr lang="en-US" altLang="zh-CN" sz="15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sz="1500" dirty="0">
                <a:latin typeface="Arial" panose="020B0604020202020204" pitchFamily="34" charset="0"/>
              </a:rPr>
              <a:t>GO agent</a:t>
            </a:r>
            <a:r>
              <a:rPr lang="zh-CN" altLang="en-US" sz="1500" dirty="0">
                <a:latin typeface="Arial" panose="020B0604020202020204" pitchFamily="34" charset="0"/>
              </a:rPr>
              <a:t>状态管理</a:t>
            </a:r>
            <a:endParaRPr lang="en-US" altLang="zh-CN" sz="15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1500" dirty="0">
                <a:latin typeface="Arial" panose="020B0604020202020204" pitchFamily="34" charset="0"/>
              </a:rPr>
              <a:t>指令下发与控制</a:t>
            </a:r>
            <a:endParaRPr lang="en-US" altLang="zh-CN" sz="15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1500" dirty="0">
                <a:latin typeface="Arial" panose="020B0604020202020204" pitchFamily="34" charset="0"/>
              </a:rPr>
              <a:t>系统配置与可视化</a:t>
            </a:r>
            <a:endParaRPr lang="zh-cn" altLang="en-US" sz="1500" dirty="0">
              <a:latin typeface="Arial" panose="020B0604020202020204" pitchFamily="34" charset="0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BFFF451F-DB74-4566-CEA3-440610722856}"/>
              </a:ext>
            </a:extLst>
          </p:cNvPr>
          <p:cNvGrpSpPr/>
          <p:nvPr/>
        </p:nvGrpSpPr>
        <p:grpSpPr>
          <a:xfrm>
            <a:off x="219456" y="1998244"/>
            <a:ext cx="11391201" cy="4646395"/>
            <a:chOff x="550862" y="2423910"/>
            <a:chExt cx="11194868" cy="4031753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8FF0709A-8A1B-9EBD-8DFB-A58598575695}"/>
                </a:ext>
              </a:extLst>
            </p:cNvPr>
            <p:cNvGrpSpPr/>
            <p:nvPr/>
          </p:nvGrpSpPr>
          <p:grpSpPr>
            <a:xfrm>
              <a:off x="550862" y="2423910"/>
              <a:ext cx="6660706" cy="4031753"/>
              <a:chOff x="550862" y="2423910"/>
              <a:chExt cx="7288594" cy="4031753"/>
            </a:xfrm>
          </p:grpSpPr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6B88946F-EBAA-798F-2536-04B9EF0EE523}"/>
                  </a:ext>
                </a:extLst>
              </p:cNvPr>
              <p:cNvGrpSpPr/>
              <p:nvPr/>
            </p:nvGrpSpPr>
            <p:grpSpPr>
              <a:xfrm>
                <a:off x="550862" y="2423910"/>
                <a:ext cx="7288594" cy="4031753"/>
                <a:chOff x="1535939" y="2802125"/>
                <a:chExt cx="7862012" cy="3106060"/>
              </a:xfrm>
            </p:grpSpPr>
            <p:sp>
              <p:nvSpPr>
                <p:cNvPr id="38" name="Shape 1">
                  <a:extLst>
                    <a:ext uri="{FF2B5EF4-FFF2-40B4-BE49-F238E27FC236}">
                      <a16:creationId xmlns:a16="http://schemas.microsoft.com/office/drawing/2014/main" id="{5B32D9FA-C3F4-0C93-C4F3-C4E1F74EEED3}"/>
                    </a:ext>
                  </a:extLst>
                </p:cNvPr>
                <p:cNvSpPr/>
                <p:nvPr/>
              </p:nvSpPr>
              <p:spPr>
                <a:xfrm>
                  <a:off x="1535939" y="3575446"/>
                  <a:ext cx="2487168" cy="233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7168" h="2332625">
                      <a:moveTo>
                        <a:pt x="260604" y="0"/>
                      </a:moveTo>
                      <a:moveTo>
                        <a:pt x="260604" y="0"/>
                      </a:moveTo>
                      <a:lnTo>
                        <a:pt x="2226564" y="0"/>
                      </a:lnTo>
                      <a:quadBezTo>
                        <a:pt x="2487168" y="0"/>
                        <a:pt x="2487168" y="291578"/>
                      </a:quadBezTo>
                      <a:lnTo>
                        <a:pt x="2487168" y="2041047"/>
                      </a:lnTo>
                      <a:quadBezTo>
                        <a:pt x="2487168" y="2332625"/>
                        <a:pt x="2226564" y="2332625"/>
                      </a:quadBezTo>
                      <a:lnTo>
                        <a:pt x="260604" y="2332625"/>
                      </a:lnTo>
                      <a:quadBezTo>
                        <a:pt x="0" y="2332625"/>
                        <a:pt x="0" y="2041047"/>
                      </a:quadBezTo>
                      <a:lnTo>
                        <a:pt x="0" y="291578"/>
                      </a:lnTo>
                      <a:quadBezTo>
                        <a:pt x="0" y="0"/>
                        <a:pt x="260604" y="0"/>
                      </a:quadBezTo>
                      <a:close/>
                    </a:path>
                  </a:pathLst>
                </a:custGeom>
                <a:solidFill>
                  <a:schemeClr val="tx1">
                    <a:alpha val="10000"/>
                  </a:schemeClr>
                </a:solidFill>
              </p:spPr>
              <p:txBody>
                <a:bodyPr/>
                <a:lstStyle/>
                <a:p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实时获取受控回连平台及流量抓取系统的数据状态。</a:t>
                  </a:r>
                  <a:endParaRPr lang="en-US" altLang="zh-CN" sz="1400" dirty="0">
                    <a:latin typeface="Arial" panose="020B0604020202020204" pitchFamily="34" charset="0"/>
                    <a:ea typeface="Microsoft YaHei UI" panose="020B0503020204020204" pitchFamily="34" charset="-122"/>
                  </a:endParaRPr>
                </a:p>
                <a:p>
                  <a:endParaRPr lang="en-US" altLang="zh-CN" sz="1400" dirty="0">
                    <a:latin typeface="Arial" panose="020B0604020202020204" pitchFamily="34" charset="0"/>
                    <a:ea typeface="Microsoft YaHei UI" panose="020B0503020204020204" pitchFamily="34" charset="-122"/>
                  </a:endParaRPr>
                </a:p>
                <a:p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前端可视化展示关键指标利用 </a:t>
                  </a:r>
                  <a:r>
                    <a:rPr lang="en-US" altLang="zh-CN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WebSocket </a:t>
                  </a:r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或 </a:t>
                  </a:r>
                  <a:r>
                    <a:rPr lang="en-US" altLang="zh-CN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Server-Sent Events (SSE) </a:t>
                  </a:r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技术实现实时刷新，保证数据的即时性。</a:t>
                  </a:r>
                </a:p>
                <a:p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目标：</a:t>
                  </a:r>
                  <a:b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</a:br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提供完整、直观的系统运行视图，辅助用户快速发现异常行为。</a:t>
                  </a:r>
                </a:p>
                <a:p>
                  <a:endParaRPr lang="zh-CN" altLang="en-US" dirty="0"/>
                </a:p>
              </p:txBody>
            </p:sp>
            <p:sp>
              <p:nvSpPr>
                <p:cNvPr id="39" name="Shape 2">
                  <a:extLst>
                    <a:ext uri="{FF2B5EF4-FFF2-40B4-BE49-F238E27FC236}">
                      <a16:creationId xmlns:a16="http://schemas.microsoft.com/office/drawing/2014/main" id="{ADF73DDB-F9D4-984E-030A-8E07674F673D}"/>
                    </a:ext>
                  </a:extLst>
                </p:cNvPr>
                <p:cNvSpPr/>
                <p:nvPr/>
              </p:nvSpPr>
              <p:spPr>
                <a:xfrm>
                  <a:off x="1961851" y="3318231"/>
                  <a:ext cx="530506" cy="2572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0506" h="257215">
                      <a:moveTo>
                        <a:pt x="265253" y="0"/>
                      </a:moveTo>
                      <a:moveTo>
                        <a:pt x="265253" y="0"/>
                      </a:moveTo>
                      <a:lnTo>
                        <a:pt x="0" y="257215"/>
                      </a:lnTo>
                      <a:lnTo>
                        <a:pt x="530506" y="257215"/>
                      </a:lnTo>
                      <a:close/>
                    </a:path>
                  </a:pathLst>
                </a:custGeom>
                <a:solidFill>
                  <a:schemeClr val="tx1">
                    <a:alpha val="10000"/>
                  </a:schemeClr>
                </a:solidFill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" name="Shape 3">
                  <a:extLst>
                    <a:ext uri="{FF2B5EF4-FFF2-40B4-BE49-F238E27FC236}">
                      <a16:creationId xmlns:a16="http://schemas.microsoft.com/office/drawing/2014/main" id="{9BD246D6-D0A7-F925-D417-F2E378651AF5}"/>
                    </a:ext>
                  </a:extLst>
                </p:cNvPr>
                <p:cNvSpPr/>
                <p:nvPr/>
              </p:nvSpPr>
              <p:spPr>
                <a:xfrm>
                  <a:off x="1535939" y="2802125"/>
                  <a:ext cx="426013" cy="426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6013" h="426013">
                      <a:moveTo>
                        <a:pt x="213006" y="0"/>
                      </a:moveTo>
                      <a:moveTo>
                        <a:pt x="213006" y="0"/>
                      </a:moveTo>
                      <a:cubicBezTo>
                        <a:pt x="330568" y="0"/>
                        <a:pt x="426013" y="95445"/>
                        <a:pt x="426013" y="213006"/>
                      </a:cubicBezTo>
                      <a:cubicBezTo>
                        <a:pt x="426013" y="330568"/>
                        <a:pt x="330568" y="426013"/>
                        <a:pt x="213006" y="426013"/>
                      </a:cubicBezTo>
                      <a:cubicBezTo>
                        <a:pt x="95445" y="426013"/>
                        <a:pt x="0" y="330568"/>
                        <a:pt x="0" y="213006"/>
                      </a:cubicBezTo>
                      <a:cubicBezTo>
                        <a:pt x="0" y="95445"/>
                        <a:pt x="95445" y="0"/>
                        <a:pt x="213006" y="0"/>
                      </a:cubicBezTo>
                      <a:close/>
                    </a:path>
                  </a:pathLst>
                </a:custGeom>
                <a:solidFill>
                  <a:srgbClr val="0084FF"/>
                </a:solidFill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" name="Shape 4">
                  <a:extLst>
                    <a:ext uri="{FF2B5EF4-FFF2-40B4-BE49-F238E27FC236}">
                      <a16:creationId xmlns:a16="http://schemas.microsoft.com/office/drawing/2014/main" id="{08DCC0E9-DD66-5656-E9E1-2CE9BA87E6E8}"/>
                    </a:ext>
                  </a:extLst>
                </p:cNvPr>
                <p:cNvSpPr/>
                <p:nvPr/>
              </p:nvSpPr>
              <p:spPr>
                <a:xfrm>
                  <a:off x="2484420" y="3072690"/>
                  <a:ext cx="1334304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4304">
                      <a:moveTo>
                        <a:pt x="0" y="0"/>
                      </a:moveTo>
                      <a:moveTo>
                        <a:pt x="0" y="0"/>
                      </a:moveTo>
                      <a:lnTo>
                        <a:pt x="1334304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  <a:prstDash val="solid"/>
                  <a:headEnd type="none"/>
                  <a:tailEnd type="arrow"/>
                </a:ln>
              </p:spPr>
              <p:txBody>
                <a:bodyPr/>
                <a:lstStyle/>
                <a:p>
                  <a:r>
                    <a:rPr lang="zh-CN" altLang="en-US" dirty="0"/>
                    <a:t>实时监控</a:t>
                  </a:r>
                </a:p>
              </p:txBody>
            </p:sp>
            <p:sp>
              <p:nvSpPr>
                <p:cNvPr id="42" name="Shape 6">
                  <a:extLst>
                    <a:ext uri="{FF2B5EF4-FFF2-40B4-BE49-F238E27FC236}">
                      <a16:creationId xmlns:a16="http://schemas.microsoft.com/office/drawing/2014/main" id="{4977E0C9-3FF3-9810-DCFC-8750C9385204}"/>
                    </a:ext>
                  </a:extLst>
                </p:cNvPr>
                <p:cNvSpPr/>
                <p:nvPr/>
              </p:nvSpPr>
              <p:spPr>
                <a:xfrm>
                  <a:off x="4234334" y="3575446"/>
                  <a:ext cx="2487168" cy="233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7168" h="2332625">
                      <a:moveTo>
                        <a:pt x="260604" y="0"/>
                      </a:moveTo>
                      <a:moveTo>
                        <a:pt x="260604" y="0"/>
                      </a:moveTo>
                      <a:lnTo>
                        <a:pt x="2226564" y="0"/>
                      </a:lnTo>
                      <a:quadBezTo>
                        <a:pt x="2487168" y="0"/>
                        <a:pt x="2487168" y="291578"/>
                      </a:quadBezTo>
                      <a:lnTo>
                        <a:pt x="2487168" y="2041047"/>
                      </a:lnTo>
                      <a:quadBezTo>
                        <a:pt x="2487168" y="2332625"/>
                        <a:pt x="2226564" y="2332625"/>
                      </a:quadBezTo>
                      <a:lnTo>
                        <a:pt x="260604" y="2332625"/>
                      </a:lnTo>
                      <a:quadBezTo>
                        <a:pt x="0" y="2332625"/>
                        <a:pt x="0" y="2041047"/>
                      </a:quadBezTo>
                      <a:lnTo>
                        <a:pt x="0" y="291578"/>
                      </a:lnTo>
                      <a:quadBezTo>
                        <a:pt x="0" y="0"/>
                        <a:pt x="260604" y="0"/>
                      </a:quadBezTo>
                      <a:close/>
                    </a:path>
                  </a:pathLst>
                </a:custGeom>
                <a:solidFill>
                  <a:schemeClr val="tx1">
                    <a:alpha val="10000"/>
                  </a:schemeClr>
                </a:solidFill>
              </p:spPr>
              <p:txBody>
                <a:bodyPr/>
                <a:lstStyle/>
                <a:p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聚合异常检测层发送的告警信息，并按严重性分类。</a:t>
                  </a:r>
                </a:p>
                <a:p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提供多渠道告警推送（</a:t>
                  </a:r>
                  <a:r>
                    <a:rPr lang="en-US" altLang="zh-CN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Web </a:t>
                  </a:r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界面、邮件、消息通知）。</a:t>
                  </a:r>
                </a:p>
                <a:p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支持告警历史查询与统计分析，为防御策略优化提供依据。</a:t>
                  </a:r>
                </a:p>
                <a:p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目标：</a:t>
                  </a:r>
                  <a:b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</a:br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确保异常事件能够被及时发现和处理，提升系统的响应效率。</a:t>
                  </a:r>
                </a:p>
                <a:p>
                  <a:endParaRPr lang="zh-CN" altLang="en-US" dirty="0"/>
                </a:p>
              </p:txBody>
            </p:sp>
            <p:sp>
              <p:nvSpPr>
                <p:cNvPr id="43" name="Shape 7">
                  <a:extLst>
                    <a:ext uri="{FF2B5EF4-FFF2-40B4-BE49-F238E27FC236}">
                      <a16:creationId xmlns:a16="http://schemas.microsoft.com/office/drawing/2014/main" id="{C5861B90-20A4-6415-4CC5-C68A331286B5}"/>
                    </a:ext>
                  </a:extLst>
                </p:cNvPr>
                <p:cNvSpPr/>
                <p:nvPr/>
              </p:nvSpPr>
              <p:spPr>
                <a:xfrm>
                  <a:off x="6910783" y="3575560"/>
                  <a:ext cx="2487168" cy="233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7168" h="2332625">
                      <a:moveTo>
                        <a:pt x="260604" y="0"/>
                      </a:moveTo>
                      <a:moveTo>
                        <a:pt x="260604" y="0"/>
                      </a:moveTo>
                      <a:lnTo>
                        <a:pt x="2226564" y="0"/>
                      </a:lnTo>
                      <a:quadBezTo>
                        <a:pt x="2487168" y="0"/>
                        <a:pt x="2487168" y="291578"/>
                      </a:quadBezTo>
                      <a:lnTo>
                        <a:pt x="2487168" y="2041047"/>
                      </a:lnTo>
                      <a:quadBezTo>
                        <a:pt x="2487168" y="2332625"/>
                        <a:pt x="2226564" y="2332625"/>
                      </a:quadBezTo>
                      <a:lnTo>
                        <a:pt x="260604" y="2332625"/>
                      </a:lnTo>
                      <a:quadBezTo>
                        <a:pt x="0" y="2332625"/>
                        <a:pt x="0" y="2041047"/>
                      </a:quadBezTo>
                      <a:lnTo>
                        <a:pt x="0" y="291578"/>
                      </a:lnTo>
                      <a:quadBezTo>
                        <a:pt x="0" y="0"/>
                        <a:pt x="260604" y="0"/>
                      </a:quadBezTo>
                      <a:close/>
                    </a:path>
                  </a:pathLst>
                </a:custGeom>
                <a:solidFill>
                  <a:schemeClr val="tx1">
                    <a:alpha val="10000"/>
                  </a:schemeClr>
                </a:solidFill>
              </p:spPr>
              <p:txBody>
                <a:bodyPr/>
                <a:lstStyle/>
                <a:p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实时显示 </a:t>
                  </a:r>
                  <a:r>
                    <a:rPr lang="en-US" altLang="zh-CN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Agent </a:t>
                  </a:r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运行状态、心跳、流量连接情况。</a:t>
                  </a:r>
                </a:p>
                <a:p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支持 </a:t>
                  </a:r>
                  <a:r>
                    <a:rPr lang="en-US" altLang="zh-CN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Agent </a:t>
                  </a:r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上线</a:t>
                  </a:r>
                  <a:r>
                    <a:rPr lang="en-US" altLang="zh-CN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/</a:t>
                  </a:r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下线记录和异常状态提示。</a:t>
                  </a:r>
                </a:p>
                <a:p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提供接口供后台任务调用，便于远程维护和调度。</a:t>
                  </a:r>
                </a:p>
                <a:p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目标：</a:t>
                  </a:r>
                  <a:b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</a:br>
                  <a:r>
                    <a:rPr lang="zh-CN" altLang="en-US" sz="1400" dirty="0">
                      <a:latin typeface="Arial" panose="020B0604020202020204" pitchFamily="34" charset="0"/>
                      <a:ea typeface="Microsoft YaHei UI" panose="020B0503020204020204" pitchFamily="34" charset="-122"/>
                    </a:rPr>
                    <a:t>确保受控仿真节点状态可视化，便于整体系统监控和管理。</a:t>
                  </a:r>
                </a:p>
                <a:p>
                  <a:endParaRPr lang="zh-CN" altLang="en-US" dirty="0"/>
                </a:p>
              </p:txBody>
            </p:sp>
            <p:sp>
              <p:nvSpPr>
                <p:cNvPr id="44" name="Text 13">
                  <a:extLst>
                    <a:ext uri="{FF2B5EF4-FFF2-40B4-BE49-F238E27FC236}">
                      <a16:creationId xmlns:a16="http://schemas.microsoft.com/office/drawing/2014/main" id="{75EC816E-206D-3760-D24E-1D4B84EBA323}"/>
                    </a:ext>
                  </a:extLst>
                </p:cNvPr>
                <p:cNvSpPr/>
                <p:nvPr/>
              </p:nvSpPr>
              <p:spPr>
                <a:xfrm>
                  <a:off x="1535939" y="2831474"/>
                  <a:ext cx="679728" cy="365760"/>
                </a:xfrm>
                <a:prstGeom prst="rect">
                  <a:avLst/>
                </a:prstGeom>
                <a:noFill/>
              </p:spPr>
              <p:txBody>
                <a:bodyPr wrap="square" lIns="95250" tIns="95250" rIns="95250" bIns="95250" rtlCol="0" anchor="t">
                  <a:spAutoFit/>
                </a:bodyPr>
                <a:lstStyle/>
                <a:p>
                  <a:pPr marL="0" indent="0">
                    <a:lnSpc>
                      <a:spcPct val="100000"/>
                    </a:lnSpc>
                    <a:spcBef>
                      <a:spcPts val="375"/>
                    </a:spcBef>
                    <a:buNone/>
                  </a:pPr>
                  <a:r>
                    <a:rPr lang="en-US" sz="1440" b="1" dirty="0">
                      <a:solidFill>
                        <a:srgbClr val="FFFF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0"/>
                    </a:rPr>
                    <a:t>01</a:t>
                  </a:r>
                  <a:endParaRPr lang="en-US" sz="1440" dirty="0"/>
                </a:p>
              </p:txBody>
            </p:sp>
            <p:sp>
              <p:nvSpPr>
                <p:cNvPr id="45" name="Shape 14">
                  <a:extLst>
                    <a:ext uri="{FF2B5EF4-FFF2-40B4-BE49-F238E27FC236}">
                      <a16:creationId xmlns:a16="http://schemas.microsoft.com/office/drawing/2014/main" id="{B3807BC6-99BC-1B80-EF19-2A73C16C3DE2}"/>
                    </a:ext>
                  </a:extLst>
                </p:cNvPr>
                <p:cNvSpPr/>
                <p:nvPr/>
              </p:nvSpPr>
              <p:spPr>
                <a:xfrm>
                  <a:off x="4234780" y="2802125"/>
                  <a:ext cx="426013" cy="426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6013" h="426013">
                      <a:moveTo>
                        <a:pt x="213006" y="0"/>
                      </a:moveTo>
                      <a:moveTo>
                        <a:pt x="213006" y="0"/>
                      </a:moveTo>
                      <a:cubicBezTo>
                        <a:pt x="330568" y="0"/>
                        <a:pt x="426013" y="95445"/>
                        <a:pt x="426013" y="213006"/>
                      </a:cubicBezTo>
                      <a:cubicBezTo>
                        <a:pt x="426013" y="330568"/>
                        <a:pt x="330568" y="426013"/>
                        <a:pt x="213006" y="426013"/>
                      </a:cubicBezTo>
                      <a:cubicBezTo>
                        <a:pt x="95445" y="426013"/>
                        <a:pt x="0" y="330568"/>
                        <a:pt x="0" y="213006"/>
                      </a:cubicBezTo>
                      <a:cubicBezTo>
                        <a:pt x="0" y="95445"/>
                        <a:pt x="95445" y="0"/>
                        <a:pt x="213006" y="0"/>
                      </a:cubicBezTo>
                      <a:close/>
                    </a:path>
                  </a:pathLst>
                </a:custGeom>
                <a:solidFill>
                  <a:srgbClr val="0084FF"/>
                </a:solidFill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" name="Text 15">
                  <a:extLst>
                    <a:ext uri="{FF2B5EF4-FFF2-40B4-BE49-F238E27FC236}">
                      <a16:creationId xmlns:a16="http://schemas.microsoft.com/office/drawing/2014/main" id="{61C6221F-C2CD-DA85-AC9E-7F9CB1450910}"/>
                    </a:ext>
                  </a:extLst>
                </p:cNvPr>
                <p:cNvSpPr/>
                <p:nvPr/>
              </p:nvSpPr>
              <p:spPr>
                <a:xfrm>
                  <a:off x="4244025" y="2831474"/>
                  <a:ext cx="709960" cy="365760"/>
                </a:xfrm>
                <a:prstGeom prst="rect">
                  <a:avLst/>
                </a:prstGeom>
                <a:noFill/>
              </p:spPr>
              <p:txBody>
                <a:bodyPr wrap="square" lIns="95250" tIns="95250" rIns="95250" bIns="95250" rtlCol="0" anchor="t">
                  <a:spAutoFit/>
                </a:bodyPr>
                <a:lstStyle/>
                <a:p>
                  <a:pPr marL="0" indent="0">
                    <a:lnSpc>
                      <a:spcPct val="100000"/>
                    </a:lnSpc>
                    <a:spcBef>
                      <a:spcPts val="375"/>
                    </a:spcBef>
                    <a:buNone/>
                  </a:pPr>
                  <a:r>
                    <a:rPr lang="en-US" sz="1440" b="1" dirty="0">
                      <a:solidFill>
                        <a:srgbClr val="FFFF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0"/>
                    </a:rPr>
                    <a:t>02</a:t>
                  </a:r>
                  <a:endParaRPr lang="en-US" sz="1440" dirty="0"/>
                </a:p>
              </p:txBody>
            </p:sp>
            <p:sp>
              <p:nvSpPr>
                <p:cNvPr id="47" name="Shape 16">
                  <a:extLst>
                    <a:ext uri="{FF2B5EF4-FFF2-40B4-BE49-F238E27FC236}">
                      <a16:creationId xmlns:a16="http://schemas.microsoft.com/office/drawing/2014/main" id="{3B9701C4-B172-8464-EBF2-A758153DB25B}"/>
                    </a:ext>
                  </a:extLst>
                </p:cNvPr>
                <p:cNvSpPr/>
                <p:nvPr/>
              </p:nvSpPr>
              <p:spPr>
                <a:xfrm>
                  <a:off x="6910764" y="2802125"/>
                  <a:ext cx="426013" cy="426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6013" h="426013">
                      <a:moveTo>
                        <a:pt x="213006" y="0"/>
                      </a:moveTo>
                      <a:moveTo>
                        <a:pt x="213006" y="0"/>
                      </a:moveTo>
                      <a:cubicBezTo>
                        <a:pt x="330568" y="0"/>
                        <a:pt x="426013" y="95445"/>
                        <a:pt x="426013" y="213006"/>
                      </a:cubicBezTo>
                      <a:cubicBezTo>
                        <a:pt x="426013" y="330568"/>
                        <a:pt x="330568" y="426013"/>
                        <a:pt x="213006" y="426013"/>
                      </a:cubicBezTo>
                      <a:cubicBezTo>
                        <a:pt x="95445" y="426013"/>
                        <a:pt x="0" y="330568"/>
                        <a:pt x="0" y="213006"/>
                      </a:cubicBezTo>
                      <a:cubicBezTo>
                        <a:pt x="0" y="95445"/>
                        <a:pt x="95445" y="0"/>
                        <a:pt x="213006" y="0"/>
                      </a:cubicBezTo>
                      <a:close/>
                    </a:path>
                  </a:pathLst>
                </a:custGeom>
                <a:solidFill>
                  <a:srgbClr val="0084FF"/>
                </a:solidFill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" name="Text 17">
                  <a:extLst>
                    <a:ext uri="{FF2B5EF4-FFF2-40B4-BE49-F238E27FC236}">
                      <a16:creationId xmlns:a16="http://schemas.microsoft.com/office/drawing/2014/main" id="{C660008A-3FDE-0E7E-8F29-D7D9F5C76618}"/>
                    </a:ext>
                  </a:extLst>
                </p:cNvPr>
                <p:cNvSpPr/>
                <p:nvPr/>
              </p:nvSpPr>
              <p:spPr>
                <a:xfrm>
                  <a:off x="6911249" y="2831474"/>
                  <a:ext cx="723664" cy="365760"/>
                </a:xfrm>
                <a:prstGeom prst="rect">
                  <a:avLst/>
                </a:prstGeom>
                <a:noFill/>
              </p:spPr>
              <p:txBody>
                <a:bodyPr wrap="square" lIns="95250" tIns="95250" rIns="95250" bIns="95250" rtlCol="0" anchor="t">
                  <a:spAutoFit/>
                </a:bodyPr>
                <a:lstStyle/>
                <a:p>
                  <a:pPr marL="0" indent="0">
                    <a:lnSpc>
                      <a:spcPct val="100000"/>
                    </a:lnSpc>
                    <a:spcBef>
                      <a:spcPts val="375"/>
                    </a:spcBef>
                    <a:buNone/>
                  </a:pPr>
                  <a:r>
                    <a:rPr lang="en-US" sz="1440" b="1" dirty="0">
                      <a:solidFill>
                        <a:srgbClr val="FFFF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0"/>
                    </a:rPr>
                    <a:t>03</a:t>
                  </a:r>
                  <a:endParaRPr lang="en-US" sz="1440" dirty="0"/>
                </a:p>
              </p:txBody>
            </p:sp>
            <p:sp>
              <p:nvSpPr>
                <p:cNvPr id="49" name="Shape 18">
                  <a:extLst>
                    <a:ext uri="{FF2B5EF4-FFF2-40B4-BE49-F238E27FC236}">
                      <a16:creationId xmlns:a16="http://schemas.microsoft.com/office/drawing/2014/main" id="{A3AD7987-72CC-1642-78E3-821C8BB6C858}"/>
                    </a:ext>
                  </a:extLst>
                </p:cNvPr>
                <p:cNvSpPr/>
                <p:nvPr/>
              </p:nvSpPr>
              <p:spPr>
                <a:xfrm>
                  <a:off x="5123038" y="3072690"/>
                  <a:ext cx="1334304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4304">
                      <a:moveTo>
                        <a:pt x="0" y="0"/>
                      </a:moveTo>
                      <a:moveTo>
                        <a:pt x="0" y="0"/>
                      </a:moveTo>
                      <a:lnTo>
                        <a:pt x="1334304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  <a:prstDash val="solid"/>
                  <a:headEnd type="none"/>
                  <a:tailEnd type="arrow"/>
                </a:ln>
              </p:spPr>
              <p:txBody>
                <a:bodyPr/>
                <a:lstStyle/>
                <a:p>
                  <a:r>
                    <a:rPr lang="zh-CN" altLang="en-US" dirty="0"/>
                    <a:t>异常告警</a:t>
                  </a:r>
                </a:p>
              </p:txBody>
            </p:sp>
            <p:sp>
              <p:nvSpPr>
                <p:cNvPr id="50" name="Shape 20">
                  <a:extLst>
                    <a:ext uri="{FF2B5EF4-FFF2-40B4-BE49-F238E27FC236}">
                      <a16:creationId xmlns:a16="http://schemas.microsoft.com/office/drawing/2014/main" id="{F56ED58D-D384-3B98-FBCE-3AB189C7337B}"/>
                    </a:ext>
                  </a:extLst>
                </p:cNvPr>
                <p:cNvSpPr/>
                <p:nvPr/>
              </p:nvSpPr>
              <p:spPr>
                <a:xfrm>
                  <a:off x="4660692" y="3318231"/>
                  <a:ext cx="530506" cy="2572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0506" h="257215">
                      <a:moveTo>
                        <a:pt x="265253" y="0"/>
                      </a:moveTo>
                      <a:moveTo>
                        <a:pt x="265253" y="0"/>
                      </a:moveTo>
                      <a:lnTo>
                        <a:pt x="0" y="257215"/>
                      </a:lnTo>
                      <a:lnTo>
                        <a:pt x="530506" y="257215"/>
                      </a:lnTo>
                      <a:close/>
                    </a:path>
                  </a:pathLst>
                </a:custGeom>
                <a:solidFill>
                  <a:schemeClr val="tx1">
                    <a:alpha val="10000"/>
                  </a:schemeClr>
                </a:solidFill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" name="Shape 21">
                  <a:extLst>
                    <a:ext uri="{FF2B5EF4-FFF2-40B4-BE49-F238E27FC236}">
                      <a16:creationId xmlns:a16="http://schemas.microsoft.com/office/drawing/2014/main" id="{66DEB559-61B1-D600-45EE-96820B88C28F}"/>
                    </a:ext>
                  </a:extLst>
                </p:cNvPr>
                <p:cNvSpPr/>
                <p:nvPr/>
              </p:nvSpPr>
              <p:spPr>
                <a:xfrm>
                  <a:off x="7336676" y="3318231"/>
                  <a:ext cx="530506" cy="2572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0506" h="257215">
                      <a:moveTo>
                        <a:pt x="265253" y="0"/>
                      </a:moveTo>
                      <a:moveTo>
                        <a:pt x="265253" y="0"/>
                      </a:moveTo>
                      <a:lnTo>
                        <a:pt x="0" y="257215"/>
                      </a:lnTo>
                      <a:lnTo>
                        <a:pt x="530506" y="257215"/>
                      </a:lnTo>
                      <a:close/>
                    </a:path>
                  </a:pathLst>
                </a:custGeom>
                <a:solidFill>
                  <a:schemeClr val="tx1">
                    <a:alpha val="10000"/>
                  </a:schemeClr>
                </a:solidFill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7" name="Shape 18">
                <a:extLst>
                  <a:ext uri="{FF2B5EF4-FFF2-40B4-BE49-F238E27FC236}">
                    <a16:creationId xmlns:a16="http://schemas.microsoft.com/office/drawing/2014/main" id="{B536B56F-BBB5-9F92-E85E-C988213B2434}"/>
                  </a:ext>
                </a:extLst>
              </p:cNvPr>
              <p:cNvSpPr/>
              <p:nvPr/>
            </p:nvSpPr>
            <p:spPr>
              <a:xfrm>
                <a:off x="6278159" y="2775111"/>
                <a:ext cx="1236986" cy="0"/>
              </a:xfrm>
              <a:custGeom>
                <a:avLst/>
                <a:gdLst/>
                <a:ahLst/>
                <a:cxnLst/>
                <a:rect l="l" t="t" r="r" b="b"/>
                <a:pathLst>
                  <a:path w="1334304">
                    <a:moveTo>
                      <a:pt x="0" y="0"/>
                    </a:moveTo>
                    <a:moveTo>
                      <a:pt x="0" y="0"/>
                    </a:moveTo>
                    <a:lnTo>
                      <a:pt x="1334304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  <a:prstDash val="solid"/>
                <a:headEnd type="none"/>
                <a:tailEnd type="arrow"/>
              </a:ln>
            </p:spPr>
            <p:txBody>
              <a:bodyPr/>
              <a:lstStyle/>
              <a:p>
                <a:r>
                  <a:rPr lang="zh-CN" altLang="en-US" dirty="0"/>
                  <a:t>状态管理</a:t>
                </a:r>
              </a:p>
            </p:txBody>
          </p:sp>
        </p:grpSp>
        <p:sp>
          <p:nvSpPr>
            <p:cNvPr id="28" name="Shape 6">
              <a:extLst>
                <a:ext uri="{FF2B5EF4-FFF2-40B4-BE49-F238E27FC236}">
                  <a16:creationId xmlns:a16="http://schemas.microsoft.com/office/drawing/2014/main" id="{583F1EF2-348D-EA53-D991-D63BC9980D2F}"/>
                </a:ext>
              </a:extLst>
            </p:cNvPr>
            <p:cNvSpPr/>
            <p:nvPr/>
          </p:nvSpPr>
          <p:spPr>
            <a:xfrm>
              <a:off x="7371517" y="3427702"/>
              <a:ext cx="2107132" cy="3027813"/>
            </a:xfrm>
            <a:custGeom>
              <a:avLst/>
              <a:gdLst/>
              <a:ahLst/>
              <a:cxnLst/>
              <a:rect l="l" t="t" r="r" b="b"/>
              <a:pathLst>
                <a:path w="2487168" h="2332625">
                  <a:moveTo>
                    <a:pt x="260604" y="0"/>
                  </a:moveTo>
                  <a:moveTo>
                    <a:pt x="260604" y="0"/>
                  </a:moveTo>
                  <a:lnTo>
                    <a:pt x="2226564" y="0"/>
                  </a:lnTo>
                  <a:quadBezTo>
                    <a:pt x="2487168" y="0"/>
                    <a:pt x="2487168" y="291578"/>
                  </a:quadBezTo>
                  <a:lnTo>
                    <a:pt x="2487168" y="2041047"/>
                  </a:lnTo>
                  <a:quadBezTo>
                    <a:pt x="2487168" y="2332625"/>
                    <a:pt x="2226564" y="2332625"/>
                  </a:quadBezTo>
                  <a:lnTo>
                    <a:pt x="260604" y="2332625"/>
                  </a:lnTo>
                  <a:quadBezTo>
                    <a:pt x="0" y="2332625"/>
                    <a:pt x="0" y="2041047"/>
                  </a:quadBezTo>
                  <a:lnTo>
                    <a:pt x="0" y="291578"/>
                  </a:lnTo>
                  <a:quadBezTo>
                    <a:pt x="0" y="0"/>
                    <a:pt x="260604" y="0"/>
                  </a:quadBezTo>
                  <a:close/>
                </a:path>
              </a:pathLst>
            </a:custGeom>
            <a:solidFill>
              <a:schemeClr val="tx1">
                <a:alpha val="10000"/>
              </a:schemeClr>
            </a:solidFill>
          </p:spPr>
          <p:txBody>
            <a:bodyPr/>
            <a:lstStyle/>
            <a:p>
              <a:r>
                <a:rPr lang="zh-CN" altLang="en-US" sz="1400" dirty="0">
                  <a:latin typeface="Arial" panose="020B0604020202020204" pitchFamily="34" charset="0"/>
                  <a:ea typeface="Microsoft YaHei UI" panose="020B0503020204020204" pitchFamily="34" charset="-122"/>
                </a:rPr>
                <a:t>通过安全接口向指定 </a:t>
              </a:r>
              <a:r>
                <a:rPr lang="en-US" altLang="zh-CN" sz="1400" dirty="0">
                  <a:latin typeface="Arial" panose="020B0604020202020204" pitchFamily="34" charset="0"/>
                  <a:ea typeface="Microsoft YaHei UI" panose="020B0503020204020204" pitchFamily="34" charset="-122"/>
                </a:rPr>
                <a:t>Agent </a:t>
              </a:r>
              <a:r>
                <a:rPr lang="zh-CN" altLang="en-US" sz="1400" dirty="0">
                  <a:latin typeface="Arial" panose="020B0604020202020204" pitchFamily="34" charset="0"/>
                  <a:ea typeface="Microsoft YaHei UI" panose="020B0503020204020204" pitchFamily="34" charset="-122"/>
                </a:rPr>
                <a:t>下发预定义任务或操作指令。</a:t>
              </a:r>
            </a:p>
            <a:p>
              <a:r>
                <a:rPr lang="zh-CN" altLang="en-US" sz="1400" dirty="0">
                  <a:latin typeface="Arial" panose="020B0604020202020204" pitchFamily="34" charset="0"/>
                  <a:ea typeface="Microsoft YaHei UI" panose="020B0503020204020204" pitchFamily="34" charset="-122"/>
                </a:rPr>
                <a:t>提供指令执行结果回传显示，形成完整的交互闭环。</a:t>
              </a:r>
            </a:p>
            <a:p>
              <a:r>
                <a:rPr lang="zh-CN" altLang="en-US" sz="1400" dirty="0">
                  <a:latin typeface="Arial" panose="020B0604020202020204" pitchFamily="34" charset="0"/>
                  <a:ea typeface="Microsoft YaHei UI" panose="020B0503020204020204" pitchFamily="34" charset="-122"/>
                </a:rPr>
                <a:t>支持任务调度、批量下发和执行状态监控。</a:t>
              </a:r>
            </a:p>
            <a:p>
              <a:r>
                <a:rPr lang="zh-CN" altLang="en-US" sz="1400" dirty="0">
                  <a:latin typeface="Arial" panose="020B0604020202020204" pitchFamily="34" charset="0"/>
                  <a:ea typeface="Microsoft YaHei UI" panose="020B0503020204020204" pitchFamily="34" charset="-122"/>
                </a:rPr>
                <a:t>目标：</a:t>
              </a:r>
              <a:br>
                <a:rPr lang="zh-CN" altLang="en-US" sz="1400" dirty="0">
                  <a:latin typeface="Arial" panose="020B0604020202020204" pitchFamily="34" charset="0"/>
                  <a:ea typeface="Microsoft YaHei UI" panose="020B0503020204020204" pitchFamily="34" charset="-122"/>
                </a:rPr>
              </a:br>
              <a:r>
                <a:rPr lang="zh-CN" altLang="en-US" sz="1400" dirty="0">
                  <a:latin typeface="Arial" panose="020B0604020202020204" pitchFamily="34" charset="0"/>
                  <a:ea typeface="Microsoft YaHei UI" panose="020B0503020204020204" pitchFamily="34" charset="-122"/>
                </a:rPr>
                <a:t>实现对受控仿真节点行为的集中管理，方便仿真任务的控制与验证。</a:t>
              </a:r>
            </a:p>
            <a:p>
              <a:endParaRPr lang="zh-CN" altLang="en-US" dirty="0"/>
            </a:p>
          </p:txBody>
        </p:sp>
        <p:sp>
          <p:nvSpPr>
            <p:cNvPr id="29" name="Shape 14">
              <a:extLst>
                <a:ext uri="{FF2B5EF4-FFF2-40B4-BE49-F238E27FC236}">
                  <a16:creationId xmlns:a16="http://schemas.microsoft.com/office/drawing/2014/main" id="{E424DE9D-0D31-D5AE-E901-1AEEFCA1FFEB}"/>
                </a:ext>
              </a:extLst>
            </p:cNvPr>
            <p:cNvSpPr/>
            <p:nvPr/>
          </p:nvSpPr>
          <p:spPr>
            <a:xfrm>
              <a:off x="7371895" y="2423910"/>
              <a:ext cx="360919" cy="552977"/>
            </a:xfrm>
            <a:custGeom>
              <a:avLst/>
              <a:gdLst/>
              <a:ahLst/>
              <a:cxnLst/>
              <a:rect l="l" t="t" r="r" b="b"/>
              <a:pathLst>
                <a:path w="426013" h="426013">
                  <a:moveTo>
                    <a:pt x="213006" y="0"/>
                  </a:moveTo>
                  <a:moveTo>
                    <a:pt x="213006" y="0"/>
                  </a:moveTo>
                  <a:cubicBezTo>
                    <a:pt x="330568" y="0"/>
                    <a:pt x="426013" y="95445"/>
                    <a:pt x="426013" y="213006"/>
                  </a:cubicBezTo>
                  <a:cubicBezTo>
                    <a:pt x="426013" y="330568"/>
                    <a:pt x="330568" y="426013"/>
                    <a:pt x="213006" y="426013"/>
                  </a:cubicBezTo>
                  <a:cubicBezTo>
                    <a:pt x="95445" y="426013"/>
                    <a:pt x="0" y="330568"/>
                    <a:pt x="0" y="213006"/>
                  </a:cubicBezTo>
                  <a:cubicBezTo>
                    <a:pt x="0" y="95445"/>
                    <a:pt x="95445" y="0"/>
                    <a:pt x="213006" y="0"/>
                  </a:cubicBezTo>
                  <a:close/>
                </a:path>
              </a:pathLst>
            </a:custGeom>
            <a:solidFill>
              <a:srgbClr val="0084FF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 15">
              <a:extLst>
                <a:ext uri="{FF2B5EF4-FFF2-40B4-BE49-F238E27FC236}">
                  <a16:creationId xmlns:a16="http://schemas.microsoft.com/office/drawing/2014/main" id="{C35B6AAF-8392-1FA2-D5CE-8CB95C671BC5}"/>
                </a:ext>
              </a:extLst>
            </p:cNvPr>
            <p:cNvSpPr/>
            <p:nvPr/>
          </p:nvSpPr>
          <p:spPr>
            <a:xfrm>
              <a:off x="7379728" y="2462006"/>
              <a:ext cx="601479" cy="413959"/>
            </a:xfrm>
            <a:prstGeom prst="rect">
              <a:avLst/>
            </a:prstGeom>
            <a:noFill/>
          </p:spPr>
          <p:txBody>
            <a:bodyPr wrap="square" lIns="95250" tIns="95250" rIns="95250" bIns="95250" rtlCol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375"/>
                </a:spcBef>
                <a:buNone/>
              </a:pPr>
              <a:r>
                <a:rPr lang="en-US" sz="144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04</a:t>
              </a:r>
              <a:endParaRPr lang="en-US" sz="1440" dirty="0"/>
            </a:p>
          </p:txBody>
        </p:sp>
        <p:sp>
          <p:nvSpPr>
            <p:cNvPr id="31" name="Shape 18">
              <a:extLst>
                <a:ext uri="{FF2B5EF4-FFF2-40B4-BE49-F238E27FC236}">
                  <a16:creationId xmlns:a16="http://schemas.microsoft.com/office/drawing/2014/main" id="{760F7DC9-0454-11F5-D054-6F8C4259F2AD}"/>
                </a:ext>
              </a:extLst>
            </p:cNvPr>
            <p:cNvSpPr/>
            <p:nvPr/>
          </p:nvSpPr>
          <p:spPr>
            <a:xfrm>
              <a:off x="8124429" y="2775111"/>
              <a:ext cx="1130424" cy="0"/>
            </a:xfrm>
            <a:custGeom>
              <a:avLst/>
              <a:gdLst/>
              <a:ahLst/>
              <a:cxnLst/>
              <a:rect l="l" t="t" r="r" b="b"/>
              <a:pathLst>
                <a:path w="1334304">
                  <a:moveTo>
                    <a:pt x="0" y="0"/>
                  </a:moveTo>
                  <a:moveTo>
                    <a:pt x="0" y="0"/>
                  </a:moveTo>
                  <a:lnTo>
                    <a:pt x="1334304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prstDash val="solid"/>
              <a:headEnd type="none"/>
              <a:tailEnd type="arrow"/>
            </a:ln>
          </p:spPr>
          <p:txBody>
            <a:bodyPr/>
            <a:lstStyle/>
            <a:p>
              <a:r>
                <a:rPr lang="zh-CN" altLang="en-US" dirty="0"/>
                <a:t>指令控制</a:t>
              </a:r>
            </a:p>
          </p:txBody>
        </p:sp>
        <p:sp>
          <p:nvSpPr>
            <p:cNvPr id="32" name="Shape 6">
              <a:extLst>
                <a:ext uri="{FF2B5EF4-FFF2-40B4-BE49-F238E27FC236}">
                  <a16:creationId xmlns:a16="http://schemas.microsoft.com/office/drawing/2014/main" id="{ECBD78C8-B31F-3267-1139-A767DD960CBA}"/>
                </a:ext>
              </a:extLst>
            </p:cNvPr>
            <p:cNvSpPr/>
            <p:nvPr/>
          </p:nvSpPr>
          <p:spPr>
            <a:xfrm>
              <a:off x="9638598" y="3427702"/>
              <a:ext cx="2107132" cy="3027813"/>
            </a:xfrm>
            <a:custGeom>
              <a:avLst/>
              <a:gdLst/>
              <a:ahLst/>
              <a:cxnLst/>
              <a:rect l="l" t="t" r="r" b="b"/>
              <a:pathLst>
                <a:path w="2487168" h="2332625">
                  <a:moveTo>
                    <a:pt x="260604" y="0"/>
                  </a:moveTo>
                  <a:moveTo>
                    <a:pt x="260604" y="0"/>
                  </a:moveTo>
                  <a:lnTo>
                    <a:pt x="2226564" y="0"/>
                  </a:lnTo>
                  <a:quadBezTo>
                    <a:pt x="2487168" y="0"/>
                    <a:pt x="2487168" y="291578"/>
                  </a:quadBezTo>
                  <a:lnTo>
                    <a:pt x="2487168" y="2041047"/>
                  </a:lnTo>
                  <a:quadBezTo>
                    <a:pt x="2487168" y="2332625"/>
                    <a:pt x="2226564" y="2332625"/>
                  </a:quadBezTo>
                  <a:lnTo>
                    <a:pt x="260604" y="2332625"/>
                  </a:lnTo>
                  <a:quadBezTo>
                    <a:pt x="0" y="2332625"/>
                    <a:pt x="0" y="2041047"/>
                  </a:quadBezTo>
                  <a:lnTo>
                    <a:pt x="0" y="291578"/>
                  </a:lnTo>
                  <a:quadBezTo>
                    <a:pt x="0" y="0"/>
                    <a:pt x="260604" y="0"/>
                  </a:quadBezTo>
                  <a:close/>
                </a:path>
              </a:pathLst>
            </a:custGeom>
            <a:solidFill>
              <a:schemeClr val="tx1">
                <a:alpha val="10000"/>
              </a:schemeClr>
            </a:solidFill>
          </p:spPr>
          <p:txBody>
            <a:bodyPr/>
            <a:lstStyle/>
            <a:p>
              <a:r>
                <a:rPr lang="zh-CN" altLang="en-US" sz="1400" dirty="0">
                  <a:latin typeface="Arial" panose="020B0604020202020204" pitchFamily="34" charset="0"/>
                  <a:ea typeface="Microsoft YaHei UI" panose="020B0503020204020204" pitchFamily="34" charset="-122"/>
                </a:rPr>
                <a:t>配置抓包策略、告警阈值、</a:t>
              </a:r>
              <a:r>
                <a:rPr lang="en-US" altLang="zh-CN" sz="1400" dirty="0">
                  <a:latin typeface="Arial" panose="020B0604020202020204" pitchFamily="34" charset="0"/>
                  <a:ea typeface="Microsoft YaHei UI" panose="020B0503020204020204" pitchFamily="34" charset="-122"/>
                </a:rPr>
                <a:t>Agent</a:t>
              </a:r>
              <a:r>
                <a:rPr lang="zh-CN" altLang="en-US" sz="1400" dirty="0">
                  <a:latin typeface="Arial" panose="020B0604020202020204" pitchFamily="34" charset="0"/>
                  <a:ea typeface="Microsoft YaHei UI" panose="020B0503020204020204" pitchFamily="34" charset="-122"/>
                </a:rPr>
                <a:t>管理参数等系统核心参数。</a:t>
              </a:r>
            </a:p>
            <a:p>
              <a:r>
                <a:rPr lang="zh-CN" altLang="en-US" sz="1400" dirty="0">
                  <a:latin typeface="Arial" panose="020B0604020202020204" pitchFamily="34" charset="0"/>
                  <a:ea typeface="Microsoft YaHei UI" panose="020B0503020204020204" pitchFamily="34" charset="-122"/>
                </a:rPr>
                <a:t>提供综合仪表盘显示系统整体运行状况和流量分析统计。</a:t>
              </a:r>
            </a:p>
            <a:p>
              <a:r>
                <a:rPr lang="zh-CN" altLang="en-US" sz="1400" dirty="0">
                  <a:latin typeface="Arial" panose="020B0604020202020204" pitchFamily="34" charset="0"/>
                  <a:ea typeface="Microsoft YaHei UI" panose="020B0503020204020204" pitchFamily="34" charset="-122"/>
                </a:rPr>
                <a:t>支持自定义图表、报表导出及历史数据回溯查询。</a:t>
              </a:r>
            </a:p>
            <a:p>
              <a:r>
                <a:rPr lang="zh-CN" altLang="en-US" sz="1400" dirty="0">
                  <a:latin typeface="Arial" panose="020B0604020202020204" pitchFamily="34" charset="0"/>
                  <a:ea typeface="Microsoft YaHei UI" panose="020B0503020204020204" pitchFamily="34" charset="-122"/>
                </a:rPr>
                <a:t>目标：</a:t>
              </a:r>
              <a:br>
                <a:rPr lang="zh-CN" altLang="en-US" sz="1400" dirty="0">
                  <a:latin typeface="Arial" panose="020B0604020202020204" pitchFamily="34" charset="0"/>
                  <a:ea typeface="Microsoft YaHei UI" panose="020B0503020204020204" pitchFamily="34" charset="-122"/>
                </a:rPr>
              </a:br>
              <a:r>
                <a:rPr lang="zh-CN" altLang="en-US" sz="1400" dirty="0">
                  <a:latin typeface="Arial" panose="020B0604020202020204" pitchFamily="34" charset="0"/>
                  <a:ea typeface="Microsoft YaHei UI" panose="020B0503020204020204" pitchFamily="34" charset="-122"/>
                </a:rPr>
                <a:t>增强平台可管理性和可操作性，为用户提供直观、便捷的操作界面。</a:t>
              </a:r>
            </a:p>
            <a:p>
              <a:endParaRPr lang="zh-CN" altLang="en-US" dirty="0"/>
            </a:p>
          </p:txBody>
        </p:sp>
        <p:sp>
          <p:nvSpPr>
            <p:cNvPr id="33" name="Shape 14">
              <a:extLst>
                <a:ext uri="{FF2B5EF4-FFF2-40B4-BE49-F238E27FC236}">
                  <a16:creationId xmlns:a16="http://schemas.microsoft.com/office/drawing/2014/main" id="{00C80DE9-4D0B-8C6E-7E40-4BE770405A16}"/>
                </a:ext>
              </a:extLst>
            </p:cNvPr>
            <p:cNvSpPr/>
            <p:nvPr/>
          </p:nvSpPr>
          <p:spPr>
            <a:xfrm>
              <a:off x="9638976" y="2423910"/>
              <a:ext cx="360919" cy="552977"/>
            </a:xfrm>
            <a:custGeom>
              <a:avLst/>
              <a:gdLst/>
              <a:ahLst/>
              <a:cxnLst/>
              <a:rect l="l" t="t" r="r" b="b"/>
              <a:pathLst>
                <a:path w="426013" h="426013">
                  <a:moveTo>
                    <a:pt x="213006" y="0"/>
                  </a:moveTo>
                  <a:moveTo>
                    <a:pt x="213006" y="0"/>
                  </a:moveTo>
                  <a:cubicBezTo>
                    <a:pt x="330568" y="0"/>
                    <a:pt x="426013" y="95445"/>
                    <a:pt x="426013" y="213006"/>
                  </a:cubicBezTo>
                  <a:cubicBezTo>
                    <a:pt x="426013" y="330568"/>
                    <a:pt x="330568" y="426013"/>
                    <a:pt x="213006" y="426013"/>
                  </a:cubicBezTo>
                  <a:cubicBezTo>
                    <a:pt x="95445" y="426013"/>
                    <a:pt x="0" y="330568"/>
                    <a:pt x="0" y="213006"/>
                  </a:cubicBezTo>
                  <a:cubicBezTo>
                    <a:pt x="0" y="95445"/>
                    <a:pt x="95445" y="0"/>
                    <a:pt x="213006" y="0"/>
                  </a:cubicBezTo>
                  <a:close/>
                </a:path>
              </a:pathLst>
            </a:custGeom>
            <a:solidFill>
              <a:srgbClr val="0084FF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Text 15">
              <a:extLst>
                <a:ext uri="{FF2B5EF4-FFF2-40B4-BE49-F238E27FC236}">
                  <a16:creationId xmlns:a16="http://schemas.microsoft.com/office/drawing/2014/main" id="{6A2FB366-94AB-8019-A8DE-FBEA809371A5}"/>
                </a:ext>
              </a:extLst>
            </p:cNvPr>
            <p:cNvSpPr/>
            <p:nvPr/>
          </p:nvSpPr>
          <p:spPr>
            <a:xfrm>
              <a:off x="9646809" y="2462006"/>
              <a:ext cx="601479" cy="413959"/>
            </a:xfrm>
            <a:prstGeom prst="rect">
              <a:avLst/>
            </a:prstGeom>
            <a:noFill/>
          </p:spPr>
          <p:txBody>
            <a:bodyPr wrap="square" lIns="95250" tIns="95250" rIns="95250" bIns="95250" rtlCol="0" anchor="t">
              <a:spAutoFit/>
            </a:bodyPr>
            <a:lstStyle/>
            <a:p>
              <a:pPr marL="0" indent="0">
                <a:lnSpc>
                  <a:spcPct val="100000"/>
                </a:lnSpc>
                <a:spcBef>
                  <a:spcPts val="375"/>
                </a:spcBef>
                <a:buNone/>
              </a:pPr>
              <a:r>
                <a:rPr lang="en-US" sz="144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05</a:t>
              </a:r>
              <a:endParaRPr lang="en-US" sz="1440" dirty="0"/>
            </a:p>
          </p:txBody>
        </p:sp>
        <p:sp>
          <p:nvSpPr>
            <p:cNvPr id="35" name="Shape 18">
              <a:extLst>
                <a:ext uri="{FF2B5EF4-FFF2-40B4-BE49-F238E27FC236}">
                  <a16:creationId xmlns:a16="http://schemas.microsoft.com/office/drawing/2014/main" id="{B9E738FA-C138-1D1D-26C6-814E5138ACF1}"/>
                </a:ext>
              </a:extLst>
            </p:cNvPr>
            <p:cNvSpPr/>
            <p:nvPr/>
          </p:nvSpPr>
          <p:spPr>
            <a:xfrm>
              <a:off x="10391510" y="2775111"/>
              <a:ext cx="1130424" cy="0"/>
            </a:xfrm>
            <a:custGeom>
              <a:avLst/>
              <a:gdLst/>
              <a:ahLst/>
              <a:cxnLst/>
              <a:rect l="l" t="t" r="r" b="b"/>
              <a:pathLst>
                <a:path w="1334304">
                  <a:moveTo>
                    <a:pt x="0" y="0"/>
                  </a:moveTo>
                  <a:moveTo>
                    <a:pt x="0" y="0"/>
                  </a:moveTo>
                  <a:lnTo>
                    <a:pt x="1334304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prstDash val="solid"/>
              <a:headEnd type="none"/>
              <a:tailEnd type="arrow"/>
            </a:ln>
          </p:spPr>
          <p:txBody>
            <a:bodyPr/>
            <a:lstStyle/>
            <a:p>
              <a:r>
                <a:rPr lang="zh-CN" altLang="en-US" dirty="0"/>
                <a:t>可视化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370389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CC67C-C1F9-9CA2-108C-E4603F40B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F9C1E6-3D08-4640-FA2D-1B97A9733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498474"/>
            <a:ext cx="7960421" cy="612711"/>
          </a:xfrm>
        </p:spPr>
        <p:txBody>
          <a:bodyPr rtlCol="0"/>
          <a:lstStyle/>
          <a:p>
            <a:r>
              <a:rPr lang="zh-CN" altLang="en-US" dirty="0"/>
              <a:t>技术选型</a:t>
            </a:r>
            <a:endParaRPr lang="zh-c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63E5E3B-DD95-E6C3-2EFA-9A417D49F8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16494" y="2985013"/>
            <a:ext cx="602502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后端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：Python + FastAPI（用于接口和数据处理）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前端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：React/Vue（用于可视化展示）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数据库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：MySQL / PostgreSQL（存储流量数据、分析结果）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抓包分析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：Scapy / PyShark / Go pcap（视语言分工而定）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回连仿真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：Python 异步模块 / Go 协程（用于模拟远程回连脚本行为）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166986AF-4633-B2E3-9427-0718A1361FB2}"/>
              </a:ext>
            </a:extLst>
          </p:cNvPr>
          <p:cNvGrpSpPr/>
          <p:nvPr/>
        </p:nvGrpSpPr>
        <p:grpSpPr>
          <a:xfrm>
            <a:off x="4981262" y="3267247"/>
            <a:ext cx="1480068" cy="914400"/>
            <a:chOff x="4038620" y="981353"/>
            <a:chExt cx="1480068" cy="914400"/>
          </a:xfrm>
        </p:grpSpPr>
        <p:pic>
          <p:nvPicPr>
            <p:cNvPr id="7" name="Image 0" descr="preencoded.png">
              <a:extLst>
                <a:ext uri="{FF2B5EF4-FFF2-40B4-BE49-F238E27FC236}">
                  <a16:creationId xmlns:a16="http://schemas.microsoft.com/office/drawing/2014/main" id="{F5A16000-1E55-02B2-B7F9-1FDDF16963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21454" y="981353"/>
              <a:ext cx="9144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</p:pic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AFE0208C-D1ED-7D20-D47D-8CD36BC31527}"/>
                </a:ext>
              </a:extLst>
            </p:cNvPr>
            <p:cNvSpPr/>
            <p:nvPr/>
          </p:nvSpPr>
          <p:spPr>
            <a:xfrm>
              <a:off x="4038620" y="1118722"/>
              <a:ext cx="1480068" cy="639662"/>
            </a:xfrm>
            <a:prstGeom prst="rect">
              <a:avLst/>
            </a:prstGeom>
            <a:noFill/>
          </p:spPr>
          <p:txBody>
            <a:bodyPr wrap="square" lIns="95250" tIns="95250" rIns="95250" bIns="95250" rtlCol="0" anchor="t">
              <a:spAutoFit/>
            </a:bodyPr>
            <a:lstStyle/>
            <a:p>
              <a:pPr marL="0" indent="0" algn="ctr">
                <a:lnSpc>
                  <a:spcPct val="113000"/>
                </a:lnSpc>
                <a:spcBef>
                  <a:spcPts val="375"/>
                </a:spcBef>
                <a:buNone/>
              </a:pPr>
              <a:r>
                <a:rPr lang="en-US" sz="2735" b="1" dirty="0">
                  <a:solidFill>
                    <a:srgbClr val="003F9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02</a:t>
              </a:r>
              <a:endParaRPr lang="en-US" sz="1440" dirty="0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653F67D-9FD3-B9EE-95B3-75B30BCBA432}"/>
              </a:ext>
            </a:extLst>
          </p:cNvPr>
          <p:cNvGrpSpPr/>
          <p:nvPr/>
        </p:nvGrpSpPr>
        <p:grpSpPr>
          <a:xfrm>
            <a:off x="4981262" y="1923879"/>
            <a:ext cx="1480068" cy="914400"/>
            <a:chOff x="4038620" y="981353"/>
            <a:chExt cx="1480068" cy="914400"/>
          </a:xfrm>
        </p:grpSpPr>
        <p:pic>
          <p:nvPicPr>
            <p:cNvPr id="15" name="Image 0" descr="preencoded.png">
              <a:extLst>
                <a:ext uri="{FF2B5EF4-FFF2-40B4-BE49-F238E27FC236}">
                  <a16:creationId xmlns:a16="http://schemas.microsoft.com/office/drawing/2014/main" id="{A4F1D99D-2322-E426-FC22-E1EB637FA3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21454" y="981353"/>
              <a:ext cx="9144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</p:pic>
        <p:sp>
          <p:nvSpPr>
            <p:cNvPr id="16" name="Text 4">
              <a:extLst>
                <a:ext uri="{FF2B5EF4-FFF2-40B4-BE49-F238E27FC236}">
                  <a16:creationId xmlns:a16="http://schemas.microsoft.com/office/drawing/2014/main" id="{F982CE8E-9A84-6E7A-2131-644AF3124077}"/>
                </a:ext>
              </a:extLst>
            </p:cNvPr>
            <p:cNvSpPr/>
            <p:nvPr/>
          </p:nvSpPr>
          <p:spPr>
            <a:xfrm>
              <a:off x="4038620" y="1118722"/>
              <a:ext cx="1480068" cy="639662"/>
            </a:xfrm>
            <a:prstGeom prst="rect">
              <a:avLst/>
            </a:prstGeom>
            <a:noFill/>
          </p:spPr>
          <p:txBody>
            <a:bodyPr wrap="square" lIns="95250" tIns="95250" rIns="95250" bIns="95250" rtlCol="0" anchor="t">
              <a:spAutoFit/>
            </a:bodyPr>
            <a:lstStyle/>
            <a:p>
              <a:pPr marL="0" indent="0" algn="ctr">
                <a:lnSpc>
                  <a:spcPct val="113000"/>
                </a:lnSpc>
                <a:spcBef>
                  <a:spcPts val="375"/>
                </a:spcBef>
                <a:buNone/>
              </a:pPr>
              <a:r>
                <a:rPr lang="en-US" sz="2735" b="1" dirty="0">
                  <a:solidFill>
                    <a:srgbClr val="003F9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01</a:t>
              </a:r>
              <a:endParaRPr lang="en-US" sz="1440" dirty="0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7EE8663-5692-7EA6-A4C9-E44280DEA005}"/>
              </a:ext>
            </a:extLst>
          </p:cNvPr>
          <p:cNvGrpSpPr/>
          <p:nvPr/>
        </p:nvGrpSpPr>
        <p:grpSpPr>
          <a:xfrm>
            <a:off x="4981262" y="4610615"/>
            <a:ext cx="1480068" cy="914400"/>
            <a:chOff x="4038620" y="981353"/>
            <a:chExt cx="1480068" cy="914400"/>
          </a:xfrm>
        </p:grpSpPr>
        <p:pic>
          <p:nvPicPr>
            <p:cNvPr id="18" name="Image 0" descr="preencoded.png">
              <a:extLst>
                <a:ext uri="{FF2B5EF4-FFF2-40B4-BE49-F238E27FC236}">
                  <a16:creationId xmlns:a16="http://schemas.microsoft.com/office/drawing/2014/main" id="{AA577D4D-AC90-FEE9-B09E-318E29881A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21454" y="981353"/>
              <a:ext cx="914400" cy="914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</p:pic>
        <p:sp>
          <p:nvSpPr>
            <p:cNvPr id="19" name="Text 4">
              <a:extLst>
                <a:ext uri="{FF2B5EF4-FFF2-40B4-BE49-F238E27FC236}">
                  <a16:creationId xmlns:a16="http://schemas.microsoft.com/office/drawing/2014/main" id="{93ABDA58-9220-B3D4-28F0-1F6832E7DB2C}"/>
                </a:ext>
              </a:extLst>
            </p:cNvPr>
            <p:cNvSpPr/>
            <p:nvPr/>
          </p:nvSpPr>
          <p:spPr>
            <a:xfrm>
              <a:off x="4038620" y="1118722"/>
              <a:ext cx="1480068" cy="639662"/>
            </a:xfrm>
            <a:prstGeom prst="rect">
              <a:avLst/>
            </a:prstGeom>
            <a:noFill/>
          </p:spPr>
          <p:txBody>
            <a:bodyPr wrap="square" lIns="95250" tIns="95250" rIns="95250" bIns="95250" rtlCol="0" anchor="t">
              <a:spAutoFit/>
            </a:bodyPr>
            <a:lstStyle/>
            <a:p>
              <a:pPr marL="0" indent="0" algn="ctr">
                <a:lnSpc>
                  <a:spcPct val="113000"/>
                </a:lnSpc>
                <a:spcBef>
                  <a:spcPts val="375"/>
                </a:spcBef>
                <a:buNone/>
              </a:pPr>
              <a:r>
                <a:rPr lang="en-US" sz="2735" b="1" dirty="0">
                  <a:solidFill>
                    <a:srgbClr val="003F9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03</a:t>
              </a:r>
              <a:endParaRPr lang="en-US" sz="1440" dirty="0"/>
            </a:p>
          </p:txBody>
        </p:sp>
      </p:grpSp>
      <p:sp>
        <p:nvSpPr>
          <p:cNvPr id="21" name="Rectangle 1">
            <a:extLst>
              <a:ext uri="{FF2B5EF4-FFF2-40B4-BE49-F238E27FC236}">
                <a16:creationId xmlns:a16="http://schemas.microsoft.com/office/drawing/2014/main" id="{9E1578F2-8D0B-A0A1-9C9D-2A6E94582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880" y="1842471"/>
            <a:ext cx="416681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采用前后端分离的架构设计，前端负责用户界面的展示和交互，后端则处理业务逻辑和数据存储，这种设计提高了系统的可维护性和扩展性</a:t>
            </a:r>
            <a:endParaRPr lang="en-US" altLang="zh-CN" sz="1600" dirty="0">
              <a:latin typeface="Arial" panose="020B0604020202020204" pitchFamily="34" charset="0"/>
            </a:endParaRPr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79A6F57F-4BD7-A723-480D-76FDEED1D44E}"/>
              </a:ext>
            </a:extLst>
          </p:cNvPr>
          <p:cNvSpPr/>
          <p:nvPr/>
        </p:nvSpPr>
        <p:spPr>
          <a:xfrm>
            <a:off x="1872302" y="1343480"/>
            <a:ext cx="3108960" cy="458587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前后端分离架构</a:t>
            </a:r>
            <a:endParaRPr lang="en-US" sz="1440" dirty="0">
              <a:solidFill>
                <a:schemeClr val="accent2"/>
              </a:solidFill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58709BB6-DF9B-3469-3B9B-A0F36B45917E}"/>
              </a:ext>
            </a:extLst>
          </p:cNvPr>
          <p:cNvSpPr/>
          <p:nvPr/>
        </p:nvSpPr>
        <p:spPr>
          <a:xfrm>
            <a:off x="6316494" y="2474618"/>
            <a:ext cx="3108960" cy="458587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技术栈选择</a:t>
            </a:r>
            <a:endParaRPr lang="en-US" sz="1440" dirty="0">
              <a:solidFill>
                <a:schemeClr val="accent2"/>
              </a:solidFill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EE74DB79-C93C-27FD-9E18-21332F709609}"/>
              </a:ext>
            </a:extLst>
          </p:cNvPr>
          <p:cNvSpPr/>
          <p:nvPr/>
        </p:nvSpPr>
        <p:spPr>
          <a:xfrm>
            <a:off x="1872302" y="3861312"/>
            <a:ext cx="3108960" cy="458587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3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安全性与性能优化</a:t>
            </a:r>
            <a:endParaRPr lang="en-US" sz="1440" dirty="0">
              <a:solidFill>
                <a:schemeClr val="accent2"/>
              </a:solidFill>
            </a:endParaRPr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1D897DDB-B2B6-3EA2-A569-B820E9AA2FED}"/>
              </a:ext>
            </a:extLst>
          </p:cNvPr>
          <p:cNvSpPr/>
          <p:nvPr/>
        </p:nvSpPr>
        <p:spPr>
          <a:xfrm>
            <a:off x="774192" y="4356081"/>
            <a:ext cx="4337504" cy="1208023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/>
              <a:t>受控仿真环境隔离、数据传输安全、访问控制与身份验证异常行为防护、</a:t>
            </a:r>
            <a:endParaRPr lang="en-US" altLang="zh-CN" sz="16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/>
              <a:t>流量采集层优化、协议解析与检测优化、数据库与存储优化、</a:t>
            </a:r>
            <a:r>
              <a:rPr lang="en-US" altLang="zh-CN" sz="1600" dirty="0"/>
              <a:t>WEB</a:t>
            </a:r>
            <a:r>
              <a:rPr lang="zh-CN" altLang="en-US" sz="1600" dirty="0"/>
              <a:t>管理平台优化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16531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D8D7D-01BC-B7FA-BB95-607926C66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占位符 7" descr="数据点数字背景">
            <a:extLst>
              <a:ext uri="{FF2B5EF4-FFF2-40B4-BE49-F238E27FC236}">
                <a16:creationId xmlns:a16="http://schemas.microsoft.com/office/drawing/2014/main" id="{73FF7DE9-CD91-18C7-6355-29584DADC06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标题 6">
            <a:extLst>
              <a:ext uri="{FF2B5EF4-FFF2-40B4-BE49-F238E27FC236}">
                <a16:creationId xmlns:a16="http://schemas.microsoft.com/office/drawing/2014/main" id="{4D64C557-86ED-8E60-5779-F550A7457B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76680"/>
            <a:ext cx="9144000" cy="2286000"/>
          </a:xfrm>
        </p:spPr>
        <p:txBody>
          <a:bodyPr rtlCol="0"/>
          <a:lstStyle/>
          <a:p>
            <a:pPr rtl="0"/>
            <a:r>
              <a:rPr lang="zh-cn"/>
              <a:t>选择视觉辅助</a:t>
            </a:r>
          </a:p>
        </p:txBody>
      </p:sp>
      <p:sp>
        <p:nvSpPr>
          <p:cNvPr id="8" name="副标题 7">
            <a:extLst>
              <a:ext uri="{FF2B5EF4-FFF2-40B4-BE49-F238E27FC236}">
                <a16:creationId xmlns:a16="http://schemas.microsoft.com/office/drawing/2014/main" id="{BB363CC2-5A23-81AB-F813-3CC9169793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99840"/>
            <a:ext cx="9144000" cy="2286000"/>
          </a:xfrm>
        </p:spPr>
        <p:txBody>
          <a:bodyPr rtlCol="0"/>
          <a:lstStyle/>
          <a:p>
            <a:pPr rtl="0"/>
            <a:r>
              <a:rPr lang="zh-cn"/>
              <a:t>增强演示效果</a:t>
            </a:r>
          </a:p>
        </p:txBody>
      </p:sp>
    </p:spTree>
    <p:extLst>
      <p:ext uri="{BB962C8B-B14F-4D97-AF65-F5344CB8AC3E}">
        <p14:creationId xmlns:p14="http://schemas.microsoft.com/office/powerpoint/2010/main" val="3830197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E81C3-84B2-579D-72D0-7A371C5D5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57986C0B-3540-2A99-67DA-2D24036AE566}"/>
              </a:ext>
            </a:extLst>
          </p:cNvPr>
          <p:cNvSpPr/>
          <p:nvPr/>
        </p:nvSpPr>
        <p:spPr>
          <a:xfrm>
            <a:off x="-1" y="4545845"/>
            <a:ext cx="12191999" cy="1408176"/>
          </a:xfrm>
          <a:custGeom>
            <a:avLst/>
            <a:gdLst/>
            <a:ahLst/>
            <a:cxnLst/>
            <a:rect l="l" t="t" r="r" b="b"/>
            <a:pathLst>
              <a:path w="9144000" h="1408176">
                <a:moveTo>
                  <a:pt x="0" y="0"/>
                </a:moveTo>
                <a:moveTo>
                  <a:pt x="0" y="0"/>
                </a:moveTo>
                <a:lnTo>
                  <a:pt x="9144000" y="0"/>
                </a:lnTo>
                <a:lnTo>
                  <a:pt x="9144000" y="1408176"/>
                </a:lnTo>
                <a:lnTo>
                  <a:pt x="0" y="1408176"/>
                </a:lnTo>
                <a:close/>
              </a:path>
            </a:pathLst>
          </a:custGeom>
          <a:solidFill>
            <a:srgbClr val="0070C0"/>
          </a:solidFill>
        </p:spPr>
        <p:txBody>
          <a:bodyPr/>
          <a:lstStyle/>
          <a:p>
            <a:endParaRPr lang="zh-CN" altLang="en-US"/>
          </a:p>
        </p:txBody>
      </p:sp>
      <p:pic>
        <p:nvPicPr>
          <p:cNvPr id="11" name="图片占位符 15" descr="数据点数字背景">
            <a:extLst>
              <a:ext uri="{FF2B5EF4-FFF2-40B4-BE49-F238E27FC236}">
                <a16:creationId xmlns:a16="http://schemas.microsoft.com/office/drawing/2014/main" id="{C8B85BB4-8181-1217-F8DF-9D00EB12E13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4594"/>
            <a:ext cx="12192000" cy="3771878"/>
          </a:xfrm>
        </p:spPr>
      </p:pic>
      <p:sp>
        <p:nvSpPr>
          <p:cNvPr id="2" name="Text 1">
            <a:extLst>
              <a:ext uri="{FF2B5EF4-FFF2-40B4-BE49-F238E27FC236}">
                <a16:creationId xmlns:a16="http://schemas.microsoft.com/office/drawing/2014/main" id="{C204180A-45D3-4654-F564-37371FE25518}"/>
              </a:ext>
            </a:extLst>
          </p:cNvPr>
          <p:cNvSpPr/>
          <p:nvPr/>
        </p:nvSpPr>
        <p:spPr>
          <a:xfrm>
            <a:off x="377601" y="4942413"/>
            <a:ext cx="741298" cy="635559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88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44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87CD8F0-F564-CE38-A78C-BECFF1D7B985}"/>
              </a:ext>
            </a:extLst>
          </p:cNvPr>
          <p:cNvSpPr/>
          <p:nvPr/>
        </p:nvSpPr>
        <p:spPr>
          <a:xfrm>
            <a:off x="1118899" y="4921895"/>
            <a:ext cx="7693921" cy="656077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zh-CN" altLang="en-US" sz="288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可行性分析</a:t>
            </a:r>
            <a:endParaRPr lang="en-US" sz="1440" dirty="0"/>
          </a:p>
        </p:txBody>
      </p:sp>
    </p:spTree>
    <p:extLst>
      <p:ext uri="{BB962C8B-B14F-4D97-AF65-F5344CB8AC3E}">
        <p14:creationId xmlns:p14="http://schemas.microsoft.com/office/powerpoint/2010/main" val="7203804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F6EAD-6699-95DC-2881-0E3117A53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EF9C19-0495-FDC9-EE7A-F7D68A988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502" y="498475"/>
            <a:ext cx="7960421" cy="746666"/>
          </a:xfrm>
        </p:spPr>
        <p:txBody>
          <a:bodyPr rtlCol="0"/>
          <a:lstStyle/>
          <a:p>
            <a:r>
              <a:rPr lang="zh-CN" altLang="en-US" dirty="0"/>
              <a:t>技术可行性⚙️</a:t>
            </a:r>
            <a:endParaRPr lang="zh-c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823C9B1-A76E-230F-2AC6-51C0E77FBD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 flipH="1">
            <a:off x="373502" y="1245141"/>
            <a:ext cx="8609520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技术基础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：Python 和 Go 均支持网络抓包、数据分析、并发处理。Python 可用 </a:t>
            </a:r>
            <a:r>
              <a:rPr lang="zh-CN" altLang="zh-CN" dirty="0">
                <a:latin typeface="Arial" panose="020B0604020202020204" pitchFamily="34" charset="0"/>
              </a:rPr>
              <a:t>scapy、pyshark 等库抓包，Go 可高效处理回连模拟和多线程通信。</a:t>
            </a:r>
            <a:endParaRPr lang="en-US" altLang="zh-CN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zh-CN" altLang="zh-CN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系统架构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：采用前后端分离架构，</a:t>
            </a:r>
            <a:r>
              <a:rPr lang="zh-CN" altLang="en-US" dirty="0"/>
              <a:t>使用 </a:t>
            </a:r>
            <a:r>
              <a:rPr lang="en-US" altLang="zh-CN" b="1" dirty="0"/>
              <a:t>Python </a:t>
            </a:r>
            <a:r>
              <a:rPr lang="en-US" altLang="zh-CN" b="1" dirty="0" err="1"/>
              <a:t>FastAPI</a:t>
            </a:r>
            <a:r>
              <a:rPr lang="en-US" altLang="zh-CN" dirty="0"/>
              <a:t> </a:t>
            </a:r>
            <a:r>
              <a:rPr lang="zh-CN" altLang="en-US" dirty="0"/>
              <a:t>构建 </a:t>
            </a:r>
            <a:r>
              <a:rPr lang="en-US" altLang="zh-CN" dirty="0"/>
              <a:t>RESTful </a:t>
            </a:r>
            <a:r>
              <a:rPr lang="zh-CN" altLang="en-US" dirty="0"/>
              <a:t>接口，处理抓包数据、异常通信检测和回连仿真逻辑。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数据库采用 MySQL 存储抓取的数据。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可实现功能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网络流量抓取与解析；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异常通信检测算法（基于特征匹配、阈值或机器学习模型）；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受控回连仿真（模拟远控连接行为，用于验证检测效果）。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技术难点与解决方案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大规模数据处理 → 使用多线程/异步处理，数据分页存储；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异常检测准确率 → 可以结合统计特征和规则检测。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结论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：当前技术和工具完全可以实现系统功能。</a:t>
            </a:r>
          </a:p>
        </p:txBody>
      </p:sp>
    </p:spTree>
    <p:extLst>
      <p:ext uri="{BB962C8B-B14F-4D97-AF65-F5344CB8AC3E}">
        <p14:creationId xmlns:p14="http://schemas.microsoft.com/office/powerpoint/2010/main" val="35844283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824F9-0290-0A0D-14BE-A97CDA7A6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01DA3-8D5C-AE02-E0E6-3D0CF801E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502" y="498475"/>
            <a:ext cx="7960421" cy="746666"/>
          </a:xfrm>
        </p:spPr>
        <p:txBody>
          <a:bodyPr rtlCol="0"/>
          <a:lstStyle/>
          <a:p>
            <a:r>
              <a:rPr lang="zh-CN" altLang="en-US" dirty="0"/>
              <a:t>经济可行性💰</a:t>
            </a:r>
            <a:endParaRPr lang="zh-c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8E17D10-B30E-B6B9-AECB-999DDEE07C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3502" y="1245141"/>
            <a:ext cx="5256212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开发成本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软件成本低，主要依赖开源工具；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硬件成本：普通服务器即可完成开发与测试；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zh-CN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时间成本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：预计 4-5 个月可完成设计、开发、测试、论文撰写。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收益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项目可用于网络安全实验教学；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为实际网络环境提供异常通信检测原型。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zh-CN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结论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：项目经济成本低，可投入产出比高。</a:t>
            </a:r>
          </a:p>
        </p:txBody>
      </p:sp>
    </p:spTree>
    <p:extLst>
      <p:ext uri="{BB962C8B-B14F-4D97-AF65-F5344CB8AC3E}">
        <p14:creationId xmlns:p14="http://schemas.microsoft.com/office/powerpoint/2010/main" val="28595200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91A21-BD83-A045-4276-30A55B910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95372-C41A-5EC7-7502-98237C244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502" y="498475"/>
            <a:ext cx="7960421" cy="746666"/>
          </a:xfrm>
        </p:spPr>
        <p:txBody>
          <a:bodyPr rtlCol="0"/>
          <a:lstStyle/>
          <a:p>
            <a:r>
              <a:rPr lang="zh-CN" altLang="en-US" dirty="0"/>
              <a:t>操作可行性🖥️</a:t>
            </a:r>
            <a:endParaRPr lang="zh-c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609196C-2DC1-9395-59A7-D02386FFC3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3502" y="1245141"/>
            <a:ext cx="5346464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用户需求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面向网络安全专业用户或研究人员；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系统界面简洁，提供可视化流量分析和检测结果。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zh-CN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可维护性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模块化设计，抓包、检测、回连模块独立；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日志记录与异常报警，便于后续升级与优化。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zh-CN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结论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：系统符合操作习惯，易于部署和使用</a:t>
            </a:r>
          </a:p>
        </p:txBody>
      </p:sp>
    </p:spTree>
    <p:extLst>
      <p:ext uri="{BB962C8B-B14F-4D97-AF65-F5344CB8AC3E}">
        <p14:creationId xmlns:p14="http://schemas.microsoft.com/office/powerpoint/2010/main" val="12318811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1A988-1D52-0801-E60A-A3EA2FCA2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F3ECE9C9-A96C-B865-1901-93DE7048EE87}"/>
              </a:ext>
            </a:extLst>
          </p:cNvPr>
          <p:cNvSpPr/>
          <p:nvPr/>
        </p:nvSpPr>
        <p:spPr>
          <a:xfrm>
            <a:off x="-1" y="4545845"/>
            <a:ext cx="12191999" cy="1408176"/>
          </a:xfrm>
          <a:custGeom>
            <a:avLst/>
            <a:gdLst/>
            <a:ahLst/>
            <a:cxnLst/>
            <a:rect l="l" t="t" r="r" b="b"/>
            <a:pathLst>
              <a:path w="9144000" h="1408176">
                <a:moveTo>
                  <a:pt x="0" y="0"/>
                </a:moveTo>
                <a:moveTo>
                  <a:pt x="0" y="0"/>
                </a:moveTo>
                <a:lnTo>
                  <a:pt x="9144000" y="0"/>
                </a:lnTo>
                <a:lnTo>
                  <a:pt x="9144000" y="1408176"/>
                </a:lnTo>
                <a:lnTo>
                  <a:pt x="0" y="1408176"/>
                </a:lnTo>
                <a:close/>
              </a:path>
            </a:pathLst>
          </a:custGeom>
          <a:solidFill>
            <a:srgbClr val="0070C0"/>
          </a:solidFill>
        </p:spPr>
        <p:txBody>
          <a:bodyPr/>
          <a:lstStyle/>
          <a:p>
            <a:endParaRPr lang="zh-CN" altLang="en-US"/>
          </a:p>
        </p:txBody>
      </p:sp>
      <p:pic>
        <p:nvPicPr>
          <p:cNvPr id="11" name="图片占位符 15" descr="数据点数字背景">
            <a:extLst>
              <a:ext uri="{FF2B5EF4-FFF2-40B4-BE49-F238E27FC236}">
                <a16:creationId xmlns:a16="http://schemas.microsoft.com/office/drawing/2014/main" id="{D74C574D-7000-1DA8-25E7-45949C08CA2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4594"/>
            <a:ext cx="12192000" cy="3771878"/>
          </a:xfrm>
        </p:spPr>
      </p:pic>
      <p:sp>
        <p:nvSpPr>
          <p:cNvPr id="2" name="Text 1">
            <a:extLst>
              <a:ext uri="{FF2B5EF4-FFF2-40B4-BE49-F238E27FC236}">
                <a16:creationId xmlns:a16="http://schemas.microsoft.com/office/drawing/2014/main" id="{A0C7D02E-C1BE-1081-C411-C76F2F1D9FD9}"/>
              </a:ext>
            </a:extLst>
          </p:cNvPr>
          <p:cNvSpPr/>
          <p:nvPr/>
        </p:nvSpPr>
        <p:spPr>
          <a:xfrm>
            <a:off x="377601" y="4942413"/>
            <a:ext cx="741298" cy="635559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88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44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8525A94-8036-53D0-B975-B2AB1F2D57F8}"/>
              </a:ext>
            </a:extLst>
          </p:cNvPr>
          <p:cNvSpPr/>
          <p:nvPr/>
        </p:nvSpPr>
        <p:spPr>
          <a:xfrm>
            <a:off x="1118899" y="4921895"/>
            <a:ext cx="7693921" cy="656077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3000"/>
              </a:lnSpc>
              <a:spcBef>
                <a:spcPts val="375"/>
              </a:spcBef>
              <a:buNone/>
            </a:pPr>
            <a:r>
              <a:rPr lang="zh-CN" altLang="en-US" sz="288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计划进度</a:t>
            </a:r>
            <a:endParaRPr lang="en-US" sz="1440" dirty="0"/>
          </a:p>
        </p:txBody>
      </p:sp>
    </p:spTree>
    <p:extLst>
      <p:ext uri="{BB962C8B-B14F-4D97-AF65-F5344CB8AC3E}">
        <p14:creationId xmlns:p14="http://schemas.microsoft.com/office/powerpoint/2010/main" val="17242577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72343A-9CB0-F2AD-EF62-5DEE3E97F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498474"/>
            <a:ext cx="7960421" cy="1450217"/>
          </a:xfrm>
        </p:spPr>
        <p:txBody>
          <a:bodyPr rtlCol="0"/>
          <a:lstStyle/>
          <a:p>
            <a:pPr rtl="0"/>
            <a:r>
              <a:rPr lang="zh-CN" altLang="en-US" dirty="0"/>
              <a:t>计划进度</a:t>
            </a:r>
            <a:endParaRPr lang="zh-cn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6744DD-5BC8-42C8-4313-13CE95ED5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2" y="1223582"/>
            <a:ext cx="7929940" cy="3979625"/>
          </a:xfrm>
        </p:spPr>
        <p:txBody>
          <a:bodyPr rtlCol="0"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第一阶段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(2024.10 - 2024.11)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：需求分析与系统设计：</a:t>
            </a:r>
            <a:r>
              <a:rPr lang="zh-CN" altLang="en-US" dirty="0"/>
              <a:t>收集和整理系统功能需求，编写需求文档，制定系统总体架构设计方案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第二阶段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(2024.11 - 2024.12)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dirty="0"/>
              <a:t>选择技术栈（</a:t>
            </a:r>
            <a:r>
              <a:rPr lang="en-US" altLang="zh-CN" dirty="0"/>
              <a:t>Python + Go/</a:t>
            </a:r>
            <a:r>
              <a:rPr lang="en-US" altLang="zh-CN" dirty="0" err="1"/>
              <a:t>Scapy</a:t>
            </a:r>
            <a:r>
              <a:rPr lang="en-US" altLang="zh-CN" dirty="0"/>
              <a:t>/Socket </a:t>
            </a:r>
            <a:r>
              <a:rPr lang="zh-CN" altLang="en-US" dirty="0"/>
              <a:t>编程）、设计系统模块结构、</a:t>
            </a:r>
            <a:endParaRPr lang="en-US" altLang="zh-CN" dirty="0"/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第三阶段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(2024.12 - 2025.1)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dirty="0"/>
              <a:t>用户界面开发、现前端或控制台界面，用于展示网络流量、异常事件、回连模拟状态、界面支持</a:t>
            </a:r>
            <a:endParaRPr lang="en-US" altLang="zh-CN" dirty="0"/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第四阶段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(2025.1 - 2025.2)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dirty="0"/>
              <a:t>系统集成与测试，将各个模块进行集成，确保抓包、异常检测和回连仿真模块能够协同工作，进行系统功能测试，优化异常检测算法</a:t>
            </a:r>
            <a:endParaRPr lang="en-US" altLang="zh-CN" dirty="0"/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第五阶段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(2025.2 - 2025.3)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：系统论文编写与项目报告。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528417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536" y="549274"/>
            <a:ext cx="5179330" cy="2841829"/>
          </a:xfrm>
          <a:noFill/>
        </p:spPr>
        <p:txBody>
          <a:bodyPr rtlCol="0" anchor="b">
            <a:normAutofit/>
          </a:bodyPr>
          <a:lstStyle/>
          <a:p>
            <a:pPr rtl="0"/>
            <a:r>
              <a:rPr lang="zh-cn"/>
              <a:t>谢谢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537" y="3646704"/>
            <a:ext cx="5179330" cy="2706160"/>
          </a:xfrm>
          <a:noFill/>
        </p:spPr>
        <p:txBody>
          <a:bodyPr rtlCol="0">
            <a:normAutofit/>
          </a:bodyPr>
          <a:lstStyle/>
          <a:p>
            <a:pPr rtl="0"/>
            <a:r>
              <a:rPr lang="en-US" altLang="zh-CN" dirty="0"/>
              <a:t>fogpost</a:t>
            </a:r>
            <a:endParaRPr lang="zh-cn" dirty="0"/>
          </a:p>
          <a:p>
            <a:pPr rtl="0"/>
            <a:r>
              <a:rPr lang="en-US" altLang="zh-CN" dirty="0"/>
              <a:t>13487317189</a:t>
            </a:r>
            <a:endParaRPr lang="zh-cn" dirty="0"/>
          </a:p>
          <a:p>
            <a:pPr rtl="0"/>
            <a:r>
              <a:rPr lang="en-US" altLang="zh-CN" dirty="0"/>
              <a:t>1027265123@qq.com</a:t>
            </a:r>
            <a:endParaRPr lang="zh-cn" dirty="0"/>
          </a:p>
          <a:p>
            <a:pPr rtl="0"/>
            <a:r>
              <a:rPr lang="zh-cn" dirty="0"/>
              <a:t>www.</a:t>
            </a:r>
            <a:r>
              <a:rPr lang="en-US" altLang="zh-CN" dirty="0" err="1"/>
              <a:t>fogpost.top</a:t>
            </a:r>
            <a:endParaRPr lang="zh-cn" dirty="0"/>
          </a:p>
        </p:txBody>
      </p:sp>
      <p:pic>
        <p:nvPicPr>
          <p:cNvPr id="25" name="图片占位符 24" descr="网络的特写">
            <a:extLst>
              <a:ext uri="{FF2B5EF4-FFF2-40B4-BE49-F238E27FC236}">
                <a16:creationId xmlns:a16="http://schemas.microsoft.com/office/drawing/2014/main" id="{41A1C574-72C6-642F-E4D2-FF0C993AEF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"/>
          <a:stretch/>
        </p:blipFill>
        <p:spPr>
          <a:xfrm>
            <a:off x="5926138" y="549275"/>
            <a:ext cx="5654675" cy="5788025"/>
          </a:xfrm>
        </p:spPr>
      </p:pic>
    </p:spTree>
    <p:extLst>
      <p:ext uri="{BB962C8B-B14F-4D97-AF65-F5344CB8AC3E}">
        <p14:creationId xmlns:p14="http://schemas.microsoft.com/office/powerpoint/2010/main" val="25476302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A6CFB0-241B-001A-6A05-708FFC306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60961"/>
            <a:ext cx="11090275" cy="705708"/>
          </a:xfrm>
        </p:spPr>
        <p:txBody>
          <a:bodyPr/>
          <a:lstStyle/>
          <a:p>
            <a:r>
              <a:rPr lang="zh-CN" altLang="en-US" dirty="0"/>
              <a:t>引用文献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7B3F6C-C2ED-22A4-9B37-A109755CDB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1280160"/>
            <a:ext cx="11090275" cy="4297679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hlinkClick r:id="rId2"/>
              </a:rPr>
              <a:t>实战分享：构建高效平台型</a:t>
            </a:r>
            <a:r>
              <a:rPr lang="en-US" altLang="zh-CN" dirty="0">
                <a:hlinkClick r:id="rId2"/>
              </a:rPr>
              <a:t>C2</a:t>
            </a:r>
            <a:r>
              <a:rPr lang="zh-CN" altLang="en-US" dirty="0">
                <a:hlinkClick r:id="rId2"/>
              </a:rPr>
              <a:t>的经验总结</a:t>
            </a:r>
            <a:r>
              <a:rPr lang="en-US" altLang="zh-CN" dirty="0">
                <a:hlinkClick r:id="rId2"/>
              </a:rPr>
              <a:t>-</a:t>
            </a:r>
            <a:r>
              <a:rPr lang="zh-CN" altLang="en-US" dirty="0">
                <a:hlinkClick r:id="rId2"/>
              </a:rPr>
              <a:t>安全</a:t>
            </a:r>
            <a:r>
              <a:rPr lang="en-US" altLang="zh-CN" dirty="0">
                <a:hlinkClick r:id="rId2"/>
              </a:rPr>
              <a:t>KER - </a:t>
            </a:r>
            <a:r>
              <a:rPr lang="zh-CN" altLang="en-US" dirty="0">
                <a:hlinkClick r:id="rId2"/>
              </a:rPr>
              <a:t>安全资讯平台</a:t>
            </a:r>
            <a:r>
              <a:rPr lang="zh-CN" altLang="en-US" dirty="0"/>
              <a:t>（</a:t>
            </a:r>
            <a:r>
              <a:rPr lang="en-US" altLang="zh-CN" b="1" dirty="0">
                <a:hlinkClick r:id="rId3"/>
              </a:rPr>
              <a:t>360</a:t>
            </a:r>
            <a:r>
              <a:rPr lang="zh-CN" altLang="en-US" b="1" dirty="0">
                <a:hlinkClick r:id="rId3"/>
              </a:rPr>
              <a:t>安全应急响应中心</a:t>
            </a:r>
            <a:r>
              <a:rPr lang="zh-CN" altLang="en-US" dirty="0"/>
              <a:t>）</a:t>
            </a:r>
            <a:endParaRPr lang="en-US" altLang="zh-CN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hlinkClick r:id="rId4"/>
              </a:rPr>
              <a:t>https://netmarketshare.com/</a:t>
            </a:r>
            <a:r>
              <a:rPr lang="zh-CN" altLang="en-US" dirty="0"/>
              <a:t>（网络市场分享</a:t>
            </a:r>
            <a:r>
              <a:rPr lang="en-US" altLang="zh-CN" dirty="0"/>
              <a:t>2020</a:t>
            </a:r>
            <a:r>
              <a:rPr lang="zh-CN" altLang="en-US" dirty="0"/>
              <a:t>停运）</a:t>
            </a:r>
            <a:endParaRPr lang="en-US" altLang="zh-CN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493267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7.93606299212598,&quot;left&quot;:76.75889763779527,&quot;top&quot;:128.87362204724408,&quot;width&quot;:598.1877952755906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7.93606299212598,&quot;left&quot;:76.75889763779527,&quot;top&quot;:128.87362204724408,&quot;width&quot;:598.187795275590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7.93606299212598,&quot;left&quot;:76.75889763779527,&quot;top&quot;:128.87362204724408,&quot;width&quot;:598.187795275590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7.93606299212598,&quot;left&quot;:76.75889763779527,&quot;top&quot;:128.87362204724408,&quot;width&quot;:598.187795275590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7.93606299212598,&quot;left&quot;:76.75889763779527,&quot;top&quot;:128.87362204724408,&quot;width&quot;:598.187795275590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7.93606299212598,&quot;left&quot;:76.75889763779527,&quot;top&quot;:128.87362204724408,&quot;width&quot;:598.187795275590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7.93606299212598,&quot;left&quot;:76.75889763779527,&quot;top&quot;:128.87362204724408,&quot;width&quot;:598.187795275590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7.93606299212598,&quot;left&quot;:76.75889763779527,&quot;top&quot;:128.87362204724408,&quot;width&quot;:598.187795275590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7.93606299212598,&quot;left&quot;:76.75889763779527,&quot;top&quot;:128.87362204724408,&quot;width&quot;:598.187795275590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7.93606299212598,&quot;left&quot;:76.75889763779527,&quot;top&quot;:128.87362204724408,&quot;width&quot;:598.1877952755906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2657</Words>
  <Application>Microsoft Office PowerPoint</Application>
  <PresentationFormat>宽屏</PresentationFormat>
  <Paragraphs>348</Paragraphs>
  <Slides>26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3" baseType="lpstr">
      <vt:lpstr>Microsoft YaHei UI</vt:lpstr>
      <vt:lpstr>等线</vt:lpstr>
      <vt:lpstr>等线 Light</vt:lpstr>
      <vt:lpstr>汉仪文黑-75简</vt:lpstr>
      <vt:lpstr>微软雅黑</vt:lpstr>
      <vt:lpstr>Arial</vt:lpstr>
      <vt:lpstr>Office 主题​​</vt:lpstr>
      <vt:lpstr>《基于网络流量抓取与受控回连仿真的异常通信检测系统设计与实现》</vt:lpstr>
      <vt:lpstr>目录</vt:lpstr>
      <vt:lpstr>PowerPoint 演示文稿</vt:lpstr>
      <vt:lpstr>流量攻击背景</vt:lpstr>
      <vt:lpstr>GO和Python技术上的优势</vt:lpstr>
      <vt:lpstr>PowerPoint 演示文稿</vt:lpstr>
      <vt:lpstr>设计思路与主要内容</vt:lpstr>
      <vt:lpstr>系统需求分析与总体设计</vt:lpstr>
      <vt:lpstr>受控回连仿真模块设计与实现</vt:lpstr>
      <vt:lpstr>网络流量抓取与分析模块设计</vt:lpstr>
      <vt:lpstr>防御策略与告警机制设计</vt:lpstr>
      <vt:lpstr>PowerPoint 演示文稿</vt:lpstr>
      <vt:lpstr>PowerPoint 演示文稿</vt:lpstr>
      <vt:lpstr>受控回连仿真（Go Agent）</vt:lpstr>
      <vt:lpstr>网络流量抓取与检测系统（Python）</vt:lpstr>
      <vt:lpstr>Web 管理平台（FastAPI）</vt:lpstr>
      <vt:lpstr>技术选型</vt:lpstr>
      <vt:lpstr>选择视觉辅助</vt:lpstr>
      <vt:lpstr>PowerPoint 演示文稿</vt:lpstr>
      <vt:lpstr>技术可行性⚙️</vt:lpstr>
      <vt:lpstr>经济可行性💰</vt:lpstr>
      <vt:lpstr>操作可行性🖥️</vt:lpstr>
      <vt:lpstr>PowerPoint 演示文稿</vt:lpstr>
      <vt:lpstr>计划进度</vt:lpstr>
      <vt:lpstr>谢谢</vt:lpstr>
      <vt:lpstr>引用文献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fogpost lappland</dc:creator>
  <cp:lastModifiedBy>fogpost lappland</cp:lastModifiedBy>
  <cp:revision>1</cp:revision>
  <dcterms:created xsi:type="dcterms:W3CDTF">2025-11-24T09:30:52Z</dcterms:created>
  <dcterms:modified xsi:type="dcterms:W3CDTF">2025-11-24T09:31:40Z</dcterms:modified>
</cp:coreProperties>
</file>